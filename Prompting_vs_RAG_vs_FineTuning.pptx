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7" d="100"/>
          <a:sy n="107" d="100"/>
        </p:scale>
        <p:origin x="225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59804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we'll cover the three main ways to customize LLMs for our work at JLL. The key message: these are NOT competing techniques — they're complementary layers. Think toolkit, not menu. By the end you'll know exactly when to reach for which tool. Opening question: how many of you have tried prompting? RAG? Fine-tuning? (show of hands)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roadmap. We'll build a shared mental model first, go deep on each of the three techniques with real code, then spend the back half on how to CHOOSE between them and how they combine in production. Keep the flowchart and cheat sheet — those are the take-aways.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techniques, the core insight of the whole talk: when an LLM fails, there are three distinct failure modes, and each maps to a different tool. Reasoning gap → prompting. Knowledge gap → RAG. Style gap → fine-tuning. Pick the wrong one and you burn weeks. We'll come back to this diagnostic on the flowchart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Simplest framing: Prompting is how you TALK to the model, RAG is what you SHOW it, Fine-tuning is how you TRAIN it. The chef analogy lands with everyone — verbal instructions vs a recipe book vs culinary school. Maps to Google's Communication / Knowledge / Behavior layers.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starts here. Always. Optimize the prompt before adding complexity. Zero-shot = ask directly; few-shot = give examples; CoT = force step-by-step. The code shows why few-shot wins: it locks the FORMAT (CATEGORY | CONFIDENCE%) which downstream parsing depends on. Caveat: prompting is fragile — small wording changes swing outputs. That's your signal to escalate.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is the most common enterprise pattern. If the model needs to KNOW things it wasn't trained on — company data, lease docs, policies — RAG is the answer. Two phases: Ingestion is offline, done once. Retrieval happens at runtime on every query. Two things that make or break it: chunking strategy (bad chunking = bad answers) and always reranking in production.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three numbered steps. Emphasize how little code it takes to go from raw docs to grounded answers. The grounding instruction in the system prompt is what stops hallucination. Reranking and hybrid search are the two upgrades that separate a demo from production.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Fine-tuning is the LAST resort, not the first — say it strongly. Its value is behavioral CONSISTENCY: always this format, this tone. Walk the JSONL format — each example is a system/user/assistant conversation; you need 50-500+. LoRA is the practical method; QLoRA adds quantization for smaller GPUs. For Claude, fine-tuning runs through Amazon Bedrock. The real cost is TIME — 40-200 hours of data curation — more than money.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screenshot slide. Hit the decision-driving rows: Cost — prompting is basically free, RAG is moderate infra, fine-tuning is expensive mainly in data-prep TIME. Data freshness is RAG's killer feature; fine-tuning is frozen after training. Hallucination — RAG wins because answers are grounded. Consistency — fine-tuning wins.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Costs in plain numbers. Note the inversion: fine-tuning is the CHEAPEST per query but by far the most expensive to set up — and that cost is data-prep hours, not dollars. The time-to-start stats (30 sec / 30 min / 30 days) drive home 'start simple.' The ladder is the mental model: always climb left to right, only move down a rung when the current one genuinely fails.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practical slide. When the model fails, DIAGNOSE before you pick a fix. Three failure types map to three tools: knowledge → RAG, reasoning → prompting (CoT), style → prompt first then fine-tune. Walk a couple of symptom rows with real examples. 'It made up a tenant name' = knowledge gap = RAG. 'JSON keeps changing' = style gap = prompt then fine-tune. The rule of thumb ladder is the take-away.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it home to JLL. Each row maps a real use case to the right technique. Two deep dives: the tenant chatbot (RAG + prompt) is our most common pattern — question → retrieve from lease docs → grounded answer. Ticket classification shows the escalation pattern: start few-shot, upgrade to fine-tuning only at scale or when you need sub-100ms latency. Punchline: most of our cases are Prompting + RAG; fine-tuning is only 2 of 8.</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important slide for real implementation — these are mistakes from actual projects. Prompting: vagueness is #1; always specify format, constraints, negatives. RAG: fixed-size chunking destroys tables; vector-only misses exact IDs; context stuffing triggers 'lost in the middle' — send 3-5 reranked chunks. Fine-tuning: the #1 mistake industry-wide is using it for FACTS. 'The model doesn't know our data' is a knowledge problem → RAG. FT teaches style, not content.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production actually works — all three composing. Layer 1 (prompt) controls reasoning and output constraints. Layer 2 (RAG) injects real-time lease data, occupancy, market rates. Layer 3 (fine-tuned Haiku) enforces JLL voice and strict JSON. The 'without it' column is your justification for each layer. The code shows the three layers composing naturally: system prompt, retrieved context, fine-tuned model ID.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take-away slide — tell them to screenshot it. Walk the decision card: each row is a scenario they'll face with the right answer and the wrong one crossed out. The 3-question calculator is the simplest framework: needs new data → RAG; reasoning poorly → prompting; still inconsistent → fine-tune; none → ship it. Close on 30 sec / 30 min / 30 days — start simple. Thank the audience and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closing / appendix. Point people at the four Google whitepapers for depth. The 'try it this week' list turns the talk into action. Reinforce the one-liner: start simple, escalate only when you must, combine when it counts.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822960" y="1051560"/>
            <a:ext cx="8229600" cy="365760"/>
          </a:xfrm>
          <a:prstGeom prst="rect">
            <a:avLst/>
          </a:prstGeom>
          <a:noFill/>
          <a:ln/>
        </p:spPr>
        <p:txBody>
          <a:bodyPr wrap="square" rtlCol="0" anchor="ctr"/>
          <a:lstStyle/>
          <a:p>
            <a:pPr marL="0" indent="0">
              <a:buNone/>
            </a:pPr>
            <a:r>
              <a:rPr lang="en-US" sz="1400" b="1" kern="0" spc="300" dirty="0">
                <a:solidFill>
                  <a:srgbClr val="E30613"/>
                </a:solidFill>
                <a:latin typeface="Calibri" pitchFamily="34" charset="0"/>
                <a:ea typeface="Calibri" pitchFamily="34" charset="-122"/>
                <a:cs typeface="Calibri" pitchFamily="34" charset="-120"/>
              </a:rPr>
              <a:t>JLL TECHNOLOGY </a:t>
            </a:r>
            <a:endParaRPr lang="en-US" sz="1400" dirty="0"/>
          </a:p>
        </p:txBody>
      </p:sp>
      <p:sp>
        <p:nvSpPr>
          <p:cNvPr id="5" name="Text 3"/>
          <p:cNvSpPr/>
          <p:nvPr/>
        </p:nvSpPr>
        <p:spPr>
          <a:xfrm>
            <a:off x="777240" y="1554480"/>
            <a:ext cx="10515600" cy="1828800"/>
          </a:xfrm>
          <a:prstGeom prst="rect">
            <a:avLst/>
          </a:prstGeom>
          <a:noFill/>
          <a:ln/>
        </p:spPr>
        <p:txBody>
          <a:bodyPr wrap="square" rtlCol="0" anchor="ctr"/>
          <a:lstStyle/>
          <a:p>
            <a:pPr marL="0" indent="0">
              <a:lnSpc>
                <a:spcPct val="98000"/>
              </a:lnSpc>
              <a:buNone/>
            </a:pPr>
            <a:r>
              <a:rPr lang="en-US" sz="4400" b="1" dirty="0">
                <a:solidFill>
                  <a:srgbClr val="1A1A1A"/>
                </a:solidFill>
                <a:latin typeface="Century Schoolbook" pitchFamily="34" charset="0"/>
                <a:ea typeface="Century Schoolbook" pitchFamily="34" charset="-122"/>
                <a:cs typeface="Century Schoolbook" pitchFamily="34" charset="-120"/>
              </a:rPr>
              <a:t>Prompting vs RAG vs Fine-Tuning</a:t>
            </a:r>
            <a:endParaRPr lang="en-US" sz="4400" dirty="0"/>
          </a:p>
        </p:txBody>
      </p:sp>
      <p:sp>
        <p:nvSpPr>
          <p:cNvPr id="6" name="Text 4"/>
          <p:cNvSpPr/>
          <p:nvPr/>
        </p:nvSpPr>
        <p:spPr>
          <a:xfrm>
            <a:off x="822960" y="3429000"/>
            <a:ext cx="10058400" cy="457200"/>
          </a:xfrm>
          <a:prstGeom prst="rect">
            <a:avLst/>
          </a:prstGeom>
          <a:noFill/>
          <a:ln/>
        </p:spPr>
        <p:txBody>
          <a:bodyPr wrap="square" rtlCol="0" anchor="ctr"/>
          <a:lstStyle/>
          <a:p>
            <a:pPr marL="0" indent="0">
              <a:buNone/>
            </a:pPr>
            <a:r>
              <a:rPr lang="en-US" sz="2000" dirty="0">
                <a:solidFill>
                  <a:srgbClr val="5A5F66"/>
                </a:solidFill>
                <a:latin typeface="Calibri" pitchFamily="34" charset="0"/>
                <a:ea typeface="Calibri" pitchFamily="34" charset="-122"/>
                <a:cs typeface="Calibri" pitchFamily="34" charset="-120"/>
              </a:rPr>
              <a:t>Choosing the Right LLM Customization Strategy</a:t>
            </a:r>
            <a:endParaRPr lang="en-US" sz="2000" dirty="0"/>
          </a:p>
        </p:txBody>
      </p:sp>
      <p:sp>
        <p:nvSpPr>
          <p:cNvPr id="7" name="Shape 5"/>
          <p:cNvSpPr/>
          <p:nvPr/>
        </p:nvSpPr>
        <p:spPr>
          <a:xfrm>
            <a:off x="822960" y="4069080"/>
            <a:ext cx="1691640" cy="256032"/>
          </a:xfrm>
          <a:prstGeom prst="roundRect">
            <a:avLst>
              <a:gd name="adj" fmla="val 50000"/>
            </a:avLst>
          </a:prstGeom>
          <a:solidFill>
            <a:srgbClr val="EDE9FB"/>
          </a:solidFill>
          <a:ln/>
        </p:spPr>
        <p:txBody>
          <a:bodyPr/>
          <a:lstStyle/>
          <a:p>
            <a:endParaRPr lang="en-US"/>
          </a:p>
        </p:txBody>
      </p:sp>
      <p:sp>
        <p:nvSpPr>
          <p:cNvPr id="8" name="Text 6"/>
          <p:cNvSpPr/>
          <p:nvPr/>
        </p:nvSpPr>
        <p:spPr>
          <a:xfrm>
            <a:off x="822960" y="4069080"/>
            <a:ext cx="1691640" cy="256032"/>
          </a:xfrm>
          <a:prstGeom prst="rect">
            <a:avLst/>
          </a:prstGeom>
          <a:noFill/>
          <a:ln/>
        </p:spPr>
        <p:txBody>
          <a:bodyPr wrap="square" rtlCol="0" anchor="ctr"/>
          <a:lstStyle/>
          <a:p>
            <a:pPr marL="0" indent="0" algn="ctr">
              <a:buNone/>
            </a:pPr>
            <a:r>
              <a:rPr lang="en-US" sz="950" b="1" dirty="0">
                <a:solidFill>
                  <a:srgbClr val="5B21B6"/>
                </a:solidFill>
                <a:latin typeface="Calibri" pitchFamily="34" charset="0"/>
                <a:ea typeface="Calibri" pitchFamily="34" charset="-122"/>
                <a:cs typeface="Calibri" pitchFamily="34" charset="-120"/>
              </a:rPr>
              <a:t>🎯 Prompting</a:t>
            </a:r>
            <a:endParaRPr lang="en-US" sz="950" dirty="0"/>
          </a:p>
        </p:txBody>
      </p:sp>
      <p:sp>
        <p:nvSpPr>
          <p:cNvPr id="9" name="Shape 7"/>
          <p:cNvSpPr/>
          <p:nvPr/>
        </p:nvSpPr>
        <p:spPr>
          <a:xfrm>
            <a:off x="2743200" y="4069080"/>
            <a:ext cx="1691640" cy="256032"/>
          </a:xfrm>
          <a:prstGeom prst="roundRect">
            <a:avLst>
              <a:gd name="adj" fmla="val 50000"/>
            </a:avLst>
          </a:prstGeom>
          <a:solidFill>
            <a:srgbClr val="E7EDFC"/>
          </a:solidFill>
          <a:ln/>
        </p:spPr>
        <p:txBody>
          <a:bodyPr/>
          <a:lstStyle/>
          <a:p>
            <a:endParaRPr lang="en-US"/>
          </a:p>
        </p:txBody>
      </p:sp>
      <p:sp>
        <p:nvSpPr>
          <p:cNvPr id="10" name="Text 8"/>
          <p:cNvSpPr/>
          <p:nvPr/>
        </p:nvSpPr>
        <p:spPr>
          <a:xfrm>
            <a:off x="2743200" y="4069080"/>
            <a:ext cx="1691640" cy="256032"/>
          </a:xfrm>
          <a:prstGeom prst="rect">
            <a:avLst/>
          </a:prstGeom>
          <a:noFill/>
          <a:ln/>
        </p:spPr>
        <p:txBody>
          <a:bodyPr wrap="square" rtlCol="0" anchor="ctr"/>
          <a:lstStyle/>
          <a:p>
            <a:pPr marL="0" indent="0" algn="ctr">
              <a:buNone/>
            </a:pPr>
            <a:r>
              <a:rPr lang="en-US" sz="950" b="1" dirty="0">
                <a:solidFill>
                  <a:srgbClr val="1D4ED8"/>
                </a:solidFill>
                <a:latin typeface="Calibri" pitchFamily="34" charset="0"/>
                <a:ea typeface="Calibri" pitchFamily="34" charset="-122"/>
                <a:cs typeface="Calibri" pitchFamily="34" charset="-120"/>
              </a:rPr>
              <a:t>📚 RAG</a:t>
            </a:r>
            <a:endParaRPr lang="en-US" sz="950" dirty="0"/>
          </a:p>
        </p:txBody>
      </p:sp>
      <p:sp>
        <p:nvSpPr>
          <p:cNvPr id="11" name="Shape 9"/>
          <p:cNvSpPr/>
          <p:nvPr/>
        </p:nvSpPr>
        <p:spPr>
          <a:xfrm>
            <a:off x="4663440" y="4069080"/>
            <a:ext cx="1691640" cy="256032"/>
          </a:xfrm>
          <a:prstGeom prst="roundRect">
            <a:avLst>
              <a:gd name="adj" fmla="val 50000"/>
            </a:avLst>
          </a:prstGeom>
          <a:solidFill>
            <a:srgbClr val="FCE7E9"/>
          </a:solidFill>
          <a:ln/>
        </p:spPr>
        <p:txBody>
          <a:bodyPr/>
          <a:lstStyle/>
          <a:p>
            <a:endParaRPr lang="en-US"/>
          </a:p>
        </p:txBody>
      </p:sp>
      <p:sp>
        <p:nvSpPr>
          <p:cNvPr id="12" name="Text 10"/>
          <p:cNvSpPr/>
          <p:nvPr/>
        </p:nvSpPr>
        <p:spPr>
          <a:xfrm>
            <a:off x="4663440" y="4069080"/>
            <a:ext cx="1691640" cy="256032"/>
          </a:xfrm>
          <a:prstGeom prst="rect">
            <a:avLst/>
          </a:prstGeom>
          <a:noFill/>
          <a:ln/>
        </p:spPr>
        <p:txBody>
          <a:bodyPr wrap="square" rtlCol="0" anchor="ctr"/>
          <a:lstStyle/>
          <a:p>
            <a:pPr marL="0" indent="0" algn="ctr">
              <a:buNone/>
            </a:pPr>
            <a:r>
              <a:rPr lang="en-US" sz="950" b="1" dirty="0">
                <a:solidFill>
                  <a:srgbClr val="E30613"/>
                </a:solidFill>
                <a:latin typeface="Calibri" pitchFamily="34" charset="0"/>
                <a:ea typeface="Calibri" pitchFamily="34" charset="-122"/>
                <a:cs typeface="Calibri" pitchFamily="34" charset="-120"/>
              </a:rPr>
              <a:t>🔧 Fine-Tuning</a:t>
            </a:r>
            <a:endParaRPr lang="en-US" sz="950" dirty="0"/>
          </a:p>
        </p:txBody>
      </p:sp>
      <p:sp>
        <p:nvSpPr>
          <p:cNvPr id="13" name="Text 11"/>
          <p:cNvSpPr/>
          <p:nvPr/>
        </p:nvSpPr>
        <p:spPr>
          <a:xfrm>
            <a:off x="822960" y="5943600"/>
            <a:ext cx="8229600" cy="365760"/>
          </a:xfrm>
          <a:prstGeom prst="rect">
            <a:avLst/>
          </a:prstGeom>
          <a:noFill/>
          <a:ln/>
        </p:spPr>
        <p:txBody>
          <a:bodyPr wrap="square" rtlCol="0" anchor="ctr"/>
          <a:lstStyle/>
          <a:p>
            <a:pPr marL="0" indent="0">
              <a:buNone/>
            </a:pPr>
            <a:endParaRPr lang="en-US" sz="1300" dirty="0"/>
          </a:p>
        </p:txBody>
      </p:sp>
      <p:sp>
        <p:nvSpPr>
          <p:cNvPr id="15" name="Text 13"/>
          <p:cNvSpPr/>
          <p:nvPr/>
        </p:nvSpPr>
        <p:spPr>
          <a:xfrm>
            <a:off x="7818120" y="4892040"/>
            <a:ext cx="3520440" cy="45720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These are NOT competing techniques.</a:t>
            </a:r>
            <a:endParaRPr lang="en-US" sz="1350" dirty="0"/>
          </a:p>
        </p:txBody>
      </p:sp>
      <p:sp>
        <p:nvSpPr>
          <p:cNvPr id="16" name="Text 14"/>
          <p:cNvSpPr/>
          <p:nvPr/>
        </p:nvSpPr>
        <p:spPr>
          <a:xfrm>
            <a:off x="822960" y="4617720"/>
            <a:ext cx="10485120" cy="822960"/>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They are complementary layers — most production systems use a combination of all three.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rtlCol="0" anchor="ctr"/>
          <a:lstStyle/>
          <a:p>
            <a:pPr marL="0" indent="0" algn="l">
              <a:buNone/>
            </a:pPr>
            <a:r>
              <a:rPr lang="en-US" sz="1200" b="1" kern="0" spc="300" dirty="0">
                <a:solidFill>
                  <a:srgbClr val="6D28D9"/>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640080" y="777240"/>
            <a:ext cx="10911535" cy="822960"/>
          </a:xfrm>
          <a:prstGeom prst="rect">
            <a:avLst/>
          </a:prstGeom>
          <a:noFill/>
          <a:ln/>
        </p:spPr>
        <p:txBody>
          <a:bodyPr wrap="square" rtlCol="0" anchor="ctr"/>
          <a:lstStyle/>
          <a:p>
            <a:pPr marL="0" indent="0" algn="l">
              <a:buNone/>
            </a:pPr>
            <a:r>
              <a:rPr lang="en-US" sz="3200" b="1" dirty="0">
                <a:solidFill>
                  <a:srgbClr val="1A1A1A"/>
                </a:solidFill>
                <a:latin typeface="Century Schoolbook" pitchFamily="34" charset="0"/>
                <a:ea typeface="Century Schoolbook" pitchFamily="34" charset="-122"/>
                <a:cs typeface="Century Schoolbook" pitchFamily="34" charset="-120"/>
              </a:rPr>
              <a:t>What we'll cover in 20 minutes</a:t>
            </a:r>
            <a:endParaRPr lang="en-US" sz="3200" dirty="0"/>
          </a:p>
        </p:txBody>
      </p:sp>
      <p:sp>
        <p:nvSpPr>
          <p:cNvPr id="4" name="Shape 2"/>
          <p:cNvSpPr/>
          <p:nvPr/>
        </p:nvSpPr>
        <p:spPr>
          <a:xfrm>
            <a:off x="640080" y="1828800"/>
            <a:ext cx="5394960" cy="841248"/>
          </a:xfrm>
          <a:prstGeom prst="roundRect">
            <a:avLst>
              <a:gd name="adj" fmla="val 9783"/>
            </a:avLst>
          </a:prstGeom>
          <a:solidFill>
            <a:srgbClr val="F4F5F7"/>
          </a:solidFill>
          <a:ln w="12700">
            <a:solidFill>
              <a:srgbClr val="DADDE2"/>
            </a:solidFill>
            <a:prstDash val="solid"/>
          </a:ln>
        </p:spPr>
        <p:txBody>
          <a:bodyPr/>
          <a:lstStyle/>
          <a:p>
            <a:endParaRPr lang="en-US"/>
          </a:p>
        </p:txBody>
      </p:sp>
      <p:sp>
        <p:nvSpPr>
          <p:cNvPr id="5" name="Shape 3"/>
          <p:cNvSpPr/>
          <p:nvPr/>
        </p:nvSpPr>
        <p:spPr>
          <a:xfrm>
            <a:off x="822960" y="2048256"/>
            <a:ext cx="685800" cy="402336"/>
          </a:xfrm>
          <a:prstGeom prst="roundRect">
            <a:avLst>
              <a:gd name="adj" fmla="val 18182"/>
            </a:avLst>
          </a:prstGeom>
          <a:solidFill>
            <a:srgbClr val="5B21B6">
              <a:alpha val="22000"/>
            </a:srgbClr>
          </a:solidFill>
          <a:ln/>
        </p:spPr>
        <p:txBody>
          <a:bodyPr/>
          <a:lstStyle/>
          <a:p>
            <a:endParaRPr lang="en-US"/>
          </a:p>
        </p:txBody>
      </p:sp>
      <p:sp>
        <p:nvSpPr>
          <p:cNvPr id="6" name="Text 4"/>
          <p:cNvSpPr/>
          <p:nvPr/>
        </p:nvSpPr>
        <p:spPr>
          <a:xfrm>
            <a:off x="822960" y="2048256"/>
            <a:ext cx="685800" cy="402336"/>
          </a:xfrm>
          <a:prstGeom prst="rect">
            <a:avLst/>
          </a:prstGeom>
          <a:noFill/>
          <a:ln/>
        </p:spPr>
        <p:txBody>
          <a:bodyPr wrap="square" rtlCol="0" anchor="ctr"/>
          <a:lstStyle/>
          <a:p>
            <a:pPr marL="0" indent="0" algn="ctr">
              <a:buNone/>
            </a:pPr>
            <a:r>
              <a:rPr lang="en-US" sz="1500" b="1" dirty="0">
                <a:solidFill>
                  <a:srgbClr val="5B21B6"/>
                </a:solidFill>
                <a:latin typeface="Courier New" pitchFamily="34" charset="0"/>
                <a:ea typeface="Courier New" pitchFamily="34" charset="-122"/>
                <a:cs typeface="Courier New" pitchFamily="34" charset="-120"/>
              </a:rPr>
              <a:t>01</a:t>
            </a:r>
            <a:endParaRPr lang="en-US" sz="1500" dirty="0"/>
          </a:p>
        </p:txBody>
      </p:sp>
      <p:sp>
        <p:nvSpPr>
          <p:cNvPr id="7" name="Text 5"/>
          <p:cNvSpPr/>
          <p:nvPr/>
        </p:nvSpPr>
        <p:spPr>
          <a:xfrm>
            <a:off x="1645920" y="1828800"/>
            <a:ext cx="4206240" cy="841248"/>
          </a:xfrm>
          <a:prstGeom prst="rect">
            <a:avLst/>
          </a:prstGeom>
          <a:noFill/>
          <a:ln/>
        </p:spPr>
        <p:txBody>
          <a:bodyPr wrap="square" rtlCol="0" anchor="ctr"/>
          <a:lstStyle/>
          <a:p>
            <a:pPr marL="0" indent="0">
              <a:buNone/>
            </a:pPr>
            <a:r>
              <a:rPr lang="en-US" sz="1450" b="1" dirty="0">
                <a:solidFill>
                  <a:srgbClr val="1A1A1A"/>
                </a:solidFill>
                <a:latin typeface="Calibri" pitchFamily="34" charset="0"/>
                <a:ea typeface="Calibri" pitchFamily="34" charset="-122"/>
                <a:cs typeface="Calibri" pitchFamily="34" charset="-120"/>
              </a:rPr>
              <a:t>The Mental Model — 3 Layers</a:t>
            </a:r>
            <a:endParaRPr lang="en-US" sz="1450" dirty="0"/>
          </a:p>
        </p:txBody>
      </p:sp>
      <p:sp>
        <p:nvSpPr>
          <p:cNvPr id="8" name="Shape 6"/>
          <p:cNvSpPr/>
          <p:nvPr/>
        </p:nvSpPr>
        <p:spPr>
          <a:xfrm>
            <a:off x="6355080" y="1828800"/>
            <a:ext cx="5394960" cy="841248"/>
          </a:xfrm>
          <a:prstGeom prst="roundRect">
            <a:avLst>
              <a:gd name="adj" fmla="val 9783"/>
            </a:avLst>
          </a:prstGeom>
          <a:solidFill>
            <a:srgbClr val="F4F5F7"/>
          </a:solidFill>
          <a:ln w="12700">
            <a:solidFill>
              <a:srgbClr val="DADDE2"/>
            </a:solidFill>
            <a:prstDash val="solid"/>
          </a:ln>
        </p:spPr>
        <p:txBody>
          <a:bodyPr/>
          <a:lstStyle/>
          <a:p>
            <a:endParaRPr lang="en-US"/>
          </a:p>
        </p:txBody>
      </p:sp>
      <p:sp>
        <p:nvSpPr>
          <p:cNvPr id="9" name="Shape 7"/>
          <p:cNvSpPr/>
          <p:nvPr/>
        </p:nvSpPr>
        <p:spPr>
          <a:xfrm>
            <a:off x="6537960" y="2048256"/>
            <a:ext cx="685800" cy="402336"/>
          </a:xfrm>
          <a:prstGeom prst="roundRect">
            <a:avLst>
              <a:gd name="adj" fmla="val 18182"/>
            </a:avLst>
          </a:prstGeom>
          <a:solidFill>
            <a:srgbClr val="5B21B6">
              <a:alpha val="22000"/>
            </a:srgbClr>
          </a:solidFill>
          <a:ln/>
        </p:spPr>
        <p:txBody>
          <a:bodyPr/>
          <a:lstStyle/>
          <a:p>
            <a:endParaRPr lang="en-US"/>
          </a:p>
        </p:txBody>
      </p:sp>
      <p:sp>
        <p:nvSpPr>
          <p:cNvPr id="10" name="Text 8"/>
          <p:cNvSpPr/>
          <p:nvPr/>
        </p:nvSpPr>
        <p:spPr>
          <a:xfrm>
            <a:off x="6537960" y="2048256"/>
            <a:ext cx="685800" cy="402336"/>
          </a:xfrm>
          <a:prstGeom prst="rect">
            <a:avLst/>
          </a:prstGeom>
          <a:noFill/>
          <a:ln/>
        </p:spPr>
        <p:txBody>
          <a:bodyPr wrap="square" rtlCol="0" anchor="ctr"/>
          <a:lstStyle/>
          <a:p>
            <a:pPr marL="0" indent="0" algn="ctr">
              <a:buNone/>
            </a:pPr>
            <a:r>
              <a:rPr lang="en-US" sz="1500" b="1" dirty="0">
                <a:solidFill>
                  <a:srgbClr val="5B21B6"/>
                </a:solidFill>
                <a:latin typeface="Courier New" pitchFamily="34" charset="0"/>
                <a:ea typeface="Courier New" pitchFamily="34" charset="-122"/>
                <a:cs typeface="Courier New" pitchFamily="34" charset="-120"/>
              </a:rPr>
              <a:t>02</a:t>
            </a:r>
            <a:endParaRPr lang="en-US" sz="1500" dirty="0"/>
          </a:p>
        </p:txBody>
      </p:sp>
      <p:sp>
        <p:nvSpPr>
          <p:cNvPr id="11" name="Text 9"/>
          <p:cNvSpPr/>
          <p:nvPr/>
        </p:nvSpPr>
        <p:spPr>
          <a:xfrm>
            <a:off x="7360920" y="1828800"/>
            <a:ext cx="4206240" cy="841248"/>
          </a:xfrm>
          <a:prstGeom prst="rect">
            <a:avLst/>
          </a:prstGeom>
          <a:noFill/>
          <a:ln/>
        </p:spPr>
        <p:txBody>
          <a:bodyPr wrap="square" rtlCol="0" anchor="ctr"/>
          <a:lstStyle/>
          <a:p>
            <a:pPr marL="0" indent="0">
              <a:buNone/>
            </a:pPr>
            <a:r>
              <a:rPr lang="en-US" sz="1450" b="1" dirty="0">
                <a:solidFill>
                  <a:srgbClr val="1A1A1A"/>
                </a:solidFill>
                <a:latin typeface="Calibri" pitchFamily="34" charset="0"/>
                <a:ea typeface="Calibri" pitchFamily="34" charset="-122"/>
                <a:cs typeface="Calibri" pitchFamily="34" charset="-120"/>
              </a:rPr>
              <a:t>Prompting — the Instruction Layer</a:t>
            </a:r>
            <a:endParaRPr lang="en-US" sz="1450" dirty="0"/>
          </a:p>
        </p:txBody>
      </p:sp>
      <p:sp>
        <p:nvSpPr>
          <p:cNvPr id="12" name="Shape 10"/>
          <p:cNvSpPr/>
          <p:nvPr/>
        </p:nvSpPr>
        <p:spPr>
          <a:xfrm>
            <a:off x="640080" y="2871216"/>
            <a:ext cx="5394960" cy="841248"/>
          </a:xfrm>
          <a:prstGeom prst="roundRect">
            <a:avLst>
              <a:gd name="adj" fmla="val 9783"/>
            </a:avLst>
          </a:prstGeom>
          <a:solidFill>
            <a:srgbClr val="F4F5F7"/>
          </a:solidFill>
          <a:ln w="12700">
            <a:solidFill>
              <a:srgbClr val="DADDE2"/>
            </a:solidFill>
            <a:prstDash val="solid"/>
          </a:ln>
        </p:spPr>
        <p:txBody>
          <a:bodyPr/>
          <a:lstStyle/>
          <a:p>
            <a:endParaRPr lang="en-US"/>
          </a:p>
        </p:txBody>
      </p:sp>
      <p:sp>
        <p:nvSpPr>
          <p:cNvPr id="13" name="Shape 11"/>
          <p:cNvSpPr/>
          <p:nvPr/>
        </p:nvSpPr>
        <p:spPr>
          <a:xfrm>
            <a:off x="822960" y="3090672"/>
            <a:ext cx="685800" cy="402336"/>
          </a:xfrm>
          <a:prstGeom prst="roundRect">
            <a:avLst>
              <a:gd name="adj" fmla="val 18182"/>
            </a:avLst>
          </a:prstGeom>
          <a:solidFill>
            <a:srgbClr val="1D4ED8">
              <a:alpha val="22000"/>
            </a:srgbClr>
          </a:solidFill>
          <a:ln/>
        </p:spPr>
        <p:txBody>
          <a:bodyPr/>
          <a:lstStyle/>
          <a:p>
            <a:endParaRPr lang="en-US"/>
          </a:p>
        </p:txBody>
      </p:sp>
      <p:sp>
        <p:nvSpPr>
          <p:cNvPr id="14" name="Text 12"/>
          <p:cNvSpPr/>
          <p:nvPr/>
        </p:nvSpPr>
        <p:spPr>
          <a:xfrm>
            <a:off x="822960" y="3090672"/>
            <a:ext cx="685800" cy="402336"/>
          </a:xfrm>
          <a:prstGeom prst="rect">
            <a:avLst/>
          </a:prstGeom>
          <a:noFill/>
          <a:ln/>
        </p:spPr>
        <p:txBody>
          <a:bodyPr wrap="square" rtlCol="0" anchor="ctr"/>
          <a:lstStyle/>
          <a:p>
            <a:pPr marL="0" indent="0" algn="ctr">
              <a:buNone/>
            </a:pPr>
            <a:r>
              <a:rPr lang="en-US" sz="1500" b="1" dirty="0">
                <a:solidFill>
                  <a:srgbClr val="1D4ED8"/>
                </a:solidFill>
                <a:latin typeface="Courier New" pitchFamily="34" charset="0"/>
                <a:ea typeface="Courier New" pitchFamily="34" charset="-122"/>
                <a:cs typeface="Courier New" pitchFamily="34" charset="-120"/>
              </a:rPr>
              <a:t>03</a:t>
            </a:r>
            <a:endParaRPr lang="en-US" sz="1500" dirty="0"/>
          </a:p>
        </p:txBody>
      </p:sp>
      <p:sp>
        <p:nvSpPr>
          <p:cNvPr id="15" name="Text 13"/>
          <p:cNvSpPr/>
          <p:nvPr/>
        </p:nvSpPr>
        <p:spPr>
          <a:xfrm>
            <a:off x="1645920" y="2871216"/>
            <a:ext cx="4206240" cy="841248"/>
          </a:xfrm>
          <a:prstGeom prst="rect">
            <a:avLst/>
          </a:prstGeom>
          <a:noFill/>
          <a:ln/>
        </p:spPr>
        <p:txBody>
          <a:bodyPr wrap="square" rtlCol="0" anchor="ctr"/>
          <a:lstStyle/>
          <a:p>
            <a:pPr marL="0" indent="0">
              <a:buNone/>
            </a:pPr>
            <a:r>
              <a:rPr lang="en-US" sz="1450" b="1" dirty="0">
                <a:solidFill>
                  <a:srgbClr val="1A1A1A"/>
                </a:solidFill>
                <a:latin typeface="Calibri" pitchFamily="34" charset="0"/>
                <a:ea typeface="Calibri" pitchFamily="34" charset="-122"/>
                <a:cs typeface="Calibri" pitchFamily="34" charset="-120"/>
              </a:rPr>
              <a:t>RAG — the Knowledge Layer</a:t>
            </a:r>
            <a:endParaRPr lang="en-US" sz="1450" dirty="0"/>
          </a:p>
        </p:txBody>
      </p:sp>
      <p:sp>
        <p:nvSpPr>
          <p:cNvPr id="16" name="Shape 14"/>
          <p:cNvSpPr/>
          <p:nvPr/>
        </p:nvSpPr>
        <p:spPr>
          <a:xfrm>
            <a:off x="6355080" y="2871216"/>
            <a:ext cx="5394960" cy="841248"/>
          </a:xfrm>
          <a:prstGeom prst="roundRect">
            <a:avLst>
              <a:gd name="adj" fmla="val 9783"/>
            </a:avLst>
          </a:prstGeom>
          <a:solidFill>
            <a:srgbClr val="F4F5F7"/>
          </a:solidFill>
          <a:ln w="12700">
            <a:solidFill>
              <a:srgbClr val="DADDE2"/>
            </a:solidFill>
            <a:prstDash val="solid"/>
          </a:ln>
        </p:spPr>
        <p:txBody>
          <a:bodyPr/>
          <a:lstStyle/>
          <a:p>
            <a:endParaRPr lang="en-US"/>
          </a:p>
        </p:txBody>
      </p:sp>
      <p:sp>
        <p:nvSpPr>
          <p:cNvPr id="17" name="Shape 15"/>
          <p:cNvSpPr/>
          <p:nvPr/>
        </p:nvSpPr>
        <p:spPr>
          <a:xfrm>
            <a:off x="6537960" y="3090672"/>
            <a:ext cx="685800" cy="402336"/>
          </a:xfrm>
          <a:prstGeom prst="roundRect">
            <a:avLst>
              <a:gd name="adj" fmla="val 18182"/>
            </a:avLst>
          </a:prstGeom>
          <a:solidFill>
            <a:srgbClr val="E30613">
              <a:alpha val="22000"/>
            </a:srgbClr>
          </a:solidFill>
          <a:ln/>
        </p:spPr>
        <p:txBody>
          <a:bodyPr/>
          <a:lstStyle/>
          <a:p>
            <a:endParaRPr lang="en-US"/>
          </a:p>
        </p:txBody>
      </p:sp>
      <p:sp>
        <p:nvSpPr>
          <p:cNvPr id="18" name="Text 16"/>
          <p:cNvSpPr/>
          <p:nvPr/>
        </p:nvSpPr>
        <p:spPr>
          <a:xfrm>
            <a:off x="6537960" y="3090672"/>
            <a:ext cx="685800" cy="402336"/>
          </a:xfrm>
          <a:prstGeom prst="rect">
            <a:avLst/>
          </a:prstGeom>
          <a:noFill/>
          <a:ln/>
        </p:spPr>
        <p:txBody>
          <a:bodyPr wrap="square" rtlCol="0" anchor="ctr"/>
          <a:lstStyle/>
          <a:p>
            <a:pPr marL="0" indent="0" algn="ctr">
              <a:buNone/>
            </a:pPr>
            <a:r>
              <a:rPr lang="en-US" sz="1500" b="1" dirty="0">
                <a:solidFill>
                  <a:srgbClr val="E30613"/>
                </a:solidFill>
                <a:latin typeface="Courier New" pitchFamily="34" charset="0"/>
                <a:ea typeface="Courier New" pitchFamily="34" charset="-122"/>
                <a:cs typeface="Courier New" pitchFamily="34" charset="-120"/>
              </a:rPr>
              <a:t>04</a:t>
            </a:r>
            <a:endParaRPr lang="en-US" sz="1500" dirty="0"/>
          </a:p>
        </p:txBody>
      </p:sp>
      <p:sp>
        <p:nvSpPr>
          <p:cNvPr id="19" name="Text 17"/>
          <p:cNvSpPr/>
          <p:nvPr/>
        </p:nvSpPr>
        <p:spPr>
          <a:xfrm>
            <a:off x="7360920" y="2871216"/>
            <a:ext cx="4206240" cy="841248"/>
          </a:xfrm>
          <a:prstGeom prst="rect">
            <a:avLst/>
          </a:prstGeom>
          <a:noFill/>
          <a:ln/>
        </p:spPr>
        <p:txBody>
          <a:bodyPr wrap="square" rtlCol="0" anchor="ctr"/>
          <a:lstStyle/>
          <a:p>
            <a:pPr marL="0" indent="0">
              <a:buNone/>
            </a:pPr>
            <a:r>
              <a:rPr lang="en-US" sz="1450" b="1" dirty="0">
                <a:solidFill>
                  <a:srgbClr val="1A1A1A"/>
                </a:solidFill>
                <a:latin typeface="Calibri" pitchFamily="34" charset="0"/>
                <a:ea typeface="Calibri" pitchFamily="34" charset="-122"/>
                <a:cs typeface="Calibri" pitchFamily="34" charset="-120"/>
              </a:rPr>
              <a:t>Fine-Tuning — the Behavior Layer</a:t>
            </a:r>
            <a:endParaRPr lang="en-US" sz="1450" dirty="0"/>
          </a:p>
        </p:txBody>
      </p:sp>
      <p:sp>
        <p:nvSpPr>
          <p:cNvPr id="20" name="Shape 18"/>
          <p:cNvSpPr/>
          <p:nvPr/>
        </p:nvSpPr>
        <p:spPr>
          <a:xfrm>
            <a:off x="640080" y="3913632"/>
            <a:ext cx="5394960" cy="841248"/>
          </a:xfrm>
          <a:prstGeom prst="roundRect">
            <a:avLst>
              <a:gd name="adj" fmla="val 9783"/>
            </a:avLst>
          </a:prstGeom>
          <a:solidFill>
            <a:srgbClr val="F4F5F7"/>
          </a:solidFill>
          <a:ln w="12700">
            <a:solidFill>
              <a:srgbClr val="DADDE2"/>
            </a:solidFill>
            <a:prstDash val="solid"/>
          </a:ln>
        </p:spPr>
        <p:txBody>
          <a:bodyPr/>
          <a:lstStyle/>
          <a:p>
            <a:endParaRPr lang="en-US"/>
          </a:p>
        </p:txBody>
      </p:sp>
      <p:sp>
        <p:nvSpPr>
          <p:cNvPr id="21" name="Shape 19"/>
          <p:cNvSpPr/>
          <p:nvPr/>
        </p:nvSpPr>
        <p:spPr>
          <a:xfrm>
            <a:off x="822960" y="4133088"/>
            <a:ext cx="685800" cy="402336"/>
          </a:xfrm>
          <a:prstGeom prst="roundRect">
            <a:avLst>
              <a:gd name="adj" fmla="val 18182"/>
            </a:avLst>
          </a:prstGeom>
          <a:solidFill>
            <a:srgbClr val="0E7490">
              <a:alpha val="22000"/>
            </a:srgbClr>
          </a:solidFill>
          <a:ln/>
        </p:spPr>
        <p:txBody>
          <a:bodyPr/>
          <a:lstStyle/>
          <a:p>
            <a:endParaRPr lang="en-US"/>
          </a:p>
        </p:txBody>
      </p:sp>
      <p:sp>
        <p:nvSpPr>
          <p:cNvPr id="22" name="Text 20"/>
          <p:cNvSpPr/>
          <p:nvPr/>
        </p:nvSpPr>
        <p:spPr>
          <a:xfrm>
            <a:off x="822960" y="4133088"/>
            <a:ext cx="685800" cy="402336"/>
          </a:xfrm>
          <a:prstGeom prst="rect">
            <a:avLst/>
          </a:prstGeom>
          <a:noFill/>
          <a:ln/>
        </p:spPr>
        <p:txBody>
          <a:bodyPr wrap="square" rtlCol="0" anchor="ctr"/>
          <a:lstStyle/>
          <a:p>
            <a:pPr marL="0" indent="0" algn="ctr">
              <a:buNone/>
            </a:pPr>
            <a:r>
              <a:rPr lang="en-US" sz="1500" b="1" dirty="0">
                <a:solidFill>
                  <a:srgbClr val="0E7490"/>
                </a:solidFill>
                <a:latin typeface="Courier New" pitchFamily="34" charset="0"/>
                <a:ea typeface="Courier New" pitchFamily="34" charset="-122"/>
                <a:cs typeface="Courier New" pitchFamily="34" charset="-120"/>
              </a:rPr>
              <a:t>05</a:t>
            </a:r>
            <a:endParaRPr lang="en-US" sz="1500" dirty="0"/>
          </a:p>
        </p:txBody>
      </p:sp>
      <p:sp>
        <p:nvSpPr>
          <p:cNvPr id="23" name="Text 21"/>
          <p:cNvSpPr/>
          <p:nvPr/>
        </p:nvSpPr>
        <p:spPr>
          <a:xfrm>
            <a:off x="1645920" y="3913632"/>
            <a:ext cx="4206240" cy="841248"/>
          </a:xfrm>
          <a:prstGeom prst="rect">
            <a:avLst/>
          </a:prstGeom>
          <a:noFill/>
          <a:ln/>
        </p:spPr>
        <p:txBody>
          <a:bodyPr wrap="square" rtlCol="0" anchor="ctr"/>
          <a:lstStyle/>
          <a:p>
            <a:pPr marL="0" indent="0">
              <a:buNone/>
            </a:pPr>
            <a:r>
              <a:rPr lang="en-US" sz="1450" b="1" dirty="0">
                <a:solidFill>
                  <a:srgbClr val="1A1A1A"/>
                </a:solidFill>
                <a:latin typeface="Calibri" pitchFamily="34" charset="0"/>
                <a:ea typeface="Calibri" pitchFamily="34" charset="-122"/>
                <a:cs typeface="Calibri" pitchFamily="34" charset="-120"/>
              </a:rPr>
              <a:t>Head-to-Head Comparison &amp; Cost</a:t>
            </a:r>
            <a:endParaRPr lang="en-US" sz="1450" dirty="0"/>
          </a:p>
        </p:txBody>
      </p:sp>
      <p:sp>
        <p:nvSpPr>
          <p:cNvPr id="24" name="Shape 22"/>
          <p:cNvSpPr/>
          <p:nvPr/>
        </p:nvSpPr>
        <p:spPr>
          <a:xfrm>
            <a:off x="6355080" y="3913632"/>
            <a:ext cx="5394960" cy="841248"/>
          </a:xfrm>
          <a:prstGeom prst="roundRect">
            <a:avLst>
              <a:gd name="adj" fmla="val 9783"/>
            </a:avLst>
          </a:prstGeom>
          <a:solidFill>
            <a:srgbClr val="F4F5F7"/>
          </a:solidFill>
          <a:ln w="12700">
            <a:solidFill>
              <a:srgbClr val="DADDE2"/>
            </a:solidFill>
            <a:prstDash val="solid"/>
          </a:ln>
        </p:spPr>
        <p:txBody>
          <a:bodyPr/>
          <a:lstStyle/>
          <a:p>
            <a:endParaRPr lang="en-US"/>
          </a:p>
        </p:txBody>
      </p:sp>
      <p:sp>
        <p:nvSpPr>
          <p:cNvPr id="25" name="Shape 23"/>
          <p:cNvSpPr/>
          <p:nvPr/>
        </p:nvSpPr>
        <p:spPr>
          <a:xfrm>
            <a:off x="6537960" y="4133088"/>
            <a:ext cx="685800" cy="402336"/>
          </a:xfrm>
          <a:prstGeom prst="roundRect">
            <a:avLst>
              <a:gd name="adj" fmla="val 18182"/>
            </a:avLst>
          </a:prstGeom>
          <a:solidFill>
            <a:srgbClr val="B45309">
              <a:alpha val="22000"/>
            </a:srgbClr>
          </a:solidFill>
          <a:ln/>
        </p:spPr>
        <p:txBody>
          <a:bodyPr/>
          <a:lstStyle/>
          <a:p>
            <a:endParaRPr lang="en-US"/>
          </a:p>
        </p:txBody>
      </p:sp>
      <p:sp>
        <p:nvSpPr>
          <p:cNvPr id="26" name="Text 24"/>
          <p:cNvSpPr/>
          <p:nvPr/>
        </p:nvSpPr>
        <p:spPr>
          <a:xfrm>
            <a:off x="6537960" y="4133088"/>
            <a:ext cx="685800" cy="402336"/>
          </a:xfrm>
          <a:prstGeom prst="rect">
            <a:avLst/>
          </a:prstGeom>
          <a:noFill/>
          <a:ln/>
        </p:spPr>
        <p:txBody>
          <a:bodyPr wrap="square" rtlCol="0" anchor="ctr"/>
          <a:lstStyle/>
          <a:p>
            <a:pPr marL="0" indent="0" algn="ctr">
              <a:buNone/>
            </a:pPr>
            <a:r>
              <a:rPr lang="en-US" sz="1500" b="1" dirty="0">
                <a:solidFill>
                  <a:srgbClr val="B45309"/>
                </a:solidFill>
                <a:latin typeface="Courier New" pitchFamily="34" charset="0"/>
                <a:ea typeface="Courier New" pitchFamily="34" charset="-122"/>
                <a:cs typeface="Courier New" pitchFamily="34" charset="-120"/>
              </a:rPr>
              <a:t>06</a:t>
            </a:r>
            <a:endParaRPr lang="en-US" sz="1500" dirty="0"/>
          </a:p>
        </p:txBody>
      </p:sp>
      <p:sp>
        <p:nvSpPr>
          <p:cNvPr id="27" name="Text 25"/>
          <p:cNvSpPr/>
          <p:nvPr/>
        </p:nvSpPr>
        <p:spPr>
          <a:xfrm>
            <a:off x="7360920" y="3913632"/>
            <a:ext cx="4206240" cy="841248"/>
          </a:xfrm>
          <a:prstGeom prst="rect">
            <a:avLst/>
          </a:prstGeom>
          <a:noFill/>
          <a:ln/>
        </p:spPr>
        <p:txBody>
          <a:bodyPr wrap="square" rtlCol="0" anchor="ctr"/>
          <a:lstStyle/>
          <a:p>
            <a:pPr marL="0" indent="0">
              <a:buNone/>
            </a:pPr>
            <a:r>
              <a:rPr lang="en-US" sz="1450" b="1" dirty="0">
                <a:solidFill>
                  <a:srgbClr val="1A1A1A"/>
                </a:solidFill>
                <a:latin typeface="Calibri" pitchFamily="34" charset="0"/>
                <a:ea typeface="Calibri" pitchFamily="34" charset="-122"/>
                <a:cs typeface="Calibri" pitchFamily="34" charset="-120"/>
              </a:rPr>
              <a:t>Decision Flowchart — Which One?</a:t>
            </a:r>
            <a:endParaRPr lang="en-US" sz="1450" dirty="0"/>
          </a:p>
        </p:txBody>
      </p:sp>
      <p:sp>
        <p:nvSpPr>
          <p:cNvPr id="28" name="Shape 26"/>
          <p:cNvSpPr/>
          <p:nvPr/>
        </p:nvSpPr>
        <p:spPr>
          <a:xfrm>
            <a:off x="640080" y="4956048"/>
            <a:ext cx="5394960" cy="841248"/>
          </a:xfrm>
          <a:prstGeom prst="roundRect">
            <a:avLst>
              <a:gd name="adj" fmla="val 9783"/>
            </a:avLst>
          </a:prstGeom>
          <a:solidFill>
            <a:srgbClr val="F4F5F7"/>
          </a:solidFill>
          <a:ln w="12700">
            <a:solidFill>
              <a:srgbClr val="DADDE2"/>
            </a:solidFill>
            <a:prstDash val="solid"/>
          </a:ln>
        </p:spPr>
        <p:txBody>
          <a:bodyPr/>
          <a:lstStyle/>
          <a:p>
            <a:endParaRPr lang="en-US"/>
          </a:p>
        </p:txBody>
      </p:sp>
      <p:sp>
        <p:nvSpPr>
          <p:cNvPr id="29" name="Shape 27"/>
          <p:cNvSpPr/>
          <p:nvPr/>
        </p:nvSpPr>
        <p:spPr>
          <a:xfrm>
            <a:off x="822960" y="5175504"/>
            <a:ext cx="685800" cy="402336"/>
          </a:xfrm>
          <a:prstGeom prst="roundRect">
            <a:avLst>
              <a:gd name="adj" fmla="val 18182"/>
            </a:avLst>
          </a:prstGeom>
          <a:solidFill>
            <a:srgbClr val="047857">
              <a:alpha val="22000"/>
            </a:srgbClr>
          </a:solidFill>
          <a:ln/>
        </p:spPr>
        <p:txBody>
          <a:bodyPr/>
          <a:lstStyle/>
          <a:p>
            <a:endParaRPr lang="en-US"/>
          </a:p>
        </p:txBody>
      </p:sp>
      <p:sp>
        <p:nvSpPr>
          <p:cNvPr id="30" name="Text 28"/>
          <p:cNvSpPr/>
          <p:nvPr/>
        </p:nvSpPr>
        <p:spPr>
          <a:xfrm>
            <a:off x="822960" y="5175504"/>
            <a:ext cx="685800" cy="402336"/>
          </a:xfrm>
          <a:prstGeom prst="rect">
            <a:avLst/>
          </a:prstGeom>
          <a:noFill/>
          <a:ln/>
        </p:spPr>
        <p:txBody>
          <a:bodyPr wrap="square" rtlCol="0" anchor="ctr"/>
          <a:lstStyle/>
          <a:p>
            <a:pPr marL="0" indent="0" algn="ctr">
              <a:buNone/>
            </a:pPr>
            <a:r>
              <a:rPr lang="en-US" sz="1500" b="1" dirty="0">
                <a:solidFill>
                  <a:srgbClr val="047857"/>
                </a:solidFill>
                <a:latin typeface="Courier New" pitchFamily="34" charset="0"/>
                <a:ea typeface="Courier New" pitchFamily="34" charset="-122"/>
                <a:cs typeface="Courier New" pitchFamily="34" charset="-120"/>
              </a:rPr>
              <a:t>07</a:t>
            </a:r>
            <a:endParaRPr lang="en-US" sz="1500" dirty="0"/>
          </a:p>
        </p:txBody>
      </p:sp>
      <p:sp>
        <p:nvSpPr>
          <p:cNvPr id="31" name="Text 29"/>
          <p:cNvSpPr/>
          <p:nvPr/>
        </p:nvSpPr>
        <p:spPr>
          <a:xfrm>
            <a:off x="1645920" y="4956048"/>
            <a:ext cx="4206240" cy="841248"/>
          </a:xfrm>
          <a:prstGeom prst="rect">
            <a:avLst/>
          </a:prstGeom>
          <a:noFill/>
          <a:ln/>
        </p:spPr>
        <p:txBody>
          <a:bodyPr wrap="square" rtlCol="0" anchor="ctr"/>
          <a:lstStyle/>
          <a:p>
            <a:pPr marL="0" indent="0">
              <a:buNone/>
            </a:pPr>
            <a:r>
              <a:rPr lang="en-US" sz="1450" b="1" dirty="0">
                <a:solidFill>
                  <a:srgbClr val="1A1A1A"/>
                </a:solidFill>
                <a:latin typeface="Calibri" pitchFamily="34" charset="0"/>
                <a:ea typeface="Calibri" pitchFamily="34" charset="-122"/>
                <a:cs typeface="Calibri" pitchFamily="34" charset="-120"/>
              </a:rPr>
              <a:t>JLL / Real-Estate Use Cases</a:t>
            </a:r>
            <a:endParaRPr lang="en-US" sz="1450" dirty="0"/>
          </a:p>
        </p:txBody>
      </p:sp>
      <p:sp>
        <p:nvSpPr>
          <p:cNvPr id="32" name="Shape 30"/>
          <p:cNvSpPr/>
          <p:nvPr/>
        </p:nvSpPr>
        <p:spPr>
          <a:xfrm>
            <a:off x="6355080" y="4956048"/>
            <a:ext cx="5394960" cy="841248"/>
          </a:xfrm>
          <a:prstGeom prst="roundRect">
            <a:avLst>
              <a:gd name="adj" fmla="val 9783"/>
            </a:avLst>
          </a:prstGeom>
          <a:solidFill>
            <a:srgbClr val="F4F5F7"/>
          </a:solidFill>
          <a:ln w="12700">
            <a:solidFill>
              <a:srgbClr val="DADDE2"/>
            </a:solidFill>
            <a:prstDash val="solid"/>
          </a:ln>
        </p:spPr>
        <p:txBody>
          <a:bodyPr/>
          <a:lstStyle/>
          <a:p>
            <a:endParaRPr lang="en-US"/>
          </a:p>
        </p:txBody>
      </p:sp>
      <p:sp>
        <p:nvSpPr>
          <p:cNvPr id="33" name="Shape 31"/>
          <p:cNvSpPr/>
          <p:nvPr/>
        </p:nvSpPr>
        <p:spPr>
          <a:xfrm>
            <a:off x="6537960" y="5175504"/>
            <a:ext cx="685800" cy="402336"/>
          </a:xfrm>
          <a:prstGeom prst="roundRect">
            <a:avLst>
              <a:gd name="adj" fmla="val 18182"/>
            </a:avLst>
          </a:prstGeom>
          <a:solidFill>
            <a:srgbClr val="E30613">
              <a:alpha val="22000"/>
            </a:srgbClr>
          </a:solidFill>
          <a:ln/>
        </p:spPr>
        <p:txBody>
          <a:bodyPr/>
          <a:lstStyle/>
          <a:p>
            <a:endParaRPr lang="en-US"/>
          </a:p>
        </p:txBody>
      </p:sp>
      <p:sp>
        <p:nvSpPr>
          <p:cNvPr id="34" name="Text 32"/>
          <p:cNvSpPr/>
          <p:nvPr/>
        </p:nvSpPr>
        <p:spPr>
          <a:xfrm>
            <a:off x="6537960" y="5175504"/>
            <a:ext cx="685800" cy="402336"/>
          </a:xfrm>
          <a:prstGeom prst="rect">
            <a:avLst/>
          </a:prstGeom>
          <a:noFill/>
          <a:ln/>
        </p:spPr>
        <p:txBody>
          <a:bodyPr wrap="square" rtlCol="0" anchor="ctr"/>
          <a:lstStyle/>
          <a:p>
            <a:pPr marL="0" indent="0" algn="ctr">
              <a:buNone/>
            </a:pPr>
            <a:r>
              <a:rPr lang="en-US" sz="1500" b="1" dirty="0">
                <a:solidFill>
                  <a:srgbClr val="E30613"/>
                </a:solidFill>
                <a:latin typeface="Courier New" pitchFamily="34" charset="0"/>
                <a:ea typeface="Courier New" pitchFamily="34" charset="-122"/>
                <a:cs typeface="Courier New" pitchFamily="34" charset="-120"/>
              </a:rPr>
              <a:t>08</a:t>
            </a:r>
            <a:endParaRPr lang="en-US" sz="1500" dirty="0"/>
          </a:p>
        </p:txBody>
      </p:sp>
      <p:sp>
        <p:nvSpPr>
          <p:cNvPr id="35" name="Text 33"/>
          <p:cNvSpPr/>
          <p:nvPr/>
        </p:nvSpPr>
        <p:spPr>
          <a:xfrm>
            <a:off x="7360920" y="4956048"/>
            <a:ext cx="4206240" cy="841248"/>
          </a:xfrm>
          <a:prstGeom prst="rect">
            <a:avLst/>
          </a:prstGeom>
          <a:noFill/>
          <a:ln/>
        </p:spPr>
        <p:txBody>
          <a:bodyPr wrap="square" rtlCol="0" anchor="ctr"/>
          <a:lstStyle/>
          <a:p>
            <a:pPr marL="0" indent="0">
              <a:buNone/>
            </a:pPr>
            <a:r>
              <a:rPr lang="en-US" sz="1450" b="1" dirty="0">
                <a:solidFill>
                  <a:srgbClr val="1A1A1A"/>
                </a:solidFill>
                <a:latin typeface="Calibri" pitchFamily="34" charset="0"/>
                <a:ea typeface="Calibri" pitchFamily="34" charset="-122"/>
                <a:cs typeface="Calibri" pitchFamily="34" charset="-120"/>
              </a:rPr>
              <a:t>Common Mistakes &amp; Hybrid Architecture</a:t>
            </a:r>
            <a:endParaRPr lang="en-US" sz="1450" dirty="0"/>
          </a:p>
        </p:txBody>
      </p:sp>
      <p:sp>
        <p:nvSpPr>
          <p:cNvPr id="36" name="Text 34"/>
          <p:cNvSpPr/>
          <p:nvPr/>
        </p:nvSpPr>
        <p:spPr>
          <a:xfrm>
            <a:off x="10728655" y="6400800"/>
            <a:ext cx="1097280" cy="274320"/>
          </a:xfrm>
          <a:prstGeom prst="rect">
            <a:avLst/>
          </a:prstGeom>
          <a:noFill/>
          <a:ln/>
        </p:spPr>
        <p:txBody>
          <a:bodyPr wrap="square" rtlCol="0" anchor="ctr"/>
          <a:lstStyle/>
          <a:p>
            <a:pPr marL="0" indent="0" algn="r">
              <a:buNone/>
            </a:pPr>
            <a:r>
              <a:rPr lang="en-US" sz="1000" dirty="0">
                <a:solidFill>
                  <a:srgbClr val="8A9099"/>
                </a:solidFill>
                <a:latin typeface="Courier New" pitchFamily="34" charset="0"/>
                <a:ea typeface="Courier New" pitchFamily="34" charset="-122"/>
                <a:cs typeface="Courier New" pitchFamily="34" charset="-120"/>
              </a:rPr>
              <a:t>02 / 16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rtlCol="0" anchor="ctr"/>
          <a:lstStyle/>
          <a:p>
            <a:pPr marL="0" indent="0" algn="l">
              <a:buNone/>
            </a:pPr>
            <a:r>
              <a:rPr lang="en-US" sz="1200" b="1" kern="0" spc="300" dirty="0">
                <a:solidFill>
                  <a:srgbClr val="B45309"/>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640080" y="777240"/>
            <a:ext cx="10911535" cy="822960"/>
          </a:xfrm>
          <a:prstGeom prst="rect">
            <a:avLst/>
          </a:prstGeom>
          <a:noFill/>
          <a:ln/>
        </p:spPr>
        <p:txBody>
          <a:bodyPr wrap="square" rtlCol="0" anchor="ctr"/>
          <a:lstStyle/>
          <a:p>
            <a:pPr marL="0" indent="0" algn="l">
              <a:buNone/>
            </a:pPr>
            <a:r>
              <a:rPr lang="en-US" sz="3200" b="1" dirty="0">
                <a:solidFill>
                  <a:srgbClr val="1A1A1A"/>
                </a:solidFill>
                <a:latin typeface="Century Schoolbook" pitchFamily="34" charset="0"/>
                <a:ea typeface="Century Schoolbook" pitchFamily="34" charset="-122"/>
                <a:cs typeface="Century Schoolbook" pitchFamily="34" charset="-120"/>
              </a:rPr>
              <a:t>Same question, three very different fixes</a:t>
            </a:r>
            <a:endParaRPr lang="en-US" sz="3200" dirty="0"/>
          </a:p>
        </p:txBody>
      </p:sp>
      <p:sp>
        <p:nvSpPr>
          <p:cNvPr id="4" name="Shape 2"/>
          <p:cNvSpPr/>
          <p:nvPr/>
        </p:nvSpPr>
        <p:spPr>
          <a:xfrm>
            <a:off x="640080" y="1965960"/>
            <a:ext cx="3611880" cy="4023360"/>
          </a:xfrm>
          <a:prstGeom prst="roundRect">
            <a:avLst>
              <a:gd name="adj" fmla="val 2278"/>
            </a:avLst>
          </a:prstGeom>
          <a:solidFill>
            <a:srgbClr val="F4F5F7"/>
          </a:solidFill>
          <a:ln w="12700">
            <a:solidFill>
              <a:srgbClr val="DADDE2"/>
            </a:solidFill>
            <a:prstDash val="solid"/>
          </a:ln>
          <a:effectLst>
            <a:outerShdw blurRad="114300" dist="38100" dir="5400000" algn="bl" rotWithShape="0">
              <a:srgbClr val="8A9099">
                <a:alpha val="28000"/>
              </a:srgbClr>
            </a:outerShdw>
          </a:effectLst>
        </p:spPr>
        <p:txBody>
          <a:bodyPr/>
          <a:lstStyle/>
          <a:p>
            <a:endParaRPr lang="en-US"/>
          </a:p>
        </p:txBody>
      </p:sp>
      <p:sp>
        <p:nvSpPr>
          <p:cNvPr id="5" name="Shape 3"/>
          <p:cNvSpPr/>
          <p:nvPr/>
        </p:nvSpPr>
        <p:spPr>
          <a:xfrm>
            <a:off x="914400" y="2258568"/>
            <a:ext cx="685800" cy="685800"/>
          </a:xfrm>
          <a:prstGeom prst="ellipse">
            <a:avLst/>
          </a:prstGeom>
          <a:solidFill>
            <a:srgbClr val="FFFFFF"/>
          </a:solidFill>
          <a:ln w="22225">
            <a:solidFill>
              <a:srgbClr val="5B21B6"/>
            </a:solidFill>
            <a:prstDash val="solid"/>
          </a:ln>
        </p:spPr>
        <p:txBody>
          <a:bodyPr/>
          <a:lstStyle/>
          <a:p>
            <a:endParaRPr lang="en-US"/>
          </a:p>
        </p:txBody>
      </p:sp>
      <p:sp>
        <p:nvSpPr>
          <p:cNvPr id="6" name="Text 4"/>
          <p:cNvSpPr/>
          <p:nvPr/>
        </p:nvSpPr>
        <p:spPr>
          <a:xfrm>
            <a:off x="914400" y="2258568"/>
            <a:ext cx="685800" cy="685800"/>
          </a:xfrm>
          <a:prstGeom prst="rect">
            <a:avLst/>
          </a:prstGeom>
          <a:noFill/>
          <a:ln/>
        </p:spPr>
        <p:txBody>
          <a:bodyPr wrap="square" rtlCol="0" anchor="ctr"/>
          <a:lstStyle/>
          <a:p>
            <a:pPr marL="0" indent="0" algn="ctr">
              <a:buNone/>
            </a:pPr>
            <a:r>
              <a:rPr lang="en-US" sz="1650" dirty="0">
                <a:solidFill>
                  <a:srgbClr val="000000"/>
                </a:solidFill>
                <a:latin typeface="Calibri" pitchFamily="34" charset="0"/>
                <a:ea typeface="Calibri" pitchFamily="34" charset="-122"/>
                <a:cs typeface="Calibri" pitchFamily="34" charset="-120"/>
              </a:rPr>
              <a:t>🧠</a:t>
            </a:r>
            <a:endParaRPr lang="en-US" sz="1650" dirty="0"/>
          </a:p>
        </p:txBody>
      </p:sp>
      <p:sp>
        <p:nvSpPr>
          <p:cNvPr id="7" name="Text 5"/>
          <p:cNvSpPr/>
          <p:nvPr/>
        </p:nvSpPr>
        <p:spPr>
          <a:xfrm>
            <a:off x="914400" y="3108960"/>
            <a:ext cx="3063240" cy="457200"/>
          </a:xfrm>
          <a:prstGeom prst="rect">
            <a:avLst/>
          </a:prstGeom>
          <a:noFill/>
          <a:ln/>
        </p:spPr>
        <p:txBody>
          <a:bodyPr wrap="square"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“It reasons poorly”</a:t>
            </a:r>
            <a:endParaRPr lang="en-US" sz="1500" dirty="0"/>
          </a:p>
        </p:txBody>
      </p:sp>
      <p:sp>
        <p:nvSpPr>
          <p:cNvPr id="8" name="Text 6"/>
          <p:cNvSpPr/>
          <p:nvPr/>
        </p:nvSpPr>
        <p:spPr>
          <a:xfrm>
            <a:off x="914400" y="3611880"/>
            <a:ext cx="3063240" cy="1005840"/>
          </a:xfrm>
          <a:prstGeom prst="rect">
            <a:avLst/>
          </a:prstGeom>
          <a:noFill/>
          <a:ln/>
        </p:spPr>
        <p:txBody>
          <a:bodyPr wrap="square" rtlCol="0" anchor="ctr"/>
          <a:lstStyle/>
          <a:p>
            <a:pPr marL="0" indent="0">
              <a:buNone/>
            </a:pPr>
            <a:r>
              <a:rPr lang="en-US" sz="1200" dirty="0">
                <a:solidFill>
                  <a:srgbClr val="5A5F66"/>
                </a:solidFill>
                <a:latin typeface="Calibri" pitchFamily="34" charset="0"/>
                <a:ea typeface="Calibri" pitchFamily="34" charset="-122"/>
                <a:cs typeface="Calibri" pitchFamily="34" charset="-120"/>
              </a:rPr>
              <a:t>The model has the info but botches multi-step logic or format.</a:t>
            </a:r>
            <a:endParaRPr lang="en-US" sz="1200" dirty="0"/>
          </a:p>
        </p:txBody>
      </p:sp>
      <p:sp>
        <p:nvSpPr>
          <p:cNvPr id="9" name="Shape 7"/>
          <p:cNvSpPr/>
          <p:nvPr/>
        </p:nvSpPr>
        <p:spPr>
          <a:xfrm>
            <a:off x="914400" y="4754880"/>
            <a:ext cx="1737360" cy="256032"/>
          </a:xfrm>
          <a:prstGeom prst="roundRect">
            <a:avLst>
              <a:gd name="adj" fmla="val 50000"/>
            </a:avLst>
          </a:prstGeom>
          <a:solidFill>
            <a:srgbClr val="F0F1F3"/>
          </a:solidFill>
          <a:ln/>
        </p:spPr>
        <p:txBody>
          <a:bodyPr/>
          <a:lstStyle/>
          <a:p>
            <a:endParaRPr lang="en-US"/>
          </a:p>
        </p:txBody>
      </p:sp>
      <p:sp>
        <p:nvSpPr>
          <p:cNvPr id="10" name="Text 8"/>
          <p:cNvSpPr/>
          <p:nvPr/>
        </p:nvSpPr>
        <p:spPr>
          <a:xfrm>
            <a:off x="914400" y="4754880"/>
            <a:ext cx="1737360" cy="256032"/>
          </a:xfrm>
          <a:prstGeom prst="rect">
            <a:avLst/>
          </a:prstGeom>
          <a:noFill/>
          <a:ln/>
        </p:spPr>
        <p:txBody>
          <a:bodyPr wrap="square" rtlCol="0" anchor="ctr"/>
          <a:lstStyle/>
          <a:p>
            <a:pPr marL="0" indent="0" algn="ctr">
              <a:buNone/>
            </a:pPr>
            <a:r>
              <a:rPr lang="en-US" sz="950" b="1" dirty="0">
                <a:solidFill>
                  <a:srgbClr val="5B21B6"/>
                </a:solidFill>
                <a:latin typeface="Calibri" pitchFamily="34" charset="0"/>
                <a:ea typeface="Calibri" pitchFamily="34" charset="-122"/>
                <a:cs typeface="Calibri" pitchFamily="34" charset="-120"/>
              </a:rPr>
              <a:t>Reasoning gap</a:t>
            </a:r>
            <a:endParaRPr lang="en-US" sz="950" dirty="0"/>
          </a:p>
        </p:txBody>
      </p:sp>
      <p:sp>
        <p:nvSpPr>
          <p:cNvPr id="11" name="Text 9"/>
          <p:cNvSpPr/>
          <p:nvPr/>
        </p:nvSpPr>
        <p:spPr>
          <a:xfrm>
            <a:off x="914400" y="5166360"/>
            <a:ext cx="3063240" cy="548640"/>
          </a:xfrm>
          <a:prstGeom prst="rect">
            <a:avLst/>
          </a:prstGeom>
          <a:noFill/>
          <a:ln/>
        </p:spPr>
        <p:txBody>
          <a:bodyPr wrap="square" rtlCol="0" anchor="ctr"/>
          <a:lstStyle/>
          <a:p>
            <a:pPr marL="0" indent="0">
              <a:buNone/>
            </a:pPr>
            <a:r>
              <a:rPr lang="en-US" sz="1500" b="1" dirty="0">
                <a:solidFill>
                  <a:srgbClr val="5B21B6"/>
                </a:solidFill>
                <a:latin typeface="Calibri" pitchFamily="34" charset="0"/>
                <a:ea typeface="Calibri" pitchFamily="34" charset="-122"/>
                <a:cs typeface="Calibri" pitchFamily="34" charset="-120"/>
              </a:rPr>
              <a:t>→  Better Prompting</a:t>
            </a:r>
            <a:endParaRPr lang="en-US" sz="1500" dirty="0"/>
          </a:p>
        </p:txBody>
      </p:sp>
      <p:sp>
        <p:nvSpPr>
          <p:cNvPr id="12" name="Shape 10"/>
          <p:cNvSpPr/>
          <p:nvPr/>
        </p:nvSpPr>
        <p:spPr>
          <a:xfrm>
            <a:off x="4507992" y="1965960"/>
            <a:ext cx="3611880" cy="4023360"/>
          </a:xfrm>
          <a:prstGeom prst="roundRect">
            <a:avLst>
              <a:gd name="adj" fmla="val 2278"/>
            </a:avLst>
          </a:prstGeom>
          <a:solidFill>
            <a:srgbClr val="F4F5F7"/>
          </a:solidFill>
          <a:ln w="12700">
            <a:solidFill>
              <a:srgbClr val="DADDE2"/>
            </a:solidFill>
            <a:prstDash val="solid"/>
          </a:ln>
          <a:effectLst>
            <a:outerShdw blurRad="114300" dist="38100" dir="5400000" algn="bl" rotWithShape="0">
              <a:srgbClr val="8A9099">
                <a:alpha val="28000"/>
              </a:srgbClr>
            </a:outerShdw>
          </a:effectLst>
        </p:spPr>
        <p:txBody>
          <a:bodyPr/>
          <a:lstStyle/>
          <a:p>
            <a:endParaRPr lang="en-US"/>
          </a:p>
        </p:txBody>
      </p:sp>
      <p:sp>
        <p:nvSpPr>
          <p:cNvPr id="13" name="Shape 11"/>
          <p:cNvSpPr/>
          <p:nvPr/>
        </p:nvSpPr>
        <p:spPr>
          <a:xfrm>
            <a:off x="4782312" y="2258568"/>
            <a:ext cx="685800" cy="685800"/>
          </a:xfrm>
          <a:prstGeom prst="ellipse">
            <a:avLst/>
          </a:prstGeom>
          <a:solidFill>
            <a:srgbClr val="FFFFFF"/>
          </a:solidFill>
          <a:ln w="22225">
            <a:solidFill>
              <a:srgbClr val="1D4ED8"/>
            </a:solidFill>
            <a:prstDash val="solid"/>
          </a:ln>
        </p:spPr>
        <p:txBody>
          <a:bodyPr/>
          <a:lstStyle/>
          <a:p>
            <a:endParaRPr lang="en-US"/>
          </a:p>
        </p:txBody>
      </p:sp>
      <p:sp>
        <p:nvSpPr>
          <p:cNvPr id="14" name="Text 12"/>
          <p:cNvSpPr/>
          <p:nvPr/>
        </p:nvSpPr>
        <p:spPr>
          <a:xfrm>
            <a:off x="4782312" y="2258568"/>
            <a:ext cx="685800" cy="685800"/>
          </a:xfrm>
          <a:prstGeom prst="rect">
            <a:avLst/>
          </a:prstGeom>
          <a:noFill/>
          <a:ln/>
        </p:spPr>
        <p:txBody>
          <a:bodyPr wrap="square" rtlCol="0" anchor="ctr"/>
          <a:lstStyle/>
          <a:p>
            <a:pPr marL="0" indent="0" algn="ctr">
              <a:buNone/>
            </a:pPr>
            <a:r>
              <a:rPr lang="en-US" sz="1650" dirty="0">
                <a:solidFill>
                  <a:srgbClr val="000000"/>
                </a:solidFill>
                <a:latin typeface="Calibri" pitchFamily="34" charset="0"/>
                <a:ea typeface="Calibri" pitchFamily="34" charset="-122"/>
                <a:cs typeface="Calibri" pitchFamily="34" charset="-120"/>
              </a:rPr>
              <a:t>📚</a:t>
            </a:r>
            <a:endParaRPr lang="en-US" sz="1650" dirty="0"/>
          </a:p>
        </p:txBody>
      </p:sp>
      <p:sp>
        <p:nvSpPr>
          <p:cNvPr id="15" name="Text 13"/>
          <p:cNvSpPr/>
          <p:nvPr/>
        </p:nvSpPr>
        <p:spPr>
          <a:xfrm>
            <a:off x="4782312" y="3108960"/>
            <a:ext cx="3063240" cy="457200"/>
          </a:xfrm>
          <a:prstGeom prst="rect">
            <a:avLst/>
          </a:prstGeom>
          <a:noFill/>
          <a:ln/>
        </p:spPr>
        <p:txBody>
          <a:bodyPr wrap="square"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“It doesn't know our data”</a:t>
            </a:r>
            <a:endParaRPr lang="en-US" sz="1500" dirty="0"/>
          </a:p>
        </p:txBody>
      </p:sp>
      <p:sp>
        <p:nvSpPr>
          <p:cNvPr id="16" name="Text 14"/>
          <p:cNvSpPr/>
          <p:nvPr/>
        </p:nvSpPr>
        <p:spPr>
          <a:xfrm>
            <a:off x="4782312" y="3611880"/>
            <a:ext cx="3063240" cy="1005840"/>
          </a:xfrm>
          <a:prstGeom prst="rect">
            <a:avLst/>
          </a:prstGeom>
          <a:noFill/>
          <a:ln/>
        </p:spPr>
        <p:txBody>
          <a:bodyPr wrap="square" rtlCol="0" anchor="ctr"/>
          <a:lstStyle/>
          <a:p>
            <a:pPr marL="0" indent="0">
              <a:buNone/>
            </a:pPr>
            <a:r>
              <a:rPr lang="en-US" sz="1200" dirty="0">
                <a:solidFill>
                  <a:srgbClr val="5A5F66"/>
                </a:solidFill>
                <a:latin typeface="Calibri" pitchFamily="34" charset="0"/>
                <a:ea typeface="Calibri" pitchFamily="34" charset="-122"/>
                <a:cs typeface="Calibri" pitchFamily="34" charset="-120"/>
              </a:rPr>
              <a:t>Lease terms, policies, live market rates — none of it is in training.</a:t>
            </a:r>
            <a:endParaRPr lang="en-US" sz="1200" dirty="0"/>
          </a:p>
        </p:txBody>
      </p:sp>
      <p:sp>
        <p:nvSpPr>
          <p:cNvPr id="17" name="Shape 15"/>
          <p:cNvSpPr/>
          <p:nvPr/>
        </p:nvSpPr>
        <p:spPr>
          <a:xfrm>
            <a:off x="4782312" y="4754880"/>
            <a:ext cx="1737360" cy="256032"/>
          </a:xfrm>
          <a:prstGeom prst="roundRect">
            <a:avLst>
              <a:gd name="adj" fmla="val 50000"/>
            </a:avLst>
          </a:prstGeom>
          <a:solidFill>
            <a:srgbClr val="F0F1F3"/>
          </a:solidFill>
          <a:ln/>
        </p:spPr>
        <p:txBody>
          <a:bodyPr/>
          <a:lstStyle/>
          <a:p>
            <a:endParaRPr lang="en-US"/>
          </a:p>
        </p:txBody>
      </p:sp>
      <p:sp>
        <p:nvSpPr>
          <p:cNvPr id="18" name="Text 16"/>
          <p:cNvSpPr/>
          <p:nvPr/>
        </p:nvSpPr>
        <p:spPr>
          <a:xfrm>
            <a:off x="4782312" y="4754880"/>
            <a:ext cx="1737360" cy="256032"/>
          </a:xfrm>
          <a:prstGeom prst="rect">
            <a:avLst/>
          </a:prstGeom>
          <a:noFill/>
          <a:ln/>
        </p:spPr>
        <p:txBody>
          <a:bodyPr wrap="square" rtlCol="0" anchor="ctr"/>
          <a:lstStyle/>
          <a:p>
            <a:pPr marL="0" indent="0" algn="ctr">
              <a:buNone/>
            </a:pPr>
            <a:r>
              <a:rPr lang="en-US" sz="950" b="1" dirty="0">
                <a:solidFill>
                  <a:srgbClr val="1D4ED8"/>
                </a:solidFill>
                <a:latin typeface="Calibri" pitchFamily="34" charset="0"/>
                <a:ea typeface="Calibri" pitchFamily="34" charset="-122"/>
                <a:cs typeface="Calibri" pitchFamily="34" charset="-120"/>
              </a:rPr>
              <a:t>Knowledge gap</a:t>
            </a:r>
            <a:endParaRPr lang="en-US" sz="950" dirty="0"/>
          </a:p>
        </p:txBody>
      </p:sp>
      <p:sp>
        <p:nvSpPr>
          <p:cNvPr id="19" name="Text 17"/>
          <p:cNvSpPr/>
          <p:nvPr/>
        </p:nvSpPr>
        <p:spPr>
          <a:xfrm>
            <a:off x="4782312" y="5166360"/>
            <a:ext cx="3063240" cy="548640"/>
          </a:xfrm>
          <a:prstGeom prst="rect">
            <a:avLst/>
          </a:prstGeom>
          <a:noFill/>
          <a:ln/>
        </p:spPr>
        <p:txBody>
          <a:bodyPr wrap="square" rtlCol="0" anchor="ctr"/>
          <a:lstStyle/>
          <a:p>
            <a:pPr marL="0" indent="0">
              <a:buNone/>
            </a:pPr>
            <a:r>
              <a:rPr lang="en-US" sz="1500" b="1" dirty="0">
                <a:solidFill>
                  <a:srgbClr val="1D4ED8"/>
                </a:solidFill>
                <a:latin typeface="Calibri" pitchFamily="34" charset="0"/>
                <a:ea typeface="Calibri" pitchFamily="34" charset="-122"/>
                <a:cs typeface="Calibri" pitchFamily="34" charset="-120"/>
              </a:rPr>
              <a:t>→  RAG</a:t>
            </a:r>
            <a:endParaRPr lang="en-US" sz="1500" dirty="0"/>
          </a:p>
        </p:txBody>
      </p:sp>
      <p:sp>
        <p:nvSpPr>
          <p:cNvPr id="20" name="Shape 18"/>
          <p:cNvSpPr/>
          <p:nvPr/>
        </p:nvSpPr>
        <p:spPr>
          <a:xfrm>
            <a:off x="8375904" y="1965960"/>
            <a:ext cx="3611880" cy="4023360"/>
          </a:xfrm>
          <a:prstGeom prst="roundRect">
            <a:avLst>
              <a:gd name="adj" fmla="val 2278"/>
            </a:avLst>
          </a:prstGeom>
          <a:solidFill>
            <a:srgbClr val="F4F5F7"/>
          </a:solidFill>
          <a:ln w="12700">
            <a:solidFill>
              <a:srgbClr val="DADDE2"/>
            </a:solidFill>
            <a:prstDash val="solid"/>
          </a:ln>
          <a:effectLst>
            <a:outerShdw blurRad="114300" dist="38100" dir="5400000" algn="bl" rotWithShape="0">
              <a:srgbClr val="8A9099">
                <a:alpha val="28000"/>
              </a:srgbClr>
            </a:outerShdw>
          </a:effectLst>
        </p:spPr>
        <p:txBody>
          <a:bodyPr/>
          <a:lstStyle/>
          <a:p>
            <a:endParaRPr lang="en-US"/>
          </a:p>
        </p:txBody>
      </p:sp>
      <p:sp>
        <p:nvSpPr>
          <p:cNvPr id="21" name="Shape 19"/>
          <p:cNvSpPr/>
          <p:nvPr/>
        </p:nvSpPr>
        <p:spPr>
          <a:xfrm>
            <a:off x="8650224" y="2258568"/>
            <a:ext cx="685800" cy="685800"/>
          </a:xfrm>
          <a:prstGeom prst="ellipse">
            <a:avLst/>
          </a:prstGeom>
          <a:solidFill>
            <a:srgbClr val="FFFFFF"/>
          </a:solidFill>
          <a:ln w="22225">
            <a:solidFill>
              <a:srgbClr val="E30613"/>
            </a:solidFill>
            <a:prstDash val="solid"/>
          </a:ln>
        </p:spPr>
        <p:txBody>
          <a:bodyPr/>
          <a:lstStyle/>
          <a:p>
            <a:endParaRPr lang="en-US"/>
          </a:p>
        </p:txBody>
      </p:sp>
      <p:sp>
        <p:nvSpPr>
          <p:cNvPr id="22" name="Text 20"/>
          <p:cNvSpPr/>
          <p:nvPr/>
        </p:nvSpPr>
        <p:spPr>
          <a:xfrm>
            <a:off x="8650224" y="2258568"/>
            <a:ext cx="685800" cy="685800"/>
          </a:xfrm>
          <a:prstGeom prst="rect">
            <a:avLst/>
          </a:prstGeom>
          <a:noFill/>
          <a:ln/>
        </p:spPr>
        <p:txBody>
          <a:bodyPr wrap="square" rtlCol="0" anchor="ctr"/>
          <a:lstStyle/>
          <a:p>
            <a:pPr marL="0" indent="0" algn="ctr">
              <a:buNone/>
            </a:pPr>
            <a:r>
              <a:rPr lang="en-US" sz="1650" dirty="0">
                <a:solidFill>
                  <a:srgbClr val="000000"/>
                </a:solidFill>
                <a:latin typeface="Calibri" pitchFamily="34" charset="0"/>
                <a:ea typeface="Calibri" pitchFamily="34" charset="-122"/>
                <a:cs typeface="Calibri" pitchFamily="34" charset="-120"/>
              </a:rPr>
              <a:t>🎨</a:t>
            </a:r>
            <a:endParaRPr lang="en-US" sz="1650" dirty="0"/>
          </a:p>
        </p:txBody>
      </p:sp>
      <p:sp>
        <p:nvSpPr>
          <p:cNvPr id="23" name="Text 21"/>
          <p:cNvSpPr/>
          <p:nvPr/>
        </p:nvSpPr>
        <p:spPr>
          <a:xfrm>
            <a:off x="8650224" y="3108960"/>
            <a:ext cx="3063240" cy="457200"/>
          </a:xfrm>
          <a:prstGeom prst="rect">
            <a:avLst/>
          </a:prstGeom>
          <a:noFill/>
          <a:ln/>
        </p:spPr>
        <p:txBody>
          <a:bodyPr wrap="square"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“It won't stay on-brand”</a:t>
            </a:r>
            <a:endParaRPr lang="en-US" sz="1500" dirty="0"/>
          </a:p>
        </p:txBody>
      </p:sp>
      <p:sp>
        <p:nvSpPr>
          <p:cNvPr id="24" name="Text 22"/>
          <p:cNvSpPr/>
          <p:nvPr/>
        </p:nvSpPr>
        <p:spPr>
          <a:xfrm>
            <a:off x="8650224" y="3611880"/>
            <a:ext cx="3063240" cy="1005840"/>
          </a:xfrm>
          <a:prstGeom prst="rect">
            <a:avLst/>
          </a:prstGeom>
          <a:noFill/>
          <a:ln/>
        </p:spPr>
        <p:txBody>
          <a:bodyPr wrap="square" rtlCol="0" anchor="ctr"/>
          <a:lstStyle/>
          <a:p>
            <a:pPr marL="0" indent="0">
              <a:buNone/>
            </a:pPr>
            <a:r>
              <a:rPr lang="en-US" sz="1200" dirty="0">
                <a:solidFill>
                  <a:srgbClr val="5A5F66"/>
                </a:solidFill>
                <a:latin typeface="Calibri" pitchFamily="34" charset="0"/>
                <a:ea typeface="Calibri" pitchFamily="34" charset="-122"/>
                <a:cs typeface="Calibri" pitchFamily="34" charset="-120"/>
              </a:rPr>
              <a:t>Correct answers, but wrong tone / schema, every single time.</a:t>
            </a:r>
            <a:endParaRPr lang="en-US" sz="1200" dirty="0"/>
          </a:p>
        </p:txBody>
      </p:sp>
      <p:sp>
        <p:nvSpPr>
          <p:cNvPr id="25" name="Shape 23"/>
          <p:cNvSpPr/>
          <p:nvPr/>
        </p:nvSpPr>
        <p:spPr>
          <a:xfrm>
            <a:off x="8650224" y="4754880"/>
            <a:ext cx="1737360" cy="256032"/>
          </a:xfrm>
          <a:prstGeom prst="roundRect">
            <a:avLst>
              <a:gd name="adj" fmla="val 50000"/>
            </a:avLst>
          </a:prstGeom>
          <a:solidFill>
            <a:srgbClr val="F0F1F3"/>
          </a:solidFill>
          <a:ln/>
        </p:spPr>
        <p:txBody>
          <a:bodyPr/>
          <a:lstStyle/>
          <a:p>
            <a:endParaRPr lang="en-US"/>
          </a:p>
        </p:txBody>
      </p:sp>
      <p:sp>
        <p:nvSpPr>
          <p:cNvPr id="26" name="Text 24"/>
          <p:cNvSpPr/>
          <p:nvPr/>
        </p:nvSpPr>
        <p:spPr>
          <a:xfrm>
            <a:off x="8650224" y="4754880"/>
            <a:ext cx="1737360" cy="256032"/>
          </a:xfrm>
          <a:prstGeom prst="rect">
            <a:avLst/>
          </a:prstGeom>
          <a:noFill/>
          <a:ln/>
        </p:spPr>
        <p:txBody>
          <a:bodyPr wrap="square" rtlCol="0" anchor="ctr"/>
          <a:lstStyle/>
          <a:p>
            <a:pPr marL="0" indent="0" algn="ctr">
              <a:buNone/>
            </a:pPr>
            <a:r>
              <a:rPr lang="en-US" sz="950" b="1" dirty="0">
                <a:solidFill>
                  <a:srgbClr val="E30613"/>
                </a:solidFill>
                <a:latin typeface="Calibri" pitchFamily="34" charset="0"/>
                <a:ea typeface="Calibri" pitchFamily="34" charset="-122"/>
                <a:cs typeface="Calibri" pitchFamily="34" charset="-120"/>
              </a:rPr>
              <a:t>Style gap</a:t>
            </a:r>
            <a:endParaRPr lang="en-US" sz="950" dirty="0"/>
          </a:p>
        </p:txBody>
      </p:sp>
      <p:sp>
        <p:nvSpPr>
          <p:cNvPr id="27" name="Text 25"/>
          <p:cNvSpPr/>
          <p:nvPr/>
        </p:nvSpPr>
        <p:spPr>
          <a:xfrm>
            <a:off x="8650224" y="5166360"/>
            <a:ext cx="3063240" cy="548640"/>
          </a:xfrm>
          <a:prstGeom prst="rect">
            <a:avLst/>
          </a:prstGeom>
          <a:noFill/>
          <a:ln/>
        </p:spPr>
        <p:txBody>
          <a:bodyPr wrap="square" rtlCol="0" anchor="ctr"/>
          <a:lstStyle/>
          <a:p>
            <a:pPr marL="0" indent="0">
              <a:buNone/>
            </a:pPr>
            <a:r>
              <a:rPr lang="en-US" sz="1500" b="1" dirty="0">
                <a:solidFill>
                  <a:srgbClr val="E30613"/>
                </a:solidFill>
                <a:latin typeface="Calibri" pitchFamily="34" charset="0"/>
                <a:ea typeface="Calibri" pitchFamily="34" charset="-122"/>
                <a:cs typeface="Calibri" pitchFamily="34" charset="-120"/>
              </a:rPr>
              <a:t>→  Fine-Tuning</a:t>
            </a:r>
            <a:endParaRPr lang="en-US" sz="1500" dirty="0"/>
          </a:p>
        </p:txBody>
      </p:sp>
      <p:sp>
        <p:nvSpPr>
          <p:cNvPr id="28" name="Text 26"/>
          <p:cNvSpPr/>
          <p:nvPr/>
        </p:nvSpPr>
        <p:spPr>
          <a:xfrm>
            <a:off x="640080" y="6172200"/>
            <a:ext cx="10515600" cy="365760"/>
          </a:xfrm>
          <a:prstGeom prst="rect">
            <a:avLst/>
          </a:prstGeom>
          <a:noFill/>
          <a:ln/>
        </p:spPr>
        <p:txBody>
          <a:bodyPr wrap="square" rtlCol="0" anchor="ctr"/>
          <a:lstStyle/>
          <a:p>
            <a:pPr marL="0" indent="0">
              <a:buNone/>
            </a:pPr>
            <a:r>
              <a:rPr lang="en-US" sz="1300" i="1" dirty="0">
                <a:solidFill>
                  <a:srgbClr val="8A9099"/>
                </a:solidFill>
                <a:latin typeface="Calibri" pitchFamily="34" charset="0"/>
                <a:ea typeface="Calibri" pitchFamily="34" charset="-122"/>
                <a:cs typeface="Calibri" pitchFamily="34" charset="-120"/>
              </a:rPr>
              <a:t>Diagnose the failure type first — the wrong fix wastes weeks.</a:t>
            </a:r>
            <a:endParaRPr lang="en-US" sz="1300" dirty="0"/>
          </a:p>
        </p:txBody>
      </p:sp>
      <p:sp>
        <p:nvSpPr>
          <p:cNvPr id="29" name="Text 27"/>
          <p:cNvSpPr/>
          <p:nvPr/>
        </p:nvSpPr>
        <p:spPr>
          <a:xfrm>
            <a:off x="10728655" y="6400800"/>
            <a:ext cx="1097280" cy="274320"/>
          </a:xfrm>
          <a:prstGeom prst="rect">
            <a:avLst/>
          </a:prstGeom>
          <a:noFill/>
          <a:ln/>
        </p:spPr>
        <p:txBody>
          <a:bodyPr wrap="square" rtlCol="0" anchor="ctr"/>
          <a:lstStyle/>
          <a:p>
            <a:pPr marL="0" indent="0" algn="r">
              <a:buNone/>
            </a:pPr>
            <a:r>
              <a:rPr lang="en-US" sz="1000" dirty="0">
                <a:solidFill>
                  <a:srgbClr val="8A9099"/>
                </a:solidFill>
                <a:latin typeface="Courier New" pitchFamily="34" charset="0"/>
                <a:ea typeface="Courier New" pitchFamily="34" charset="-122"/>
                <a:cs typeface="Courier New" pitchFamily="34" charset="-120"/>
              </a:rPr>
              <a:t>03 / 16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rtlCol="0" anchor="ctr"/>
          <a:lstStyle/>
          <a:p>
            <a:pPr marL="0" indent="0" algn="l">
              <a:buNone/>
            </a:pPr>
            <a:r>
              <a:rPr lang="en-US" sz="1200" b="1" kern="0" spc="300" dirty="0">
                <a:solidFill>
                  <a:srgbClr val="6D28D9"/>
                </a:solidFill>
                <a:latin typeface="Calibri" pitchFamily="34" charset="0"/>
                <a:ea typeface="Calibri" pitchFamily="34" charset="-122"/>
                <a:cs typeface="Calibri" pitchFamily="34" charset="-120"/>
              </a:rPr>
              <a:t>MENTAL MODEL</a:t>
            </a:r>
            <a:endParaRPr lang="en-US" sz="1200" dirty="0"/>
          </a:p>
        </p:txBody>
      </p:sp>
      <p:sp>
        <p:nvSpPr>
          <p:cNvPr id="3" name="Text 1"/>
          <p:cNvSpPr/>
          <p:nvPr/>
        </p:nvSpPr>
        <p:spPr>
          <a:xfrm>
            <a:off x="640080" y="777240"/>
            <a:ext cx="10911535" cy="822960"/>
          </a:xfrm>
          <a:prstGeom prst="rect">
            <a:avLst/>
          </a:prstGeom>
          <a:noFill/>
          <a:ln/>
        </p:spPr>
        <p:txBody>
          <a:bodyPr wrap="square" rtlCol="0" anchor="ctr"/>
          <a:lstStyle/>
          <a:p>
            <a:pPr marL="0" indent="0" algn="l">
              <a:buNone/>
            </a:pPr>
            <a:r>
              <a:rPr lang="en-US" sz="3200" b="1" dirty="0">
                <a:solidFill>
                  <a:srgbClr val="1A1A1A"/>
                </a:solidFill>
                <a:latin typeface="Century Schoolbook" pitchFamily="34" charset="0"/>
                <a:ea typeface="Century Schoolbook" pitchFamily="34" charset="-122"/>
                <a:cs typeface="Century Schoolbook" pitchFamily="34" charset="-120"/>
              </a:rPr>
              <a:t>Three complementary layers, not a menu</a:t>
            </a:r>
            <a:endParaRPr lang="en-US" sz="3200" dirty="0"/>
          </a:p>
        </p:txBody>
      </p:sp>
      <p:sp>
        <p:nvSpPr>
          <p:cNvPr id="4" name="Shape 2"/>
          <p:cNvSpPr/>
          <p:nvPr/>
        </p:nvSpPr>
        <p:spPr>
          <a:xfrm>
            <a:off x="640080" y="1783080"/>
            <a:ext cx="3611880" cy="2697480"/>
          </a:xfrm>
          <a:prstGeom prst="roundRect">
            <a:avLst>
              <a:gd name="adj" fmla="val 3051"/>
            </a:avLst>
          </a:prstGeom>
          <a:solidFill>
            <a:srgbClr val="F4F5F7"/>
          </a:solidFill>
          <a:ln w="12700">
            <a:solidFill>
              <a:srgbClr val="DADDE2"/>
            </a:solidFill>
            <a:prstDash val="solid"/>
          </a:ln>
        </p:spPr>
        <p:txBody>
          <a:bodyPr/>
          <a:lstStyle/>
          <a:p>
            <a:endParaRPr lang="en-US"/>
          </a:p>
        </p:txBody>
      </p:sp>
      <p:sp>
        <p:nvSpPr>
          <p:cNvPr id="5" name="Shape 3"/>
          <p:cNvSpPr/>
          <p:nvPr/>
        </p:nvSpPr>
        <p:spPr>
          <a:xfrm>
            <a:off x="896112" y="2039112"/>
            <a:ext cx="566928" cy="566928"/>
          </a:xfrm>
          <a:prstGeom prst="ellipse">
            <a:avLst/>
          </a:prstGeom>
          <a:solidFill>
            <a:srgbClr val="FFFFFF"/>
          </a:solidFill>
          <a:ln w="22225">
            <a:solidFill>
              <a:srgbClr val="6D28D9"/>
            </a:solidFill>
            <a:prstDash val="solid"/>
          </a:ln>
        </p:spPr>
        <p:txBody>
          <a:bodyPr/>
          <a:lstStyle/>
          <a:p>
            <a:endParaRPr lang="en-US"/>
          </a:p>
        </p:txBody>
      </p:sp>
      <p:sp>
        <p:nvSpPr>
          <p:cNvPr id="6" name="Text 4"/>
          <p:cNvSpPr/>
          <p:nvPr/>
        </p:nvSpPr>
        <p:spPr>
          <a:xfrm>
            <a:off x="896112" y="2039112"/>
            <a:ext cx="566928" cy="566928"/>
          </a:xfrm>
          <a:prstGeom prst="rect">
            <a:avLst/>
          </a:prstGeom>
          <a:noFill/>
          <a:ln/>
        </p:spPr>
        <p:txBody>
          <a:bodyPr wrap="square" rtlCol="0" anchor="ctr"/>
          <a:lstStyle/>
          <a:p>
            <a:pPr marL="0" indent="0" algn="ctr">
              <a:buNone/>
            </a:pPr>
            <a:r>
              <a:rPr lang="en-US" sz="1364" dirty="0">
                <a:solidFill>
                  <a:srgbClr val="000000"/>
                </a:solidFill>
                <a:latin typeface="Calibri" pitchFamily="34" charset="0"/>
                <a:ea typeface="Calibri" pitchFamily="34" charset="-122"/>
                <a:cs typeface="Calibri" pitchFamily="34" charset="-120"/>
              </a:rPr>
              <a:t>🎯</a:t>
            </a:r>
            <a:endParaRPr lang="en-US" sz="1364" dirty="0"/>
          </a:p>
        </p:txBody>
      </p:sp>
      <p:sp>
        <p:nvSpPr>
          <p:cNvPr id="7" name="Text 5"/>
          <p:cNvSpPr/>
          <p:nvPr/>
        </p:nvSpPr>
        <p:spPr>
          <a:xfrm>
            <a:off x="1600200" y="2057400"/>
            <a:ext cx="2514600" cy="365760"/>
          </a:xfrm>
          <a:prstGeom prst="rect">
            <a:avLst/>
          </a:prstGeom>
          <a:noFill/>
          <a:ln/>
        </p:spPr>
        <p:txBody>
          <a:bodyPr wrap="square" rtlCol="0" anchor="ctr"/>
          <a:lstStyle/>
          <a:p>
            <a:pPr marL="0" indent="0">
              <a:buNone/>
            </a:pPr>
            <a:r>
              <a:rPr lang="en-US" sz="1700" b="1" dirty="0">
                <a:solidFill>
                  <a:srgbClr val="1A1A1A"/>
                </a:solidFill>
                <a:latin typeface="Calibri" pitchFamily="34" charset="0"/>
                <a:ea typeface="Calibri" pitchFamily="34" charset="-122"/>
                <a:cs typeface="Calibri" pitchFamily="34" charset="-120"/>
              </a:rPr>
              <a:t>Prompting</a:t>
            </a:r>
            <a:endParaRPr lang="en-US" sz="1700" dirty="0"/>
          </a:p>
        </p:txBody>
      </p:sp>
      <p:sp>
        <p:nvSpPr>
          <p:cNvPr id="8" name="Text 6"/>
          <p:cNvSpPr/>
          <p:nvPr/>
        </p:nvSpPr>
        <p:spPr>
          <a:xfrm>
            <a:off x="1600200" y="2441448"/>
            <a:ext cx="2514600" cy="274320"/>
          </a:xfrm>
          <a:prstGeom prst="rect">
            <a:avLst/>
          </a:prstGeom>
          <a:noFill/>
          <a:ln/>
        </p:spPr>
        <p:txBody>
          <a:bodyPr wrap="square" rtlCol="0" anchor="ctr"/>
          <a:lstStyle/>
          <a:p>
            <a:pPr marL="0" indent="0">
              <a:buNone/>
            </a:pPr>
            <a:r>
              <a:rPr lang="en-US" sz="950" b="1" kern="0" spc="100" dirty="0">
                <a:solidFill>
                  <a:srgbClr val="6D28D9"/>
                </a:solidFill>
                <a:latin typeface="Calibri" pitchFamily="34" charset="0"/>
                <a:ea typeface="Calibri" pitchFamily="34" charset="-122"/>
                <a:cs typeface="Calibri" pitchFamily="34" charset="-120"/>
              </a:rPr>
              <a:t>THE INSTRUCTION LAYER</a:t>
            </a:r>
            <a:endParaRPr lang="en-US" sz="950" dirty="0"/>
          </a:p>
        </p:txBody>
      </p:sp>
      <p:sp>
        <p:nvSpPr>
          <p:cNvPr id="9" name="Text 7"/>
          <p:cNvSpPr/>
          <p:nvPr/>
        </p:nvSpPr>
        <p:spPr>
          <a:xfrm>
            <a:off x="914400" y="2880360"/>
            <a:ext cx="3063240" cy="365760"/>
          </a:xfrm>
          <a:prstGeom prst="rect">
            <a:avLst/>
          </a:prstGeom>
          <a:noFill/>
          <a:ln/>
        </p:spPr>
        <p:txBody>
          <a:bodyPr wrap="square" rtlCol="0" anchor="ctr"/>
          <a:lstStyle/>
          <a:p>
            <a:pPr marL="0" indent="0">
              <a:buNone/>
            </a:pPr>
            <a:r>
              <a:rPr lang="en-US" sz="1300" i="1" dirty="0">
                <a:solidFill>
                  <a:srgbClr val="5A5F66"/>
                </a:solidFill>
                <a:latin typeface="Calibri" pitchFamily="34" charset="0"/>
                <a:ea typeface="Calibri" pitchFamily="34" charset="-122"/>
                <a:cs typeface="Calibri" pitchFamily="34" charset="-120"/>
              </a:rPr>
              <a:t>“How you talk to the model”</a:t>
            </a:r>
            <a:endParaRPr lang="en-US" sz="1300" dirty="0"/>
          </a:p>
        </p:txBody>
      </p:sp>
      <p:sp>
        <p:nvSpPr>
          <p:cNvPr id="10" name="Shape 8"/>
          <p:cNvSpPr/>
          <p:nvPr/>
        </p:nvSpPr>
        <p:spPr>
          <a:xfrm>
            <a:off x="914400" y="3383280"/>
            <a:ext cx="973836" cy="256032"/>
          </a:xfrm>
          <a:prstGeom prst="roundRect">
            <a:avLst>
              <a:gd name="adj" fmla="val 50000"/>
            </a:avLst>
          </a:prstGeom>
          <a:solidFill>
            <a:srgbClr val="ECEEF1"/>
          </a:solidFill>
          <a:ln/>
        </p:spPr>
        <p:txBody>
          <a:bodyPr/>
          <a:lstStyle/>
          <a:p>
            <a:endParaRPr lang="en-US"/>
          </a:p>
        </p:txBody>
      </p:sp>
      <p:sp>
        <p:nvSpPr>
          <p:cNvPr id="11" name="Text 9"/>
          <p:cNvSpPr/>
          <p:nvPr/>
        </p:nvSpPr>
        <p:spPr>
          <a:xfrm>
            <a:off x="914400" y="3383280"/>
            <a:ext cx="973836" cy="256032"/>
          </a:xfrm>
          <a:prstGeom prst="rect">
            <a:avLst/>
          </a:prstGeom>
          <a:noFill/>
          <a:ln/>
        </p:spPr>
        <p:txBody>
          <a:bodyPr wrap="square" rtlCol="0" anchor="ctr"/>
          <a:lstStyle/>
          <a:p>
            <a:pPr marL="0" indent="0" algn="ctr">
              <a:buNone/>
            </a:pPr>
            <a:r>
              <a:rPr lang="en-US" sz="950" b="1" dirty="0">
                <a:solidFill>
                  <a:srgbClr val="5A5F66"/>
                </a:solidFill>
                <a:latin typeface="Calibri" pitchFamily="34" charset="0"/>
                <a:ea typeface="Calibri" pitchFamily="34" charset="-122"/>
                <a:cs typeface="Calibri" pitchFamily="34" charset="-120"/>
              </a:rPr>
              <a:t>Zero-shot</a:t>
            </a:r>
            <a:endParaRPr lang="en-US" sz="950" dirty="0"/>
          </a:p>
        </p:txBody>
      </p:sp>
      <p:sp>
        <p:nvSpPr>
          <p:cNvPr id="12" name="Shape 10"/>
          <p:cNvSpPr/>
          <p:nvPr/>
        </p:nvSpPr>
        <p:spPr>
          <a:xfrm>
            <a:off x="1997964" y="3383280"/>
            <a:ext cx="896112" cy="256032"/>
          </a:xfrm>
          <a:prstGeom prst="roundRect">
            <a:avLst>
              <a:gd name="adj" fmla="val 50000"/>
            </a:avLst>
          </a:prstGeom>
          <a:solidFill>
            <a:srgbClr val="ECEEF1"/>
          </a:solidFill>
          <a:ln/>
        </p:spPr>
        <p:txBody>
          <a:bodyPr/>
          <a:lstStyle/>
          <a:p>
            <a:endParaRPr lang="en-US"/>
          </a:p>
        </p:txBody>
      </p:sp>
      <p:sp>
        <p:nvSpPr>
          <p:cNvPr id="13" name="Text 11"/>
          <p:cNvSpPr/>
          <p:nvPr/>
        </p:nvSpPr>
        <p:spPr>
          <a:xfrm>
            <a:off x="1997964" y="3383280"/>
            <a:ext cx="896112" cy="256032"/>
          </a:xfrm>
          <a:prstGeom prst="rect">
            <a:avLst/>
          </a:prstGeom>
          <a:noFill/>
          <a:ln/>
        </p:spPr>
        <p:txBody>
          <a:bodyPr wrap="square" rtlCol="0" anchor="ctr"/>
          <a:lstStyle/>
          <a:p>
            <a:pPr marL="0" indent="0" algn="ctr">
              <a:buNone/>
            </a:pPr>
            <a:r>
              <a:rPr lang="en-US" sz="950" b="1" dirty="0">
                <a:solidFill>
                  <a:srgbClr val="5A5F66"/>
                </a:solidFill>
                <a:latin typeface="Calibri" pitchFamily="34" charset="0"/>
                <a:ea typeface="Calibri" pitchFamily="34" charset="-122"/>
                <a:cs typeface="Calibri" pitchFamily="34" charset="-120"/>
              </a:rPr>
              <a:t>Few-shot</a:t>
            </a:r>
            <a:endParaRPr lang="en-US" sz="950" dirty="0"/>
          </a:p>
        </p:txBody>
      </p:sp>
      <p:sp>
        <p:nvSpPr>
          <p:cNvPr id="14" name="Shape 12"/>
          <p:cNvSpPr/>
          <p:nvPr/>
        </p:nvSpPr>
        <p:spPr>
          <a:xfrm>
            <a:off x="3003804" y="3383280"/>
            <a:ext cx="777240" cy="256032"/>
          </a:xfrm>
          <a:prstGeom prst="roundRect">
            <a:avLst>
              <a:gd name="adj" fmla="val 50000"/>
            </a:avLst>
          </a:prstGeom>
          <a:solidFill>
            <a:srgbClr val="ECEEF1"/>
          </a:solidFill>
          <a:ln/>
        </p:spPr>
        <p:txBody>
          <a:bodyPr/>
          <a:lstStyle/>
          <a:p>
            <a:endParaRPr lang="en-US"/>
          </a:p>
        </p:txBody>
      </p:sp>
      <p:sp>
        <p:nvSpPr>
          <p:cNvPr id="15" name="Text 13"/>
          <p:cNvSpPr/>
          <p:nvPr/>
        </p:nvSpPr>
        <p:spPr>
          <a:xfrm>
            <a:off x="3003804" y="3383280"/>
            <a:ext cx="777240" cy="256032"/>
          </a:xfrm>
          <a:prstGeom prst="rect">
            <a:avLst/>
          </a:prstGeom>
          <a:noFill/>
          <a:ln/>
        </p:spPr>
        <p:txBody>
          <a:bodyPr wrap="square" rtlCol="0" anchor="ctr"/>
          <a:lstStyle/>
          <a:p>
            <a:pPr marL="0" indent="0" algn="ctr">
              <a:buNone/>
            </a:pPr>
            <a:r>
              <a:rPr lang="en-US" sz="950" b="1" dirty="0">
                <a:solidFill>
                  <a:srgbClr val="5A5F66"/>
                </a:solidFill>
                <a:latin typeface="Calibri" pitchFamily="34" charset="0"/>
                <a:ea typeface="Calibri" pitchFamily="34" charset="-122"/>
                <a:cs typeface="Calibri" pitchFamily="34" charset="-120"/>
              </a:rPr>
              <a:t>CoT</a:t>
            </a:r>
            <a:endParaRPr lang="en-US" sz="950" dirty="0"/>
          </a:p>
        </p:txBody>
      </p:sp>
      <p:sp>
        <p:nvSpPr>
          <p:cNvPr id="16" name="Text 14"/>
          <p:cNvSpPr/>
          <p:nvPr/>
        </p:nvSpPr>
        <p:spPr>
          <a:xfrm>
            <a:off x="914400" y="3977640"/>
            <a:ext cx="3063240" cy="365760"/>
          </a:xfrm>
          <a:prstGeom prst="rect">
            <a:avLst/>
          </a:prstGeom>
          <a:noFill/>
          <a:ln/>
        </p:spPr>
        <p:txBody>
          <a:bodyPr wrap="square" rtlCol="0" anchor="ctr"/>
          <a:lstStyle/>
          <a:p>
            <a:pPr marL="0" indent="0">
              <a:buNone/>
            </a:pPr>
            <a:r>
              <a:rPr lang="en-US" sz="1050" b="1" dirty="0">
                <a:solidFill>
                  <a:srgbClr val="000000"/>
                </a:solidFill>
                <a:latin typeface="Calibri" pitchFamily="34" charset="0"/>
                <a:ea typeface="Calibri" pitchFamily="34" charset="-122"/>
                <a:cs typeface="Calibri" pitchFamily="34" charset="-120"/>
              </a:rPr>
              <a:t>Effort 🟢 LOW · Changes: none</a:t>
            </a:r>
            <a:endParaRPr lang="en-US" sz="1050" dirty="0"/>
          </a:p>
        </p:txBody>
      </p:sp>
      <p:sp>
        <p:nvSpPr>
          <p:cNvPr id="17" name="Shape 15"/>
          <p:cNvSpPr/>
          <p:nvPr/>
        </p:nvSpPr>
        <p:spPr>
          <a:xfrm>
            <a:off x="4507992" y="1783080"/>
            <a:ext cx="3611880" cy="2697480"/>
          </a:xfrm>
          <a:prstGeom prst="roundRect">
            <a:avLst>
              <a:gd name="adj" fmla="val 3051"/>
            </a:avLst>
          </a:prstGeom>
          <a:solidFill>
            <a:srgbClr val="F4F5F7"/>
          </a:solidFill>
          <a:ln w="12700">
            <a:solidFill>
              <a:srgbClr val="DADDE2"/>
            </a:solidFill>
            <a:prstDash val="solid"/>
          </a:ln>
        </p:spPr>
        <p:txBody>
          <a:bodyPr/>
          <a:lstStyle/>
          <a:p>
            <a:endParaRPr lang="en-US"/>
          </a:p>
        </p:txBody>
      </p:sp>
      <p:sp>
        <p:nvSpPr>
          <p:cNvPr id="18" name="Shape 16"/>
          <p:cNvSpPr/>
          <p:nvPr/>
        </p:nvSpPr>
        <p:spPr>
          <a:xfrm>
            <a:off x="4764024" y="2039112"/>
            <a:ext cx="566928" cy="566928"/>
          </a:xfrm>
          <a:prstGeom prst="ellipse">
            <a:avLst/>
          </a:prstGeom>
          <a:solidFill>
            <a:srgbClr val="FFFFFF"/>
          </a:solidFill>
          <a:ln w="22225">
            <a:solidFill>
              <a:srgbClr val="2563EB"/>
            </a:solidFill>
            <a:prstDash val="solid"/>
          </a:ln>
        </p:spPr>
        <p:txBody>
          <a:bodyPr/>
          <a:lstStyle/>
          <a:p>
            <a:endParaRPr lang="en-US"/>
          </a:p>
        </p:txBody>
      </p:sp>
      <p:sp>
        <p:nvSpPr>
          <p:cNvPr id="19" name="Text 17"/>
          <p:cNvSpPr/>
          <p:nvPr/>
        </p:nvSpPr>
        <p:spPr>
          <a:xfrm>
            <a:off x="4764024" y="2039112"/>
            <a:ext cx="566928" cy="566928"/>
          </a:xfrm>
          <a:prstGeom prst="rect">
            <a:avLst/>
          </a:prstGeom>
          <a:noFill/>
          <a:ln/>
        </p:spPr>
        <p:txBody>
          <a:bodyPr wrap="square" rtlCol="0" anchor="ctr"/>
          <a:lstStyle/>
          <a:p>
            <a:pPr marL="0" indent="0" algn="ctr">
              <a:buNone/>
            </a:pPr>
            <a:r>
              <a:rPr lang="en-US" sz="1364" dirty="0">
                <a:solidFill>
                  <a:srgbClr val="000000"/>
                </a:solidFill>
                <a:latin typeface="Calibri" pitchFamily="34" charset="0"/>
                <a:ea typeface="Calibri" pitchFamily="34" charset="-122"/>
                <a:cs typeface="Calibri" pitchFamily="34" charset="-120"/>
              </a:rPr>
              <a:t>📚</a:t>
            </a:r>
            <a:endParaRPr lang="en-US" sz="1364" dirty="0"/>
          </a:p>
        </p:txBody>
      </p:sp>
      <p:sp>
        <p:nvSpPr>
          <p:cNvPr id="20" name="Text 18"/>
          <p:cNvSpPr/>
          <p:nvPr/>
        </p:nvSpPr>
        <p:spPr>
          <a:xfrm>
            <a:off x="5468112" y="2057400"/>
            <a:ext cx="2514600" cy="365760"/>
          </a:xfrm>
          <a:prstGeom prst="rect">
            <a:avLst/>
          </a:prstGeom>
          <a:noFill/>
          <a:ln/>
        </p:spPr>
        <p:txBody>
          <a:bodyPr wrap="square" rtlCol="0" anchor="ctr"/>
          <a:lstStyle/>
          <a:p>
            <a:pPr marL="0" indent="0">
              <a:buNone/>
            </a:pPr>
            <a:r>
              <a:rPr lang="en-US" sz="1700" b="1" dirty="0">
                <a:solidFill>
                  <a:srgbClr val="1A1A1A"/>
                </a:solidFill>
                <a:latin typeface="Calibri" pitchFamily="34" charset="0"/>
                <a:ea typeface="Calibri" pitchFamily="34" charset="-122"/>
                <a:cs typeface="Calibri" pitchFamily="34" charset="-120"/>
              </a:rPr>
              <a:t>RAG</a:t>
            </a:r>
            <a:endParaRPr lang="en-US" sz="1700" dirty="0"/>
          </a:p>
        </p:txBody>
      </p:sp>
      <p:sp>
        <p:nvSpPr>
          <p:cNvPr id="21" name="Text 19"/>
          <p:cNvSpPr/>
          <p:nvPr/>
        </p:nvSpPr>
        <p:spPr>
          <a:xfrm>
            <a:off x="5468112" y="2441448"/>
            <a:ext cx="2514600" cy="274320"/>
          </a:xfrm>
          <a:prstGeom prst="rect">
            <a:avLst/>
          </a:prstGeom>
          <a:noFill/>
          <a:ln/>
        </p:spPr>
        <p:txBody>
          <a:bodyPr wrap="square" rtlCol="0" anchor="ctr"/>
          <a:lstStyle/>
          <a:p>
            <a:pPr marL="0" indent="0">
              <a:buNone/>
            </a:pPr>
            <a:r>
              <a:rPr lang="en-US" sz="950" b="1" kern="0" spc="100" dirty="0">
                <a:solidFill>
                  <a:srgbClr val="2563EB"/>
                </a:solidFill>
                <a:latin typeface="Calibri" pitchFamily="34" charset="0"/>
                <a:ea typeface="Calibri" pitchFamily="34" charset="-122"/>
                <a:cs typeface="Calibri" pitchFamily="34" charset="-120"/>
              </a:rPr>
              <a:t>THE KNOWLEDGE LAYER</a:t>
            </a:r>
            <a:endParaRPr lang="en-US" sz="950" dirty="0"/>
          </a:p>
        </p:txBody>
      </p:sp>
      <p:sp>
        <p:nvSpPr>
          <p:cNvPr id="22" name="Text 20"/>
          <p:cNvSpPr/>
          <p:nvPr/>
        </p:nvSpPr>
        <p:spPr>
          <a:xfrm>
            <a:off x="4782312" y="2880360"/>
            <a:ext cx="3063240" cy="365760"/>
          </a:xfrm>
          <a:prstGeom prst="rect">
            <a:avLst/>
          </a:prstGeom>
          <a:noFill/>
          <a:ln/>
        </p:spPr>
        <p:txBody>
          <a:bodyPr wrap="square" rtlCol="0" anchor="ctr"/>
          <a:lstStyle/>
          <a:p>
            <a:pPr marL="0" indent="0">
              <a:buNone/>
            </a:pPr>
            <a:r>
              <a:rPr lang="en-US" sz="1300" i="1" dirty="0">
                <a:solidFill>
                  <a:srgbClr val="5A5F66"/>
                </a:solidFill>
                <a:latin typeface="Calibri" pitchFamily="34" charset="0"/>
                <a:ea typeface="Calibri" pitchFamily="34" charset="-122"/>
                <a:cs typeface="Calibri" pitchFamily="34" charset="-120"/>
              </a:rPr>
              <a:t>“What you show the model”</a:t>
            </a:r>
            <a:endParaRPr lang="en-US" sz="1300" dirty="0"/>
          </a:p>
        </p:txBody>
      </p:sp>
      <p:sp>
        <p:nvSpPr>
          <p:cNvPr id="23" name="Shape 21"/>
          <p:cNvSpPr/>
          <p:nvPr/>
        </p:nvSpPr>
        <p:spPr>
          <a:xfrm>
            <a:off x="4782312" y="3383280"/>
            <a:ext cx="1051560" cy="256032"/>
          </a:xfrm>
          <a:prstGeom prst="roundRect">
            <a:avLst>
              <a:gd name="adj" fmla="val 50000"/>
            </a:avLst>
          </a:prstGeom>
          <a:solidFill>
            <a:srgbClr val="ECEEF1"/>
          </a:solidFill>
          <a:ln/>
        </p:spPr>
        <p:txBody>
          <a:bodyPr/>
          <a:lstStyle/>
          <a:p>
            <a:endParaRPr lang="en-US"/>
          </a:p>
        </p:txBody>
      </p:sp>
      <p:sp>
        <p:nvSpPr>
          <p:cNvPr id="24" name="Text 22"/>
          <p:cNvSpPr/>
          <p:nvPr/>
        </p:nvSpPr>
        <p:spPr>
          <a:xfrm>
            <a:off x="4782312" y="3383280"/>
            <a:ext cx="1051560" cy="256032"/>
          </a:xfrm>
          <a:prstGeom prst="rect">
            <a:avLst/>
          </a:prstGeom>
          <a:noFill/>
          <a:ln/>
        </p:spPr>
        <p:txBody>
          <a:bodyPr wrap="square" rtlCol="0" anchor="ctr"/>
          <a:lstStyle/>
          <a:p>
            <a:pPr marL="0" indent="0" algn="ctr">
              <a:buNone/>
            </a:pPr>
            <a:r>
              <a:rPr lang="en-US" sz="950" b="1" dirty="0">
                <a:solidFill>
                  <a:srgbClr val="5A5F66"/>
                </a:solidFill>
                <a:latin typeface="Calibri" pitchFamily="34" charset="0"/>
                <a:ea typeface="Calibri" pitchFamily="34" charset="-122"/>
                <a:cs typeface="Calibri" pitchFamily="34" charset="-120"/>
              </a:rPr>
              <a:t>Embeddings</a:t>
            </a:r>
            <a:endParaRPr lang="en-US" sz="950" dirty="0"/>
          </a:p>
        </p:txBody>
      </p:sp>
      <p:sp>
        <p:nvSpPr>
          <p:cNvPr id="25" name="Shape 23"/>
          <p:cNvSpPr/>
          <p:nvPr/>
        </p:nvSpPr>
        <p:spPr>
          <a:xfrm>
            <a:off x="5943600" y="3383280"/>
            <a:ext cx="1207008" cy="256032"/>
          </a:xfrm>
          <a:prstGeom prst="roundRect">
            <a:avLst>
              <a:gd name="adj" fmla="val 50000"/>
            </a:avLst>
          </a:prstGeom>
          <a:solidFill>
            <a:srgbClr val="ECEEF1"/>
          </a:solidFill>
          <a:ln/>
        </p:spPr>
        <p:txBody>
          <a:bodyPr/>
          <a:lstStyle/>
          <a:p>
            <a:endParaRPr lang="en-US"/>
          </a:p>
        </p:txBody>
      </p:sp>
      <p:sp>
        <p:nvSpPr>
          <p:cNvPr id="26" name="Text 24"/>
          <p:cNvSpPr/>
          <p:nvPr/>
        </p:nvSpPr>
        <p:spPr>
          <a:xfrm>
            <a:off x="5943600" y="3383280"/>
            <a:ext cx="1207008" cy="256032"/>
          </a:xfrm>
          <a:prstGeom prst="rect">
            <a:avLst/>
          </a:prstGeom>
          <a:noFill/>
          <a:ln/>
        </p:spPr>
        <p:txBody>
          <a:bodyPr wrap="square" rtlCol="0" anchor="ctr"/>
          <a:lstStyle/>
          <a:p>
            <a:pPr marL="0" indent="0" algn="ctr">
              <a:buNone/>
            </a:pPr>
            <a:r>
              <a:rPr lang="en-US" sz="950" b="1" dirty="0">
                <a:solidFill>
                  <a:srgbClr val="5A5F66"/>
                </a:solidFill>
                <a:latin typeface="Calibri" pitchFamily="34" charset="0"/>
                <a:ea typeface="Calibri" pitchFamily="34" charset="-122"/>
                <a:cs typeface="Calibri" pitchFamily="34" charset="-120"/>
              </a:rPr>
              <a:t>Vector Store</a:t>
            </a:r>
            <a:endParaRPr lang="en-US" sz="950" dirty="0"/>
          </a:p>
        </p:txBody>
      </p:sp>
      <p:sp>
        <p:nvSpPr>
          <p:cNvPr id="27" name="Shape 25"/>
          <p:cNvSpPr/>
          <p:nvPr/>
        </p:nvSpPr>
        <p:spPr>
          <a:xfrm>
            <a:off x="7260336" y="3383280"/>
            <a:ext cx="973836" cy="256032"/>
          </a:xfrm>
          <a:prstGeom prst="roundRect">
            <a:avLst>
              <a:gd name="adj" fmla="val 50000"/>
            </a:avLst>
          </a:prstGeom>
          <a:solidFill>
            <a:srgbClr val="ECEEF1"/>
          </a:solidFill>
          <a:ln/>
        </p:spPr>
        <p:txBody>
          <a:bodyPr/>
          <a:lstStyle/>
          <a:p>
            <a:endParaRPr lang="en-US"/>
          </a:p>
        </p:txBody>
      </p:sp>
      <p:sp>
        <p:nvSpPr>
          <p:cNvPr id="28" name="Text 26"/>
          <p:cNvSpPr/>
          <p:nvPr/>
        </p:nvSpPr>
        <p:spPr>
          <a:xfrm>
            <a:off x="7260336" y="3383280"/>
            <a:ext cx="973836" cy="256032"/>
          </a:xfrm>
          <a:prstGeom prst="rect">
            <a:avLst/>
          </a:prstGeom>
          <a:noFill/>
          <a:ln/>
        </p:spPr>
        <p:txBody>
          <a:bodyPr wrap="square" rtlCol="0" anchor="ctr"/>
          <a:lstStyle/>
          <a:p>
            <a:pPr marL="0" indent="0" algn="ctr">
              <a:buNone/>
            </a:pPr>
            <a:r>
              <a:rPr lang="en-US" sz="950" b="1" dirty="0">
                <a:solidFill>
                  <a:srgbClr val="5A5F66"/>
                </a:solidFill>
                <a:latin typeface="Calibri" pitchFamily="34" charset="0"/>
                <a:ea typeface="Calibri" pitchFamily="34" charset="-122"/>
                <a:cs typeface="Calibri" pitchFamily="34" charset="-120"/>
              </a:rPr>
              <a:t>Retrieval</a:t>
            </a:r>
            <a:endParaRPr lang="en-US" sz="950" dirty="0"/>
          </a:p>
        </p:txBody>
      </p:sp>
      <p:sp>
        <p:nvSpPr>
          <p:cNvPr id="29" name="Text 27"/>
          <p:cNvSpPr/>
          <p:nvPr/>
        </p:nvSpPr>
        <p:spPr>
          <a:xfrm>
            <a:off x="4782312" y="3977640"/>
            <a:ext cx="3063240" cy="365760"/>
          </a:xfrm>
          <a:prstGeom prst="rect">
            <a:avLst/>
          </a:prstGeom>
          <a:noFill/>
          <a:ln/>
        </p:spPr>
        <p:txBody>
          <a:bodyPr wrap="square" rtlCol="0" anchor="ctr"/>
          <a:lstStyle/>
          <a:p>
            <a:pPr marL="0" indent="0">
              <a:buNone/>
            </a:pPr>
            <a:r>
              <a:rPr lang="en-US" sz="1050" b="1" dirty="0">
                <a:solidFill>
                  <a:srgbClr val="000000"/>
                </a:solidFill>
                <a:latin typeface="Calibri" pitchFamily="34" charset="0"/>
                <a:ea typeface="Calibri" pitchFamily="34" charset="-122"/>
                <a:cs typeface="Calibri" pitchFamily="34" charset="-120"/>
              </a:rPr>
              <a:t>Effort 🟡 MED · Changes: knowledge</a:t>
            </a:r>
            <a:endParaRPr lang="en-US" sz="1050" dirty="0"/>
          </a:p>
        </p:txBody>
      </p:sp>
      <p:sp>
        <p:nvSpPr>
          <p:cNvPr id="30" name="Shape 28"/>
          <p:cNvSpPr/>
          <p:nvPr/>
        </p:nvSpPr>
        <p:spPr>
          <a:xfrm>
            <a:off x="8375904" y="1783080"/>
            <a:ext cx="3611880" cy="2697480"/>
          </a:xfrm>
          <a:prstGeom prst="roundRect">
            <a:avLst>
              <a:gd name="adj" fmla="val 3051"/>
            </a:avLst>
          </a:prstGeom>
          <a:solidFill>
            <a:srgbClr val="F4F5F7"/>
          </a:solidFill>
          <a:ln w="12700">
            <a:solidFill>
              <a:srgbClr val="DADDE2"/>
            </a:solidFill>
            <a:prstDash val="solid"/>
          </a:ln>
        </p:spPr>
        <p:txBody>
          <a:bodyPr/>
          <a:lstStyle/>
          <a:p>
            <a:endParaRPr lang="en-US"/>
          </a:p>
        </p:txBody>
      </p:sp>
      <p:sp>
        <p:nvSpPr>
          <p:cNvPr id="31" name="Shape 29"/>
          <p:cNvSpPr/>
          <p:nvPr/>
        </p:nvSpPr>
        <p:spPr>
          <a:xfrm>
            <a:off x="8631936" y="2039112"/>
            <a:ext cx="566928" cy="566928"/>
          </a:xfrm>
          <a:prstGeom prst="ellipse">
            <a:avLst/>
          </a:prstGeom>
          <a:solidFill>
            <a:srgbClr val="FFFFFF"/>
          </a:solidFill>
          <a:ln w="22225">
            <a:solidFill>
              <a:srgbClr val="E30613"/>
            </a:solidFill>
            <a:prstDash val="solid"/>
          </a:ln>
        </p:spPr>
        <p:txBody>
          <a:bodyPr/>
          <a:lstStyle/>
          <a:p>
            <a:endParaRPr lang="en-US"/>
          </a:p>
        </p:txBody>
      </p:sp>
      <p:sp>
        <p:nvSpPr>
          <p:cNvPr id="32" name="Text 30"/>
          <p:cNvSpPr/>
          <p:nvPr/>
        </p:nvSpPr>
        <p:spPr>
          <a:xfrm>
            <a:off x="8631936" y="2039112"/>
            <a:ext cx="566928" cy="566928"/>
          </a:xfrm>
          <a:prstGeom prst="rect">
            <a:avLst/>
          </a:prstGeom>
          <a:noFill/>
          <a:ln/>
        </p:spPr>
        <p:txBody>
          <a:bodyPr wrap="square" rtlCol="0" anchor="ctr"/>
          <a:lstStyle/>
          <a:p>
            <a:pPr marL="0" indent="0" algn="ctr">
              <a:buNone/>
            </a:pPr>
            <a:r>
              <a:rPr lang="en-US" sz="1364" dirty="0">
                <a:solidFill>
                  <a:srgbClr val="000000"/>
                </a:solidFill>
                <a:latin typeface="Calibri" pitchFamily="34" charset="0"/>
                <a:ea typeface="Calibri" pitchFamily="34" charset="-122"/>
                <a:cs typeface="Calibri" pitchFamily="34" charset="-120"/>
              </a:rPr>
              <a:t>🔧</a:t>
            </a:r>
            <a:endParaRPr lang="en-US" sz="1364" dirty="0"/>
          </a:p>
        </p:txBody>
      </p:sp>
      <p:sp>
        <p:nvSpPr>
          <p:cNvPr id="33" name="Text 31"/>
          <p:cNvSpPr/>
          <p:nvPr/>
        </p:nvSpPr>
        <p:spPr>
          <a:xfrm>
            <a:off x="9336024" y="2057400"/>
            <a:ext cx="2514600" cy="365760"/>
          </a:xfrm>
          <a:prstGeom prst="rect">
            <a:avLst/>
          </a:prstGeom>
          <a:noFill/>
          <a:ln/>
        </p:spPr>
        <p:txBody>
          <a:bodyPr wrap="square" rtlCol="0" anchor="ctr"/>
          <a:lstStyle/>
          <a:p>
            <a:pPr marL="0" indent="0">
              <a:buNone/>
            </a:pPr>
            <a:r>
              <a:rPr lang="en-US" sz="1700" b="1" dirty="0">
                <a:solidFill>
                  <a:srgbClr val="1A1A1A"/>
                </a:solidFill>
                <a:latin typeface="Calibri" pitchFamily="34" charset="0"/>
                <a:ea typeface="Calibri" pitchFamily="34" charset="-122"/>
                <a:cs typeface="Calibri" pitchFamily="34" charset="-120"/>
              </a:rPr>
              <a:t>Fine-Tuning</a:t>
            </a:r>
            <a:endParaRPr lang="en-US" sz="1700" dirty="0"/>
          </a:p>
        </p:txBody>
      </p:sp>
      <p:sp>
        <p:nvSpPr>
          <p:cNvPr id="34" name="Text 32"/>
          <p:cNvSpPr/>
          <p:nvPr/>
        </p:nvSpPr>
        <p:spPr>
          <a:xfrm>
            <a:off x="9336024" y="2441448"/>
            <a:ext cx="2514600" cy="274320"/>
          </a:xfrm>
          <a:prstGeom prst="rect">
            <a:avLst/>
          </a:prstGeom>
          <a:noFill/>
          <a:ln/>
        </p:spPr>
        <p:txBody>
          <a:bodyPr wrap="square" rtlCol="0" anchor="ctr"/>
          <a:lstStyle/>
          <a:p>
            <a:pPr marL="0" indent="0">
              <a:buNone/>
            </a:pPr>
            <a:r>
              <a:rPr lang="en-US" sz="950" b="1" kern="0" spc="100" dirty="0">
                <a:solidFill>
                  <a:srgbClr val="E30613"/>
                </a:solidFill>
                <a:latin typeface="Calibri" pitchFamily="34" charset="0"/>
                <a:ea typeface="Calibri" pitchFamily="34" charset="-122"/>
                <a:cs typeface="Calibri" pitchFamily="34" charset="-120"/>
              </a:rPr>
              <a:t>THE BEHAVIOR LAYER</a:t>
            </a:r>
            <a:endParaRPr lang="en-US" sz="950" dirty="0"/>
          </a:p>
        </p:txBody>
      </p:sp>
      <p:sp>
        <p:nvSpPr>
          <p:cNvPr id="35" name="Text 33"/>
          <p:cNvSpPr/>
          <p:nvPr/>
        </p:nvSpPr>
        <p:spPr>
          <a:xfrm>
            <a:off x="8650224" y="2880360"/>
            <a:ext cx="3063240" cy="365760"/>
          </a:xfrm>
          <a:prstGeom prst="rect">
            <a:avLst/>
          </a:prstGeom>
          <a:noFill/>
          <a:ln/>
        </p:spPr>
        <p:txBody>
          <a:bodyPr wrap="square" rtlCol="0" anchor="ctr"/>
          <a:lstStyle/>
          <a:p>
            <a:pPr marL="0" indent="0">
              <a:buNone/>
            </a:pPr>
            <a:r>
              <a:rPr lang="en-US" sz="1300" i="1" dirty="0">
                <a:solidFill>
                  <a:srgbClr val="5A5F66"/>
                </a:solidFill>
                <a:latin typeface="Calibri" pitchFamily="34" charset="0"/>
                <a:ea typeface="Calibri" pitchFamily="34" charset="-122"/>
                <a:cs typeface="Calibri" pitchFamily="34" charset="-120"/>
              </a:rPr>
              <a:t>“How you train the model”</a:t>
            </a:r>
            <a:endParaRPr lang="en-US" sz="1300" dirty="0"/>
          </a:p>
        </p:txBody>
      </p:sp>
      <p:sp>
        <p:nvSpPr>
          <p:cNvPr id="36" name="Shape 34"/>
          <p:cNvSpPr/>
          <p:nvPr/>
        </p:nvSpPr>
        <p:spPr>
          <a:xfrm>
            <a:off x="8650224" y="3383280"/>
            <a:ext cx="777240" cy="256032"/>
          </a:xfrm>
          <a:prstGeom prst="roundRect">
            <a:avLst>
              <a:gd name="adj" fmla="val 50000"/>
            </a:avLst>
          </a:prstGeom>
          <a:solidFill>
            <a:srgbClr val="ECEEF1"/>
          </a:solidFill>
          <a:ln/>
        </p:spPr>
        <p:txBody>
          <a:bodyPr/>
          <a:lstStyle/>
          <a:p>
            <a:endParaRPr lang="en-US"/>
          </a:p>
        </p:txBody>
      </p:sp>
      <p:sp>
        <p:nvSpPr>
          <p:cNvPr id="37" name="Text 35"/>
          <p:cNvSpPr/>
          <p:nvPr/>
        </p:nvSpPr>
        <p:spPr>
          <a:xfrm>
            <a:off x="8650224" y="3383280"/>
            <a:ext cx="777240" cy="256032"/>
          </a:xfrm>
          <a:prstGeom prst="rect">
            <a:avLst/>
          </a:prstGeom>
          <a:noFill/>
          <a:ln/>
        </p:spPr>
        <p:txBody>
          <a:bodyPr wrap="square" rtlCol="0" anchor="ctr"/>
          <a:lstStyle/>
          <a:p>
            <a:pPr marL="0" indent="0" algn="ctr">
              <a:buNone/>
            </a:pPr>
            <a:r>
              <a:rPr lang="en-US" sz="950" b="1" dirty="0">
                <a:solidFill>
                  <a:srgbClr val="5A5F66"/>
                </a:solidFill>
                <a:latin typeface="Calibri" pitchFamily="34" charset="0"/>
                <a:ea typeface="Calibri" pitchFamily="34" charset="-122"/>
                <a:cs typeface="Calibri" pitchFamily="34" charset="-120"/>
              </a:rPr>
              <a:t>LoRA</a:t>
            </a:r>
            <a:endParaRPr lang="en-US" sz="950" dirty="0"/>
          </a:p>
        </p:txBody>
      </p:sp>
      <p:sp>
        <p:nvSpPr>
          <p:cNvPr id="38" name="Shape 36"/>
          <p:cNvSpPr/>
          <p:nvPr/>
        </p:nvSpPr>
        <p:spPr>
          <a:xfrm>
            <a:off x="9537192" y="3383280"/>
            <a:ext cx="777240" cy="256032"/>
          </a:xfrm>
          <a:prstGeom prst="roundRect">
            <a:avLst>
              <a:gd name="adj" fmla="val 50000"/>
            </a:avLst>
          </a:prstGeom>
          <a:solidFill>
            <a:srgbClr val="ECEEF1"/>
          </a:solidFill>
          <a:ln/>
        </p:spPr>
        <p:txBody>
          <a:bodyPr/>
          <a:lstStyle/>
          <a:p>
            <a:endParaRPr lang="en-US"/>
          </a:p>
        </p:txBody>
      </p:sp>
      <p:sp>
        <p:nvSpPr>
          <p:cNvPr id="39" name="Text 37"/>
          <p:cNvSpPr/>
          <p:nvPr/>
        </p:nvSpPr>
        <p:spPr>
          <a:xfrm>
            <a:off x="9537192" y="3383280"/>
            <a:ext cx="777240" cy="256032"/>
          </a:xfrm>
          <a:prstGeom prst="rect">
            <a:avLst/>
          </a:prstGeom>
          <a:noFill/>
          <a:ln/>
        </p:spPr>
        <p:txBody>
          <a:bodyPr wrap="square" rtlCol="0" anchor="ctr"/>
          <a:lstStyle/>
          <a:p>
            <a:pPr marL="0" indent="0" algn="ctr">
              <a:buNone/>
            </a:pPr>
            <a:r>
              <a:rPr lang="en-US" sz="950" b="1" dirty="0">
                <a:solidFill>
                  <a:srgbClr val="5A5F66"/>
                </a:solidFill>
                <a:latin typeface="Calibri" pitchFamily="34" charset="0"/>
                <a:ea typeface="Calibri" pitchFamily="34" charset="-122"/>
                <a:cs typeface="Calibri" pitchFamily="34" charset="-120"/>
              </a:rPr>
              <a:t>QLoRA</a:t>
            </a:r>
            <a:endParaRPr lang="en-US" sz="950" dirty="0"/>
          </a:p>
        </p:txBody>
      </p:sp>
      <p:sp>
        <p:nvSpPr>
          <p:cNvPr id="40" name="Shape 38"/>
          <p:cNvSpPr/>
          <p:nvPr/>
        </p:nvSpPr>
        <p:spPr>
          <a:xfrm>
            <a:off x="10424160" y="3383280"/>
            <a:ext cx="777240" cy="256032"/>
          </a:xfrm>
          <a:prstGeom prst="roundRect">
            <a:avLst>
              <a:gd name="adj" fmla="val 50000"/>
            </a:avLst>
          </a:prstGeom>
          <a:solidFill>
            <a:srgbClr val="ECEEF1"/>
          </a:solidFill>
          <a:ln/>
        </p:spPr>
        <p:txBody>
          <a:bodyPr/>
          <a:lstStyle/>
          <a:p>
            <a:endParaRPr lang="en-US"/>
          </a:p>
        </p:txBody>
      </p:sp>
      <p:sp>
        <p:nvSpPr>
          <p:cNvPr id="41" name="Text 39"/>
          <p:cNvSpPr/>
          <p:nvPr/>
        </p:nvSpPr>
        <p:spPr>
          <a:xfrm>
            <a:off x="10424160" y="3383280"/>
            <a:ext cx="777240" cy="256032"/>
          </a:xfrm>
          <a:prstGeom prst="rect">
            <a:avLst/>
          </a:prstGeom>
          <a:noFill/>
          <a:ln/>
        </p:spPr>
        <p:txBody>
          <a:bodyPr wrap="square" rtlCol="0" anchor="ctr"/>
          <a:lstStyle/>
          <a:p>
            <a:pPr marL="0" indent="0" algn="ctr">
              <a:buNone/>
            </a:pPr>
            <a:r>
              <a:rPr lang="en-US" sz="950" b="1" dirty="0">
                <a:solidFill>
                  <a:srgbClr val="5A5F66"/>
                </a:solidFill>
                <a:latin typeface="Calibri" pitchFamily="34" charset="0"/>
                <a:ea typeface="Calibri" pitchFamily="34" charset="-122"/>
                <a:cs typeface="Calibri" pitchFamily="34" charset="-120"/>
              </a:rPr>
              <a:t>SFT</a:t>
            </a:r>
            <a:endParaRPr lang="en-US" sz="950" dirty="0"/>
          </a:p>
        </p:txBody>
      </p:sp>
      <p:sp>
        <p:nvSpPr>
          <p:cNvPr id="42" name="Text 40"/>
          <p:cNvSpPr/>
          <p:nvPr/>
        </p:nvSpPr>
        <p:spPr>
          <a:xfrm>
            <a:off x="8650224" y="3977640"/>
            <a:ext cx="3063240" cy="365760"/>
          </a:xfrm>
          <a:prstGeom prst="rect">
            <a:avLst/>
          </a:prstGeom>
          <a:noFill/>
          <a:ln/>
        </p:spPr>
        <p:txBody>
          <a:bodyPr wrap="square" rtlCol="0" anchor="ctr"/>
          <a:lstStyle/>
          <a:p>
            <a:pPr marL="0" indent="0">
              <a:buNone/>
            </a:pPr>
            <a:r>
              <a:rPr lang="en-US" sz="1050" b="1" dirty="0">
                <a:solidFill>
                  <a:srgbClr val="000000"/>
                </a:solidFill>
                <a:latin typeface="Calibri" pitchFamily="34" charset="0"/>
                <a:ea typeface="Calibri" pitchFamily="34" charset="-122"/>
                <a:cs typeface="Calibri" pitchFamily="34" charset="-120"/>
              </a:rPr>
              <a:t>Effort 🔴 HIGH · Changes: weights</a:t>
            </a:r>
            <a:endParaRPr lang="en-US" sz="1050" dirty="0"/>
          </a:p>
        </p:txBody>
      </p:sp>
      <p:sp>
        <p:nvSpPr>
          <p:cNvPr id="43" name="Text 41"/>
          <p:cNvSpPr/>
          <p:nvPr/>
        </p:nvSpPr>
        <p:spPr>
          <a:xfrm>
            <a:off x="640080" y="4663440"/>
            <a:ext cx="5486400" cy="365760"/>
          </a:xfrm>
          <a:prstGeom prst="rect">
            <a:avLst/>
          </a:prstGeom>
          <a:noFill/>
          <a:ln/>
        </p:spPr>
        <p:txBody>
          <a:bodyPr wrap="square"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  The Chef Analogy</a:t>
            </a:r>
            <a:endParaRPr lang="en-US" sz="1500" dirty="0"/>
          </a:p>
        </p:txBody>
      </p:sp>
      <p:sp>
        <p:nvSpPr>
          <p:cNvPr id="44" name="Shape 42"/>
          <p:cNvSpPr/>
          <p:nvPr/>
        </p:nvSpPr>
        <p:spPr>
          <a:xfrm>
            <a:off x="640080" y="5074920"/>
            <a:ext cx="3611880" cy="1234440"/>
          </a:xfrm>
          <a:prstGeom prst="roundRect">
            <a:avLst>
              <a:gd name="adj" fmla="val 6667"/>
            </a:avLst>
          </a:prstGeom>
          <a:solidFill>
            <a:srgbClr val="FFFFFF"/>
          </a:solidFill>
          <a:ln w="12700">
            <a:solidFill>
              <a:srgbClr val="DADDE2"/>
            </a:solidFill>
            <a:prstDash val="solid"/>
          </a:ln>
        </p:spPr>
        <p:txBody>
          <a:bodyPr/>
          <a:lstStyle/>
          <a:p>
            <a:endParaRPr lang="en-US"/>
          </a:p>
        </p:txBody>
      </p:sp>
      <p:sp>
        <p:nvSpPr>
          <p:cNvPr id="45" name="Text 43"/>
          <p:cNvSpPr/>
          <p:nvPr/>
        </p:nvSpPr>
        <p:spPr>
          <a:xfrm>
            <a:off x="868680" y="5184648"/>
            <a:ext cx="3154680" cy="320040"/>
          </a:xfrm>
          <a:prstGeom prst="rect">
            <a:avLst/>
          </a:prstGeom>
          <a:noFill/>
          <a:ln/>
        </p:spPr>
        <p:txBody>
          <a:bodyPr wrap="square" rtlCol="0" anchor="ctr"/>
          <a:lstStyle/>
          <a:p>
            <a:pPr marL="0" indent="0">
              <a:buNone/>
            </a:pPr>
            <a:r>
              <a:rPr lang="en-US" sz="1250" b="1" dirty="0">
                <a:solidFill>
                  <a:srgbClr val="6D28D9"/>
                </a:solidFill>
                <a:latin typeface="Calibri" pitchFamily="34" charset="0"/>
                <a:ea typeface="Calibri" pitchFamily="34" charset="-122"/>
                <a:cs typeface="Calibri" pitchFamily="34" charset="-120"/>
              </a:rPr>
              <a:t>Prompting</a:t>
            </a:r>
            <a:endParaRPr lang="en-US" sz="1250" dirty="0"/>
          </a:p>
        </p:txBody>
      </p:sp>
      <p:sp>
        <p:nvSpPr>
          <p:cNvPr id="46" name="Text 44"/>
          <p:cNvSpPr/>
          <p:nvPr/>
        </p:nvSpPr>
        <p:spPr>
          <a:xfrm>
            <a:off x="868680" y="5532120"/>
            <a:ext cx="3154680" cy="685800"/>
          </a:xfrm>
          <a:prstGeom prst="rect">
            <a:avLst/>
          </a:prstGeom>
          <a:noFill/>
          <a:ln/>
        </p:spPr>
        <p:txBody>
          <a:bodyPr wrap="square" rtlCol="0" anchor="ctr"/>
          <a:lstStyle/>
          <a:p>
            <a:pPr marL="0" indent="0">
              <a:buNone/>
            </a:pPr>
            <a:r>
              <a:rPr lang="en-US" sz="1100" dirty="0">
                <a:solidFill>
                  <a:srgbClr val="5A5F66"/>
                </a:solidFill>
                <a:latin typeface="Calibri" pitchFamily="34" charset="0"/>
                <a:ea typeface="Calibri" pitchFamily="34" charset="-122"/>
                <a:cs typeface="Calibri" pitchFamily="34" charset="-120"/>
              </a:rPr>
              <a:t>Give the chef verbal instructions — “make it spicy, use bullets.” Same chef, same knowledge.</a:t>
            </a:r>
            <a:endParaRPr lang="en-US" sz="1100" dirty="0"/>
          </a:p>
        </p:txBody>
      </p:sp>
      <p:sp>
        <p:nvSpPr>
          <p:cNvPr id="47" name="Shape 45"/>
          <p:cNvSpPr/>
          <p:nvPr/>
        </p:nvSpPr>
        <p:spPr>
          <a:xfrm>
            <a:off x="4507992" y="5074920"/>
            <a:ext cx="3611880" cy="1234440"/>
          </a:xfrm>
          <a:prstGeom prst="roundRect">
            <a:avLst>
              <a:gd name="adj" fmla="val 6667"/>
            </a:avLst>
          </a:prstGeom>
          <a:solidFill>
            <a:srgbClr val="FFFFFF"/>
          </a:solidFill>
          <a:ln w="12700">
            <a:solidFill>
              <a:srgbClr val="DADDE2"/>
            </a:solidFill>
            <a:prstDash val="solid"/>
          </a:ln>
        </p:spPr>
        <p:txBody>
          <a:bodyPr/>
          <a:lstStyle/>
          <a:p>
            <a:endParaRPr lang="en-US"/>
          </a:p>
        </p:txBody>
      </p:sp>
      <p:sp>
        <p:nvSpPr>
          <p:cNvPr id="48" name="Text 46"/>
          <p:cNvSpPr/>
          <p:nvPr/>
        </p:nvSpPr>
        <p:spPr>
          <a:xfrm>
            <a:off x="4736592" y="5184648"/>
            <a:ext cx="3154680" cy="320040"/>
          </a:xfrm>
          <a:prstGeom prst="rect">
            <a:avLst/>
          </a:prstGeom>
          <a:noFill/>
          <a:ln/>
        </p:spPr>
        <p:txBody>
          <a:bodyPr wrap="square" rtlCol="0" anchor="ctr"/>
          <a:lstStyle/>
          <a:p>
            <a:pPr marL="0" indent="0">
              <a:buNone/>
            </a:pPr>
            <a:r>
              <a:rPr lang="en-US" sz="1250" b="1" dirty="0">
                <a:solidFill>
                  <a:srgbClr val="2563EB"/>
                </a:solidFill>
                <a:latin typeface="Calibri" pitchFamily="34" charset="0"/>
                <a:ea typeface="Calibri" pitchFamily="34" charset="-122"/>
                <a:cs typeface="Calibri" pitchFamily="34" charset="-120"/>
              </a:rPr>
              <a:t>RAG</a:t>
            </a:r>
            <a:endParaRPr lang="en-US" sz="1250" dirty="0"/>
          </a:p>
        </p:txBody>
      </p:sp>
      <p:sp>
        <p:nvSpPr>
          <p:cNvPr id="49" name="Text 47"/>
          <p:cNvSpPr/>
          <p:nvPr/>
        </p:nvSpPr>
        <p:spPr>
          <a:xfrm>
            <a:off x="4736592" y="5532120"/>
            <a:ext cx="3154680" cy="685800"/>
          </a:xfrm>
          <a:prstGeom prst="rect">
            <a:avLst/>
          </a:prstGeom>
          <a:noFill/>
          <a:ln/>
        </p:spPr>
        <p:txBody>
          <a:bodyPr wrap="square" rtlCol="0" anchor="ctr"/>
          <a:lstStyle/>
          <a:p>
            <a:pPr marL="0" indent="0">
              <a:buNone/>
            </a:pPr>
            <a:r>
              <a:rPr lang="en-US" sz="1100" dirty="0">
                <a:solidFill>
                  <a:srgbClr val="5A5F66"/>
                </a:solidFill>
                <a:latin typeface="Calibri" pitchFamily="34" charset="0"/>
                <a:ea typeface="Calibri" pitchFamily="34" charset="-122"/>
                <a:cs typeface="Calibri" pitchFamily="34" charset="-120"/>
              </a:rPr>
              <a:t>Hand the chef a recipe book — “here's our data, use it.” New info at cook-time.</a:t>
            </a:r>
            <a:endParaRPr lang="en-US" sz="1100" dirty="0"/>
          </a:p>
        </p:txBody>
      </p:sp>
      <p:sp>
        <p:nvSpPr>
          <p:cNvPr id="50" name="Shape 48"/>
          <p:cNvSpPr/>
          <p:nvPr/>
        </p:nvSpPr>
        <p:spPr>
          <a:xfrm>
            <a:off x="8375904" y="5074920"/>
            <a:ext cx="3611880" cy="1234440"/>
          </a:xfrm>
          <a:prstGeom prst="roundRect">
            <a:avLst>
              <a:gd name="adj" fmla="val 6667"/>
            </a:avLst>
          </a:prstGeom>
          <a:solidFill>
            <a:srgbClr val="FFFFFF"/>
          </a:solidFill>
          <a:ln w="12700">
            <a:solidFill>
              <a:srgbClr val="DADDE2"/>
            </a:solidFill>
            <a:prstDash val="solid"/>
          </a:ln>
        </p:spPr>
        <p:txBody>
          <a:bodyPr/>
          <a:lstStyle/>
          <a:p>
            <a:endParaRPr lang="en-US"/>
          </a:p>
        </p:txBody>
      </p:sp>
      <p:sp>
        <p:nvSpPr>
          <p:cNvPr id="51" name="Text 49"/>
          <p:cNvSpPr/>
          <p:nvPr/>
        </p:nvSpPr>
        <p:spPr>
          <a:xfrm>
            <a:off x="8604504" y="5184648"/>
            <a:ext cx="3154680" cy="320040"/>
          </a:xfrm>
          <a:prstGeom prst="rect">
            <a:avLst/>
          </a:prstGeom>
          <a:noFill/>
          <a:ln/>
        </p:spPr>
        <p:txBody>
          <a:bodyPr wrap="square" rtlCol="0" anchor="ctr"/>
          <a:lstStyle/>
          <a:p>
            <a:pPr marL="0" indent="0">
              <a:buNone/>
            </a:pPr>
            <a:r>
              <a:rPr lang="en-US" sz="1250" b="1" dirty="0">
                <a:solidFill>
                  <a:srgbClr val="E30613"/>
                </a:solidFill>
                <a:latin typeface="Calibri" pitchFamily="34" charset="0"/>
                <a:ea typeface="Calibri" pitchFamily="34" charset="-122"/>
                <a:cs typeface="Calibri" pitchFamily="34" charset="-120"/>
              </a:rPr>
              <a:t>Fine-Tuning</a:t>
            </a:r>
            <a:endParaRPr lang="en-US" sz="1250" dirty="0"/>
          </a:p>
        </p:txBody>
      </p:sp>
      <p:sp>
        <p:nvSpPr>
          <p:cNvPr id="52" name="Text 50"/>
          <p:cNvSpPr/>
          <p:nvPr/>
        </p:nvSpPr>
        <p:spPr>
          <a:xfrm>
            <a:off x="8604504" y="5532120"/>
            <a:ext cx="3154680" cy="685800"/>
          </a:xfrm>
          <a:prstGeom prst="rect">
            <a:avLst/>
          </a:prstGeom>
          <a:noFill/>
          <a:ln/>
        </p:spPr>
        <p:txBody>
          <a:bodyPr wrap="square" rtlCol="0" anchor="ctr"/>
          <a:lstStyle/>
          <a:p>
            <a:pPr marL="0" indent="0">
              <a:buNone/>
            </a:pPr>
            <a:r>
              <a:rPr lang="en-US" sz="1100" dirty="0">
                <a:solidFill>
                  <a:srgbClr val="5A5F66"/>
                </a:solidFill>
                <a:latin typeface="Calibri" pitchFamily="34" charset="0"/>
                <a:ea typeface="Calibri" pitchFamily="34" charset="-122"/>
                <a:cs typeface="Calibri" pitchFamily="34" charset="-120"/>
              </a:rPr>
              <a:t>Send the chef to culinary school. The chef itself changes.</a:t>
            </a:r>
            <a:endParaRPr lang="en-US" sz="1100" dirty="0"/>
          </a:p>
        </p:txBody>
      </p:sp>
      <p:sp>
        <p:nvSpPr>
          <p:cNvPr id="53" name="Text 51"/>
          <p:cNvSpPr/>
          <p:nvPr/>
        </p:nvSpPr>
        <p:spPr>
          <a:xfrm>
            <a:off x="10728655" y="6400800"/>
            <a:ext cx="1097280" cy="274320"/>
          </a:xfrm>
          <a:prstGeom prst="rect">
            <a:avLst/>
          </a:prstGeom>
          <a:noFill/>
          <a:ln/>
        </p:spPr>
        <p:txBody>
          <a:bodyPr wrap="square" rtlCol="0" anchor="ctr"/>
          <a:lstStyle/>
          <a:p>
            <a:pPr marL="0" indent="0" algn="r">
              <a:buNone/>
            </a:pPr>
            <a:r>
              <a:rPr lang="en-US" sz="1000" dirty="0">
                <a:solidFill>
                  <a:srgbClr val="8A9099"/>
                </a:solidFill>
                <a:latin typeface="Courier New" pitchFamily="34" charset="0"/>
                <a:ea typeface="Courier New" pitchFamily="34" charset="-122"/>
                <a:cs typeface="Courier New" pitchFamily="34" charset="-120"/>
              </a:rPr>
              <a:t>04 / 16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rtlCol="0" anchor="ctr"/>
          <a:lstStyle/>
          <a:p>
            <a:pPr marL="0" indent="0" algn="l">
              <a:buNone/>
            </a:pPr>
            <a:r>
              <a:rPr lang="en-US" sz="1200" b="1" kern="0" spc="300" dirty="0">
                <a:solidFill>
                  <a:srgbClr val="6D28D9"/>
                </a:solidFill>
                <a:latin typeface="Calibri" pitchFamily="34" charset="0"/>
                <a:ea typeface="Calibri" pitchFamily="34" charset="-122"/>
                <a:cs typeface="Calibri" pitchFamily="34" charset="-120"/>
              </a:rPr>
              <a:t>LAYER 1 · PROMPTING</a:t>
            </a:r>
            <a:endParaRPr lang="en-US" sz="1200" dirty="0"/>
          </a:p>
        </p:txBody>
      </p:sp>
      <p:sp>
        <p:nvSpPr>
          <p:cNvPr id="3" name="Text 1"/>
          <p:cNvSpPr/>
          <p:nvPr/>
        </p:nvSpPr>
        <p:spPr>
          <a:xfrm>
            <a:off x="640080" y="777240"/>
            <a:ext cx="10911535" cy="822960"/>
          </a:xfrm>
          <a:prstGeom prst="rect">
            <a:avLst/>
          </a:prstGeom>
          <a:noFill/>
          <a:ln/>
        </p:spPr>
        <p:txBody>
          <a:bodyPr wrap="square" rtlCol="0" anchor="ctr"/>
          <a:lstStyle/>
          <a:p>
            <a:pPr marL="0" indent="0" algn="l">
              <a:buNone/>
            </a:pPr>
            <a:r>
              <a:rPr lang="en-US" sz="3200" b="1" dirty="0">
                <a:solidFill>
                  <a:srgbClr val="1A1A1A"/>
                </a:solidFill>
                <a:latin typeface="Century Schoolbook" pitchFamily="34" charset="0"/>
                <a:ea typeface="Century Schoolbook" pitchFamily="34" charset="-122"/>
                <a:cs typeface="Century Schoolbook" pitchFamily="34" charset="-120"/>
              </a:rPr>
              <a:t>🎯 Prompting — the Instruction Layer</a:t>
            </a:r>
            <a:endParaRPr lang="en-US" sz="3200" dirty="0"/>
          </a:p>
        </p:txBody>
      </p:sp>
      <p:sp>
        <p:nvSpPr>
          <p:cNvPr id="4" name="Text 2"/>
          <p:cNvSpPr/>
          <p:nvPr/>
        </p:nvSpPr>
        <p:spPr>
          <a:xfrm>
            <a:off x="640080" y="1554480"/>
            <a:ext cx="10515600" cy="320040"/>
          </a:xfrm>
          <a:prstGeom prst="rect">
            <a:avLst/>
          </a:prstGeom>
          <a:noFill/>
          <a:ln/>
        </p:spPr>
        <p:txBody>
          <a:bodyPr wrap="square" rtlCol="0" anchor="ctr"/>
          <a:lstStyle/>
          <a:p>
            <a:pPr marL="0" indent="0">
              <a:buNone/>
            </a:pPr>
            <a:r>
              <a:rPr lang="en-US" sz="1200" i="1" dirty="0">
                <a:solidFill>
                  <a:srgbClr val="8A9099"/>
                </a:solidFill>
                <a:latin typeface="Calibri" pitchFamily="34" charset="0"/>
                <a:ea typeface="Calibri" pitchFamily="34" charset="-122"/>
                <a:cs typeface="Calibri" pitchFamily="34" charset="-120"/>
              </a:rPr>
              <a:t>“Prompt engineering is the art of communicating with a generative AI model.”  — Google Whitepaper</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2011680"/>
          <a:ext cx="5486400" cy="2852928"/>
        </p:xfrm>
        <a:graphic>
          <a:graphicData uri="http://schemas.openxmlformats.org/drawingml/2006/table">
            <a:tbl>
              <a:tblPr/>
              <a:tblGrid>
                <a:gridCol w="14630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475488">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Technique</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E30613"/>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When to use</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E30613"/>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Example</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E30613"/>
                    </a:solidFill>
                  </a:tcPr>
                </a:tc>
                <a:extLst>
                  <a:ext uri="{0D108BD9-81ED-4DB2-BD59-A6C34878D82A}">
                    <a16:rowId xmlns:a16="http://schemas.microsoft.com/office/drawing/2014/main" val="10000"/>
                  </a:ext>
                </a:extLst>
              </a:tr>
              <a:tr h="475488">
                <a:tc>
                  <a:txBody>
                    <a:bodyPr/>
                    <a:lstStyle/>
                    <a:p>
                      <a:pPr marL="0" indent="0" algn="l">
                        <a:buNone/>
                      </a:pPr>
                      <a:r>
                        <a:rPr lang="en-US" sz="1050" b="1" dirty="0">
                          <a:solidFill>
                            <a:srgbClr val="1A1A1A"/>
                          </a:solidFill>
                          <a:latin typeface="Calibri" pitchFamily="34" charset="0"/>
                          <a:ea typeface="Calibri" pitchFamily="34" charset="-122"/>
                          <a:cs typeface="Calibri" pitchFamily="34" charset="-120"/>
                        </a:rPr>
                        <a:t>Zero-shot</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Simple factual Q&amp;A</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“Classify this email as spam or not”</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050" b="1" dirty="0">
                          <a:solidFill>
                            <a:srgbClr val="1A1A1A"/>
                          </a:solidFill>
                          <a:latin typeface="Calibri" pitchFamily="34" charset="0"/>
                          <a:ea typeface="Calibri" pitchFamily="34" charset="-122"/>
                          <a:cs typeface="Calibri" pitchFamily="34" charset="-120"/>
                        </a:rPr>
                        <a:t>Few-shot</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Pattern-following tasks</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Show 3 classified emails, then ask</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extLst>
                  <a:ext uri="{0D108BD9-81ED-4DB2-BD59-A6C34878D82A}">
                    <a16:rowId xmlns:a16="http://schemas.microsoft.com/office/drawing/2014/main" val="10002"/>
                  </a:ext>
                </a:extLst>
              </a:tr>
              <a:tr h="475488">
                <a:tc>
                  <a:txBody>
                    <a:bodyPr/>
                    <a:lstStyle/>
                    <a:p>
                      <a:pPr marL="0" indent="0" algn="l">
                        <a:buNone/>
                      </a:pPr>
                      <a:r>
                        <a:rPr lang="en-US" sz="1050" b="1" dirty="0">
                          <a:solidFill>
                            <a:srgbClr val="1A1A1A"/>
                          </a:solidFill>
                          <a:latin typeface="Calibri" pitchFamily="34" charset="0"/>
                          <a:ea typeface="Calibri" pitchFamily="34" charset="-122"/>
                          <a:cs typeface="Calibri" pitchFamily="34" charset="-120"/>
                        </a:rPr>
                        <a:t>Chain-of-Thought</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Math, logic, multi-step</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“Think step by step before answering”</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050" b="1" dirty="0">
                          <a:solidFill>
                            <a:srgbClr val="1A1A1A"/>
                          </a:solidFill>
                          <a:latin typeface="Calibri" pitchFamily="34" charset="0"/>
                          <a:ea typeface="Calibri" pitchFamily="34" charset="-122"/>
                          <a:cs typeface="Calibri" pitchFamily="34" charset="-120"/>
                        </a:rPr>
                        <a:t>System Prompt</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Consistent behavior</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“You are a JLL property analyst…”</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extLst>
                  <a:ext uri="{0D108BD9-81ED-4DB2-BD59-A6C34878D82A}">
                    <a16:rowId xmlns:a16="http://schemas.microsoft.com/office/drawing/2014/main" val="10004"/>
                  </a:ext>
                </a:extLst>
              </a:tr>
              <a:tr h="475488">
                <a:tc>
                  <a:txBody>
                    <a:bodyPr/>
                    <a:lstStyle/>
                    <a:p>
                      <a:pPr marL="0" indent="0" algn="l">
                        <a:buNone/>
                      </a:pPr>
                      <a:r>
                        <a:rPr lang="en-US" sz="1050" b="1" dirty="0">
                          <a:solidFill>
                            <a:srgbClr val="1A1A1A"/>
                          </a:solidFill>
                          <a:latin typeface="Calibri" pitchFamily="34" charset="0"/>
                          <a:ea typeface="Calibri" pitchFamily="34" charset="-122"/>
                          <a:cs typeface="Calibri" pitchFamily="34" charset="-120"/>
                        </a:rPr>
                        <a:t>ReAct</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Tool-use, agentic tasks</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Think → Act → Observe → Repeat</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3"/>
          <p:cNvSpPr/>
          <p:nvPr/>
        </p:nvSpPr>
        <p:spPr>
          <a:xfrm>
            <a:off x="640080" y="5212080"/>
            <a:ext cx="2651760" cy="1280160"/>
          </a:xfrm>
          <a:prstGeom prst="roundRect">
            <a:avLst>
              <a:gd name="adj" fmla="val 6429"/>
            </a:avLst>
          </a:prstGeom>
          <a:solidFill>
            <a:srgbClr val="E9F5EF"/>
          </a:solidFill>
          <a:ln w="12700">
            <a:solidFill>
              <a:srgbClr val="BFE3D3"/>
            </a:solidFill>
            <a:prstDash val="solid"/>
          </a:ln>
        </p:spPr>
        <p:txBody>
          <a:bodyPr/>
          <a:lstStyle/>
          <a:p>
            <a:endParaRPr lang="en-US"/>
          </a:p>
        </p:txBody>
      </p:sp>
      <p:sp>
        <p:nvSpPr>
          <p:cNvPr id="7" name="Text 4"/>
          <p:cNvSpPr/>
          <p:nvPr/>
        </p:nvSpPr>
        <p:spPr>
          <a:xfrm>
            <a:off x="822960" y="5303520"/>
            <a:ext cx="2377440" cy="274320"/>
          </a:xfrm>
          <a:prstGeom prst="rect">
            <a:avLst/>
          </a:prstGeom>
          <a:noFill/>
          <a:ln/>
        </p:spPr>
        <p:txBody>
          <a:bodyPr wrap="square" rtlCol="0" anchor="ctr"/>
          <a:lstStyle/>
          <a:p>
            <a:pPr marL="0" indent="0">
              <a:buNone/>
            </a:pPr>
            <a:r>
              <a:rPr lang="en-US" sz="1200" b="1" dirty="0">
                <a:solidFill>
                  <a:srgbClr val="059669"/>
                </a:solidFill>
                <a:latin typeface="Calibri" pitchFamily="34" charset="0"/>
                <a:ea typeface="Calibri" pitchFamily="34" charset="-122"/>
                <a:cs typeface="Calibri" pitchFamily="34" charset="-120"/>
              </a:rPr>
              <a:t>✅ Pros</a:t>
            </a:r>
            <a:endParaRPr lang="en-US" sz="1200" dirty="0"/>
          </a:p>
        </p:txBody>
      </p:sp>
      <p:sp>
        <p:nvSpPr>
          <p:cNvPr id="8" name="Text 5"/>
          <p:cNvSpPr/>
          <p:nvPr/>
        </p:nvSpPr>
        <p:spPr>
          <a:xfrm>
            <a:off x="822960" y="5623560"/>
            <a:ext cx="2331720" cy="822960"/>
          </a:xfrm>
          <a:prstGeom prst="rect">
            <a:avLst/>
          </a:prstGeom>
          <a:noFill/>
          <a:ln/>
        </p:spPr>
        <p:txBody>
          <a:bodyPr wrap="square" rtlCol="0" anchor="ctr"/>
          <a:lstStyle/>
          <a:p>
            <a:pPr marL="0" indent="0">
              <a:buNone/>
            </a:pPr>
            <a:r>
              <a:rPr lang="en-US" sz="1050" dirty="0">
                <a:solidFill>
                  <a:srgbClr val="5A5F66"/>
                </a:solidFill>
                <a:latin typeface="Calibri" pitchFamily="34" charset="0"/>
                <a:ea typeface="Calibri" pitchFamily="34" charset="-122"/>
                <a:cs typeface="Calibri" pitchFamily="34" charset="-120"/>
              </a:rPr>
              <a:t>Zero infra cost · instant iteration · no training data · any model</a:t>
            </a:r>
            <a:endParaRPr lang="en-US" sz="1050" dirty="0"/>
          </a:p>
        </p:txBody>
      </p:sp>
      <p:sp>
        <p:nvSpPr>
          <p:cNvPr id="9" name="Shape 6"/>
          <p:cNvSpPr/>
          <p:nvPr/>
        </p:nvSpPr>
        <p:spPr>
          <a:xfrm>
            <a:off x="3474720" y="5212080"/>
            <a:ext cx="2651760" cy="1280160"/>
          </a:xfrm>
          <a:prstGeom prst="roundRect">
            <a:avLst>
              <a:gd name="adj" fmla="val 6429"/>
            </a:avLst>
          </a:prstGeom>
          <a:solidFill>
            <a:srgbClr val="FCEAEC"/>
          </a:solidFill>
          <a:ln w="12700">
            <a:solidFill>
              <a:srgbClr val="F3C4C8"/>
            </a:solidFill>
            <a:prstDash val="solid"/>
          </a:ln>
        </p:spPr>
        <p:txBody>
          <a:bodyPr/>
          <a:lstStyle/>
          <a:p>
            <a:endParaRPr lang="en-US"/>
          </a:p>
        </p:txBody>
      </p:sp>
      <p:sp>
        <p:nvSpPr>
          <p:cNvPr id="10" name="Text 7"/>
          <p:cNvSpPr/>
          <p:nvPr/>
        </p:nvSpPr>
        <p:spPr>
          <a:xfrm>
            <a:off x="3657600" y="5303520"/>
            <a:ext cx="2377440" cy="274320"/>
          </a:xfrm>
          <a:prstGeom prst="rect">
            <a:avLst/>
          </a:prstGeom>
          <a:noFill/>
          <a:ln/>
        </p:spPr>
        <p:txBody>
          <a:bodyPr wrap="square" rtlCol="0" anchor="ctr"/>
          <a:lstStyle/>
          <a:p>
            <a:pPr marL="0" indent="0">
              <a:buNone/>
            </a:pPr>
            <a:r>
              <a:rPr lang="en-US" sz="1200" b="1" dirty="0">
                <a:solidFill>
                  <a:srgbClr val="E30613"/>
                </a:solidFill>
                <a:latin typeface="Calibri" pitchFamily="34" charset="0"/>
                <a:ea typeface="Calibri" pitchFamily="34" charset="-122"/>
                <a:cs typeface="Calibri" pitchFamily="34" charset="-120"/>
              </a:rPr>
              <a:t>❌ Cons</a:t>
            </a:r>
            <a:endParaRPr lang="en-US" sz="1200" dirty="0"/>
          </a:p>
        </p:txBody>
      </p:sp>
      <p:sp>
        <p:nvSpPr>
          <p:cNvPr id="11" name="Text 8"/>
          <p:cNvSpPr/>
          <p:nvPr/>
        </p:nvSpPr>
        <p:spPr>
          <a:xfrm>
            <a:off x="3657600" y="5623560"/>
            <a:ext cx="2331720" cy="822960"/>
          </a:xfrm>
          <a:prstGeom prst="rect">
            <a:avLst/>
          </a:prstGeom>
          <a:noFill/>
          <a:ln/>
        </p:spPr>
        <p:txBody>
          <a:bodyPr wrap="square" rtlCol="0" anchor="ctr"/>
          <a:lstStyle/>
          <a:p>
            <a:pPr marL="0" indent="0">
              <a:buNone/>
            </a:pPr>
            <a:r>
              <a:rPr lang="en-US" sz="1050" dirty="0">
                <a:solidFill>
                  <a:srgbClr val="5A5F66"/>
                </a:solidFill>
                <a:latin typeface="Calibri" pitchFamily="34" charset="0"/>
                <a:ea typeface="Calibri" pitchFamily="34" charset="-122"/>
                <a:cs typeface="Calibri" pitchFamily="34" charset="-120"/>
              </a:rPr>
              <a:t>Fragile outputs · can't inject private data · context limits · inconsistent at scale</a:t>
            </a:r>
            <a:endParaRPr lang="en-US" sz="1050" dirty="0"/>
          </a:p>
        </p:txBody>
      </p:sp>
      <p:sp>
        <p:nvSpPr>
          <p:cNvPr id="12" name="Text 9"/>
          <p:cNvSpPr/>
          <p:nvPr/>
        </p:nvSpPr>
        <p:spPr>
          <a:xfrm>
            <a:off x="6400800" y="2011680"/>
            <a:ext cx="5120640" cy="320040"/>
          </a:xfrm>
          <a:prstGeom prst="rect">
            <a:avLst/>
          </a:prstGeom>
          <a:noFill/>
          <a:ln/>
        </p:spPr>
        <p:txBody>
          <a:bodyPr wrap="square" rtlCol="0" anchor="ctr"/>
          <a:lstStyle/>
          <a:p>
            <a:pPr marL="0" indent="0">
              <a:buNone/>
            </a:pPr>
            <a:r>
              <a:rPr lang="en-US" sz="1250" b="1" dirty="0">
                <a:solidFill>
                  <a:srgbClr val="1A1A1A"/>
                </a:solidFill>
                <a:latin typeface="Calibri" pitchFamily="34" charset="0"/>
                <a:ea typeface="Calibri" pitchFamily="34" charset="-122"/>
                <a:cs typeface="Calibri" pitchFamily="34" charset="-120"/>
              </a:rPr>
              <a:t>Few-shot beats zero-shot for consistent format</a:t>
            </a:r>
            <a:endParaRPr lang="en-US" sz="1250" dirty="0"/>
          </a:p>
        </p:txBody>
      </p:sp>
      <p:sp>
        <p:nvSpPr>
          <p:cNvPr id="13" name="Shape 10"/>
          <p:cNvSpPr/>
          <p:nvPr/>
        </p:nvSpPr>
        <p:spPr>
          <a:xfrm>
            <a:off x="6400800" y="2377440"/>
            <a:ext cx="5120640" cy="4114800"/>
          </a:xfrm>
          <a:prstGeom prst="roundRect">
            <a:avLst>
              <a:gd name="adj" fmla="val 1333"/>
            </a:avLst>
          </a:prstGeom>
          <a:solidFill>
            <a:srgbClr val="1E2230"/>
          </a:solidFill>
          <a:ln w="12700">
            <a:solidFill>
              <a:srgbClr val="2E3446"/>
            </a:solidFill>
            <a:prstDash val="solid"/>
          </a:ln>
        </p:spPr>
        <p:txBody>
          <a:bodyPr/>
          <a:lstStyle/>
          <a:p>
            <a:endParaRPr lang="en-US"/>
          </a:p>
        </p:txBody>
      </p:sp>
      <p:sp>
        <p:nvSpPr>
          <p:cNvPr id="14" name="Text 11"/>
          <p:cNvSpPr/>
          <p:nvPr/>
        </p:nvSpPr>
        <p:spPr>
          <a:xfrm>
            <a:off x="10241280" y="2432304"/>
            <a:ext cx="1188720" cy="219456"/>
          </a:xfrm>
          <a:prstGeom prst="rect">
            <a:avLst/>
          </a:prstGeom>
          <a:noFill/>
          <a:ln/>
        </p:spPr>
        <p:txBody>
          <a:bodyPr wrap="square" rtlCol="0" anchor="ctr"/>
          <a:lstStyle/>
          <a:p>
            <a:pPr marL="0" indent="0" algn="r">
              <a:buNone/>
            </a:pPr>
            <a:r>
              <a:rPr lang="en-US" sz="800" b="1" kern="0" spc="100" dirty="0">
                <a:solidFill>
                  <a:srgbClr val="9AA2B5"/>
                </a:solidFill>
                <a:latin typeface="Courier New" pitchFamily="34" charset="0"/>
                <a:ea typeface="Courier New" pitchFamily="34" charset="-122"/>
                <a:cs typeface="Courier New" pitchFamily="34" charset="-120"/>
              </a:rPr>
              <a:t>PYTHON</a:t>
            </a:r>
            <a:endParaRPr lang="en-US" sz="800" dirty="0"/>
          </a:p>
        </p:txBody>
      </p:sp>
      <p:sp>
        <p:nvSpPr>
          <p:cNvPr id="15" name="Text 12"/>
          <p:cNvSpPr/>
          <p:nvPr/>
        </p:nvSpPr>
        <p:spPr>
          <a:xfrm>
            <a:off x="6565392" y="2505456"/>
            <a:ext cx="4791456" cy="3858768"/>
          </a:xfrm>
          <a:prstGeom prst="rect">
            <a:avLst/>
          </a:prstGeom>
          <a:noFill/>
          <a:ln/>
        </p:spPr>
        <p:txBody>
          <a:bodyPr wrap="square" rtlCol="0" anchor="t"/>
          <a:lstStyle/>
          <a:p>
            <a:pPr marL="0" indent="0" algn="l">
              <a:lnSpc>
                <a:spcPct val="115000"/>
              </a:lnSpc>
              <a:buNone/>
            </a:pPr>
            <a:r>
              <a:rPr lang="en-US" sz="950" dirty="0">
                <a:solidFill>
                  <a:srgbClr val="8B949E"/>
                </a:solidFill>
                <a:latin typeface="Courier New" pitchFamily="34" charset="0"/>
                <a:ea typeface="Courier New" pitchFamily="34" charset="-122"/>
                <a:cs typeface="Courier New" pitchFamily="34" charset="-120"/>
              </a:rPr>
              <a:t># Few-shot: give examples
</a:t>
            </a:r>
            <a:r>
              <a:rPr lang="en-US" sz="950" dirty="0">
                <a:solidFill>
                  <a:srgbClr val="C9D1D9"/>
                </a:solidFill>
                <a:latin typeface="Courier New" pitchFamily="34" charset="0"/>
                <a:ea typeface="Courier New" pitchFamily="34" charset="-122"/>
                <a:cs typeface="Courier New" pitchFamily="34" charset="-120"/>
              </a:rPr>
              <a:t>resp = client.messages.create(
</a:t>
            </a:r>
            <a:r>
              <a:rPr lang="en-US" sz="950" dirty="0">
                <a:solidFill>
                  <a:srgbClr val="A5D6FF"/>
                </a:solidFill>
                <a:latin typeface="Courier New" pitchFamily="34" charset="0"/>
                <a:ea typeface="Courier New" pitchFamily="34" charset="-122"/>
                <a:cs typeface="Courier New" pitchFamily="34" charset="-120"/>
              </a:rPr>
              <a:t>    model="claude-sonnet-4",
    system="JLL request classifier.
      Respond with category + %.",
</a:t>
            </a:r>
            <a:r>
              <a:rPr lang="en-US" sz="950" dirty="0">
                <a:solidFill>
                  <a:srgbClr val="C9D1D9"/>
                </a:solidFill>
                <a:latin typeface="Courier New" pitchFamily="34" charset="0"/>
                <a:ea typeface="Courier New" pitchFamily="34" charset="-122"/>
                <a:cs typeface="Courier New" pitchFamily="34" charset="-120"/>
              </a:rPr>
              <a:t>    messages=[{
</a:t>
            </a:r>
            <a:r>
              <a:rPr lang="en-US" sz="950" dirty="0">
                <a:solidFill>
                  <a:srgbClr val="A5D6FF"/>
                </a:solidFill>
                <a:latin typeface="Courier New" pitchFamily="34" charset="0"/>
                <a:ea typeface="Courier New" pitchFamily="34" charset="-122"/>
                <a:cs typeface="Courier New" pitchFamily="34" charset="-120"/>
              </a:rPr>
              <a:t>      "role": "user",
      "content": """Format:
      CATEGORY | CONFIDENCE%
      - Rent failed → BILLING | 95%
      - Elevator stuck → MAINT | 98%
      Classify: parking sensor down"""
</a:t>
            </a:r>
            <a:r>
              <a:rPr lang="en-US" sz="950" dirty="0">
                <a:solidFill>
                  <a:srgbClr val="C9D1D9"/>
                </a:solidFill>
                <a:latin typeface="Courier New" pitchFamily="34" charset="0"/>
                <a:ea typeface="Courier New" pitchFamily="34" charset="-122"/>
                <a:cs typeface="Courier New" pitchFamily="34" charset="-120"/>
              </a:rPr>
              <a:t>    }])
</a:t>
            </a:r>
            <a:r>
              <a:rPr lang="en-US" sz="950" dirty="0">
                <a:solidFill>
                  <a:srgbClr val="8B949E"/>
                </a:solidFill>
                <a:latin typeface="Courier New" pitchFamily="34" charset="0"/>
                <a:ea typeface="Courier New" pitchFamily="34" charset="-122"/>
                <a:cs typeface="Courier New" pitchFamily="34" charset="-120"/>
              </a:rPr>
              <a:t># → MAINTENANCE | 96%</a:t>
            </a:r>
            <a:endParaRPr lang="en-US" sz="950" dirty="0"/>
          </a:p>
        </p:txBody>
      </p:sp>
      <p:sp>
        <p:nvSpPr>
          <p:cNvPr id="16" name="Text 13"/>
          <p:cNvSpPr/>
          <p:nvPr/>
        </p:nvSpPr>
        <p:spPr>
          <a:xfrm>
            <a:off x="10728655" y="6400800"/>
            <a:ext cx="1097280" cy="274320"/>
          </a:xfrm>
          <a:prstGeom prst="rect">
            <a:avLst/>
          </a:prstGeom>
          <a:noFill/>
          <a:ln/>
        </p:spPr>
        <p:txBody>
          <a:bodyPr wrap="square" rtlCol="0" anchor="ctr"/>
          <a:lstStyle/>
          <a:p>
            <a:pPr marL="0" indent="0" algn="r">
              <a:buNone/>
            </a:pPr>
            <a:r>
              <a:rPr lang="en-US" sz="1000" dirty="0">
                <a:solidFill>
                  <a:srgbClr val="8A9099"/>
                </a:solidFill>
                <a:latin typeface="Courier New" pitchFamily="34" charset="0"/>
                <a:ea typeface="Courier New" pitchFamily="34" charset="-122"/>
                <a:cs typeface="Courier New" pitchFamily="34" charset="-120"/>
              </a:rPr>
              <a:t>05 / 16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rtlCol="0" anchor="ctr"/>
          <a:lstStyle/>
          <a:p>
            <a:pPr marL="0" indent="0" algn="l">
              <a:buNone/>
            </a:pPr>
            <a:r>
              <a:rPr lang="en-US" sz="1200" b="1" kern="0" spc="300" dirty="0">
                <a:solidFill>
                  <a:srgbClr val="2563EB"/>
                </a:solidFill>
                <a:latin typeface="Calibri" pitchFamily="34" charset="0"/>
                <a:ea typeface="Calibri" pitchFamily="34" charset="-122"/>
                <a:cs typeface="Calibri" pitchFamily="34" charset="-120"/>
              </a:rPr>
              <a:t>LAYER 2 · RAG</a:t>
            </a:r>
            <a:endParaRPr lang="en-US" sz="1200" dirty="0"/>
          </a:p>
        </p:txBody>
      </p:sp>
      <p:sp>
        <p:nvSpPr>
          <p:cNvPr id="3" name="Text 1"/>
          <p:cNvSpPr/>
          <p:nvPr/>
        </p:nvSpPr>
        <p:spPr>
          <a:xfrm>
            <a:off x="640080" y="777240"/>
            <a:ext cx="10911535" cy="822960"/>
          </a:xfrm>
          <a:prstGeom prst="rect">
            <a:avLst/>
          </a:prstGeom>
          <a:noFill/>
          <a:ln/>
        </p:spPr>
        <p:txBody>
          <a:bodyPr wrap="square" rtlCol="0" anchor="ctr"/>
          <a:lstStyle/>
          <a:p>
            <a:pPr marL="0" indent="0" algn="l">
              <a:buNone/>
            </a:pPr>
            <a:r>
              <a:rPr lang="en-US" sz="3200" b="1" dirty="0">
                <a:solidFill>
                  <a:srgbClr val="1A1A1A"/>
                </a:solidFill>
                <a:latin typeface="Century Schoolbook" pitchFamily="34" charset="0"/>
                <a:ea typeface="Century Schoolbook" pitchFamily="34" charset="-122"/>
                <a:cs typeface="Century Schoolbook" pitchFamily="34" charset="-120"/>
              </a:rPr>
              <a:t>📚 RAG — the Knowledge Layer</a:t>
            </a:r>
            <a:endParaRPr lang="en-US" sz="3200" dirty="0"/>
          </a:p>
        </p:txBody>
      </p:sp>
      <p:sp>
        <p:nvSpPr>
          <p:cNvPr id="4" name="Text 2"/>
          <p:cNvSpPr/>
          <p:nvPr/>
        </p:nvSpPr>
        <p:spPr>
          <a:xfrm>
            <a:off x="640080" y="1554480"/>
            <a:ext cx="10515600" cy="320040"/>
          </a:xfrm>
          <a:prstGeom prst="rect">
            <a:avLst/>
          </a:prstGeom>
          <a:noFill/>
          <a:ln/>
        </p:spPr>
        <p:txBody>
          <a:bodyPr wrap="square" rtlCol="0" anchor="ctr"/>
          <a:lstStyle/>
          <a:p>
            <a:pPr marL="0" indent="0">
              <a:buNone/>
            </a:pPr>
            <a:r>
              <a:rPr lang="en-US" sz="1200" i="1" dirty="0">
                <a:solidFill>
                  <a:srgbClr val="8A9099"/>
                </a:solidFill>
                <a:latin typeface="Calibri" pitchFamily="34" charset="0"/>
                <a:ea typeface="Calibri" pitchFamily="34" charset="-122"/>
                <a:cs typeface="Calibri" pitchFamily="34" charset="-120"/>
              </a:rPr>
              <a:t>“RAG connects LLMs to external data, providing factual grounding without retraining.”  — Google Whitepaper</a:t>
            </a:r>
            <a:endParaRPr lang="en-US" sz="1200" dirty="0"/>
          </a:p>
        </p:txBody>
      </p:sp>
      <p:sp>
        <p:nvSpPr>
          <p:cNvPr id="5" name="Shape 3"/>
          <p:cNvSpPr/>
          <p:nvPr/>
        </p:nvSpPr>
        <p:spPr>
          <a:xfrm>
            <a:off x="640080" y="2057400"/>
            <a:ext cx="5394960" cy="4297680"/>
          </a:xfrm>
          <a:prstGeom prst="roundRect">
            <a:avLst>
              <a:gd name="adj" fmla="val 1915"/>
            </a:avLst>
          </a:prstGeom>
          <a:solidFill>
            <a:srgbClr val="F4F5F7"/>
          </a:solidFill>
          <a:ln w="12700">
            <a:solidFill>
              <a:srgbClr val="DADDE2"/>
            </a:solidFill>
            <a:prstDash val="solid"/>
          </a:ln>
        </p:spPr>
        <p:txBody>
          <a:bodyPr/>
          <a:lstStyle/>
          <a:p>
            <a:endParaRPr lang="en-US"/>
          </a:p>
        </p:txBody>
      </p:sp>
      <p:sp>
        <p:nvSpPr>
          <p:cNvPr id="6" name="Text 4"/>
          <p:cNvSpPr/>
          <p:nvPr/>
        </p:nvSpPr>
        <p:spPr>
          <a:xfrm>
            <a:off x="914400" y="2240280"/>
            <a:ext cx="4846320" cy="320040"/>
          </a:xfrm>
          <a:prstGeom prst="rect">
            <a:avLst/>
          </a:prstGeom>
          <a:noFill/>
          <a:ln/>
        </p:spPr>
        <p:txBody>
          <a:bodyPr wrap="square"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 Ingestion Phase</a:t>
            </a:r>
            <a:endParaRPr lang="en-US" sz="1500" dirty="0"/>
          </a:p>
        </p:txBody>
      </p:sp>
      <p:sp>
        <p:nvSpPr>
          <p:cNvPr id="7" name="Text 5"/>
          <p:cNvSpPr/>
          <p:nvPr/>
        </p:nvSpPr>
        <p:spPr>
          <a:xfrm>
            <a:off x="914400" y="2560320"/>
            <a:ext cx="4846320" cy="274320"/>
          </a:xfrm>
          <a:prstGeom prst="rect">
            <a:avLst/>
          </a:prstGeom>
          <a:noFill/>
          <a:ln/>
        </p:spPr>
        <p:txBody>
          <a:bodyPr wrap="square" rtlCol="0" anchor="ctr"/>
          <a:lstStyle/>
          <a:p>
            <a:pPr marL="0" indent="0">
              <a:buNone/>
            </a:pPr>
            <a:r>
              <a:rPr lang="en-US" sz="1100" dirty="0">
                <a:solidFill>
                  <a:srgbClr val="8A9099"/>
                </a:solidFill>
                <a:latin typeface="Calibri" pitchFamily="34" charset="0"/>
                <a:ea typeface="Calibri" pitchFamily="34" charset="-122"/>
                <a:cs typeface="Calibri" pitchFamily="34" charset="-120"/>
              </a:rPr>
              <a:t>Offline — done once</a:t>
            </a:r>
            <a:endParaRPr lang="en-US" sz="1100" dirty="0"/>
          </a:p>
        </p:txBody>
      </p:sp>
      <p:sp>
        <p:nvSpPr>
          <p:cNvPr id="8" name="Shape 6"/>
          <p:cNvSpPr/>
          <p:nvPr/>
        </p:nvSpPr>
        <p:spPr>
          <a:xfrm>
            <a:off x="1143000" y="3017520"/>
            <a:ext cx="4389120" cy="502920"/>
          </a:xfrm>
          <a:prstGeom prst="roundRect">
            <a:avLst>
              <a:gd name="adj" fmla="val 10909"/>
            </a:avLst>
          </a:prstGeom>
          <a:solidFill>
            <a:srgbClr val="B45309">
              <a:alpha val="18000"/>
            </a:srgbClr>
          </a:solidFill>
          <a:ln w="12700">
            <a:solidFill>
              <a:srgbClr val="B45309"/>
            </a:solidFill>
            <a:prstDash val="solid"/>
          </a:ln>
        </p:spPr>
        <p:txBody>
          <a:bodyPr/>
          <a:lstStyle/>
          <a:p>
            <a:endParaRPr lang="en-US"/>
          </a:p>
        </p:txBody>
      </p:sp>
      <p:sp>
        <p:nvSpPr>
          <p:cNvPr id="9" name="Text 7"/>
          <p:cNvSpPr/>
          <p:nvPr/>
        </p:nvSpPr>
        <p:spPr>
          <a:xfrm>
            <a:off x="1280160" y="3017520"/>
            <a:ext cx="4160520" cy="502920"/>
          </a:xfrm>
          <a:prstGeom prst="rect">
            <a:avLst/>
          </a:prstGeom>
          <a:noFill/>
          <a:ln/>
        </p:spPr>
        <p:txBody>
          <a:bodyPr wrap="square"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 Documents (PDFs, leases, policies)</a:t>
            </a:r>
            <a:endParaRPr lang="en-US" sz="1200" dirty="0"/>
          </a:p>
        </p:txBody>
      </p:sp>
      <p:sp>
        <p:nvSpPr>
          <p:cNvPr id="10" name="Text 8"/>
          <p:cNvSpPr/>
          <p:nvPr/>
        </p:nvSpPr>
        <p:spPr>
          <a:xfrm>
            <a:off x="3154680" y="3493008"/>
            <a:ext cx="365760" cy="256032"/>
          </a:xfrm>
          <a:prstGeom prst="rect">
            <a:avLst/>
          </a:prstGeom>
          <a:noFill/>
          <a:ln/>
        </p:spPr>
        <p:txBody>
          <a:bodyPr wrap="square" rtlCol="0" anchor="ctr"/>
          <a:lstStyle/>
          <a:p>
            <a:pPr marL="0" indent="0" algn="ctr">
              <a:buNone/>
            </a:pPr>
            <a:r>
              <a:rPr lang="en-US" sz="1400" dirty="0">
                <a:solidFill>
                  <a:srgbClr val="8A9099"/>
                </a:solidFill>
                <a:latin typeface="Calibri" pitchFamily="34" charset="0"/>
                <a:ea typeface="Calibri" pitchFamily="34" charset="-122"/>
                <a:cs typeface="Calibri" pitchFamily="34" charset="-120"/>
              </a:rPr>
              <a:t>↓</a:t>
            </a:r>
            <a:endParaRPr lang="en-US" sz="1400" dirty="0"/>
          </a:p>
        </p:txBody>
      </p:sp>
      <p:sp>
        <p:nvSpPr>
          <p:cNvPr id="11" name="Shape 9"/>
          <p:cNvSpPr/>
          <p:nvPr/>
        </p:nvSpPr>
        <p:spPr>
          <a:xfrm>
            <a:off x="1143000" y="3776472"/>
            <a:ext cx="4389120" cy="502920"/>
          </a:xfrm>
          <a:prstGeom prst="roundRect">
            <a:avLst>
              <a:gd name="adj" fmla="val 10909"/>
            </a:avLst>
          </a:prstGeom>
          <a:solidFill>
            <a:srgbClr val="B45309">
              <a:alpha val="18000"/>
            </a:srgbClr>
          </a:solidFill>
          <a:ln w="12700">
            <a:solidFill>
              <a:srgbClr val="B45309"/>
            </a:solidFill>
            <a:prstDash val="solid"/>
          </a:ln>
        </p:spPr>
        <p:txBody>
          <a:bodyPr/>
          <a:lstStyle/>
          <a:p>
            <a:endParaRPr lang="en-US"/>
          </a:p>
        </p:txBody>
      </p:sp>
      <p:sp>
        <p:nvSpPr>
          <p:cNvPr id="12" name="Text 10"/>
          <p:cNvSpPr/>
          <p:nvPr/>
        </p:nvSpPr>
        <p:spPr>
          <a:xfrm>
            <a:off x="1280160" y="3776472"/>
            <a:ext cx="4160520" cy="502920"/>
          </a:xfrm>
          <a:prstGeom prst="rect">
            <a:avLst/>
          </a:prstGeom>
          <a:noFill/>
          <a:ln/>
        </p:spPr>
        <p:txBody>
          <a:bodyPr wrap="square"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 Chunking (semantic / fixed-size)</a:t>
            </a:r>
            <a:endParaRPr lang="en-US" sz="1200" dirty="0"/>
          </a:p>
        </p:txBody>
      </p:sp>
      <p:sp>
        <p:nvSpPr>
          <p:cNvPr id="13" name="Text 11"/>
          <p:cNvSpPr/>
          <p:nvPr/>
        </p:nvSpPr>
        <p:spPr>
          <a:xfrm>
            <a:off x="3154680" y="4251960"/>
            <a:ext cx="365760" cy="256032"/>
          </a:xfrm>
          <a:prstGeom prst="rect">
            <a:avLst/>
          </a:prstGeom>
          <a:noFill/>
          <a:ln/>
        </p:spPr>
        <p:txBody>
          <a:bodyPr wrap="square" rtlCol="0" anchor="ctr"/>
          <a:lstStyle/>
          <a:p>
            <a:pPr marL="0" indent="0" algn="ctr">
              <a:buNone/>
            </a:pPr>
            <a:r>
              <a:rPr lang="en-US" sz="1400" dirty="0">
                <a:solidFill>
                  <a:srgbClr val="8A9099"/>
                </a:solidFill>
                <a:latin typeface="Calibri" pitchFamily="34" charset="0"/>
                <a:ea typeface="Calibri" pitchFamily="34" charset="-122"/>
                <a:cs typeface="Calibri" pitchFamily="34" charset="-120"/>
              </a:rPr>
              <a:t>↓</a:t>
            </a:r>
            <a:endParaRPr lang="en-US" sz="1400" dirty="0"/>
          </a:p>
        </p:txBody>
      </p:sp>
      <p:sp>
        <p:nvSpPr>
          <p:cNvPr id="14" name="Shape 12"/>
          <p:cNvSpPr/>
          <p:nvPr/>
        </p:nvSpPr>
        <p:spPr>
          <a:xfrm>
            <a:off x="1143000" y="4535424"/>
            <a:ext cx="4389120" cy="502920"/>
          </a:xfrm>
          <a:prstGeom prst="roundRect">
            <a:avLst>
              <a:gd name="adj" fmla="val 10909"/>
            </a:avLst>
          </a:prstGeom>
          <a:solidFill>
            <a:srgbClr val="B45309">
              <a:alpha val="18000"/>
            </a:srgbClr>
          </a:solidFill>
          <a:ln w="12700">
            <a:solidFill>
              <a:srgbClr val="B45309"/>
            </a:solidFill>
            <a:prstDash val="solid"/>
          </a:ln>
        </p:spPr>
        <p:txBody>
          <a:bodyPr/>
          <a:lstStyle/>
          <a:p>
            <a:endParaRPr lang="en-US"/>
          </a:p>
        </p:txBody>
      </p:sp>
      <p:sp>
        <p:nvSpPr>
          <p:cNvPr id="15" name="Text 13"/>
          <p:cNvSpPr/>
          <p:nvPr/>
        </p:nvSpPr>
        <p:spPr>
          <a:xfrm>
            <a:off x="1280160" y="4535424"/>
            <a:ext cx="4160520" cy="502920"/>
          </a:xfrm>
          <a:prstGeom prst="rect">
            <a:avLst/>
          </a:prstGeom>
          <a:noFill/>
          <a:ln/>
        </p:spPr>
        <p:txBody>
          <a:bodyPr wrap="square"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 Embedding model</a:t>
            </a:r>
            <a:endParaRPr lang="en-US" sz="1200" dirty="0"/>
          </a:p>
        </p:txBody>
      </p:sp>
      <p:sp>
        <p:nvSpPr>
          <p:cNvPr id="16" name="Text 14"/>
          <p:cNvSpPr/>
          <p:nvPr/>
        </p:nvSpPr>
        <p:spPr>
          <a:xfrm>
            <a:off x="3154680" y="5010912"/>
            <a:ext cx="365760" cy="256032"/>
          </a:xfrm>
          <a:prstGeom prst="rect">
            <a:avLst/>
          </a:prstGeom>
          <a:noFill/>
          <a:ln/>
        </p:spPr>
        <p:txBody>
          <a:bodyPr wrap="square" rtlCol="0" anchor="ctr"/>
          <a:lstStyle/>
          <a:p>
            <a:pPr marL="0" indent="0" algn="ctr">
              <a:buNone/>
            </a:pPr>
            <a:r>
              <a:rPr lang="en-US" sz="1400" dirty="0">
                <a:solidFill>
                  <a:srgbClr val="8A9099"/>
                </a:solidFill>
                <a:latin typeface="Calibri" pitchFamily="34" charset="0"/>
                <a:ea typeface="Calibri" pitchFamily="34" charset="-122"/>
                <a:cs typeface="Calibri" pitchFamily="34" charset="-120"/>
              </a:rPr>
              <a:t>↓</a:t>
            </a:r>
            <a:endParaRPr lang="en-US" sz="1400" dirty="0"/>
          </a:p>
        </p:txBody>
      </p:sp>
      <p:sp>
        <p:nvSpPr>
          <p:cNvPr id="17" name="Shape 15"/>
          <p:cNvSpPr/>
          <p:nvPr/>
        </p:nvSpPr>
        <p:spPr>
          <a:xfrm>
            <a:off x="1143000" y="5294376"/>
            <a:ext cx="4389120" cy="502920"/>
          </a:xfrm>
          <a:prstGeom prst="roundRect">
            <a:avLst>
              <a:gd name="adj" fmla="val 10909"/>
            </a:avLst>
          </a:prstGeom>
          <a:solidFill>
            <a:srgbClr val="B45309">
              <a:alpha val="18000"/>
            </a:srgbClr>
          </a:solidFill>
          <a:ln w="12700">
            <a:solidFill>
              <a:srgbClr val="B45309"/>
            </a:solidFill>
            <a:prstDash val="solid"/>
          </a:ln>
        </p:spPr>
        <p:txBody>
          <a:bodyPr/>
          <a:lstStyle/>
          <a:p>
            <a:endParaRPr lang="en-US"/>
          </a:p>
        </p:txBody>
      </p:sp>
      <p:sp>
        <p:nvSpPr>
          <p:cNvPr id="18" name="Text 16"/>
          <p:cNvSpPr/>
          <p:nvPr/>
        </p:nvSpPr>
        <p:spPr>
          <a:xfrm>
            <a:off x="1280160" y="5294376"/>
            <a:ext cx="4160520" cy="502920"/>
          </a:xfrm>
          <a:prstGeom prst="rect">
            <a:avLst/>
          </a:prstGeom>
          <a:noFill/>
          <a:ln/>
        </p:spPr>
        <p:txBody>
          <a:bodyPr wrap="square"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 Vector store</a:t>
            </a:r>
            <a:endParaRPr lang="en-US" sz="1200" dirty="0"/>
          </a:p>
        </p:txBody>
      </p:sp>
      <p:sp>
        <p:nvSpPr>
          <p:cNvPr id="19" name="Shape 17"/>
          <p:cNvSpPr/>
          <p:nvPr/>
        </p:nvSpPr>
        <p:spPr>
          <a:xfrm>
            <a:off x="6172200" y="2057400"/>
            <a:ext cx="5394960" cy="4297680"/>
          </a:xfrm>
          <a:prstGeom prst="roundRect">
            <a:avLst>
              <a:gd name="adj" fmla="val 1915"/>
            </a:avLst>
          </a:prstGeom>
          <a:solidFill>
            <a:srgbClr val="F4F5F7"/>
          </a:solidFill>
          <a:ln w="12700">
            <a:solidFill>
              <a:srgbClr val="DADDE2"/>
            </a:solidFill>
            <a:prstDash val="solid"/>
          </a:ln>
        </p:spPr>
        <p:txBody>
          <a:bodyPr/>
          <a:lstStyle/>
          <a:p>
            <a:endParaRPr lang="en-US"/>
          </a:p>
        </p:txBody>
      </p:sp>
      <p:sp>
        <p:nvSpPr>
          <p:cNvPr id="20" name="Text 18"/>
          <p:cNvSpPr/>
          <p:nvPr/>
        </p:nvSpPr>
        <p:spPr>
          <a:xfrm>
            <a:off x="6446520" y="2240280"/>
            <a:ext cx="4846320" cy="320040"/>
          </a:xfrm>
          <a:prstGeom prst="rect">
            <a:avLst/>
          </a:prstGeom>
          <a:noFill/>
          <a:ln/>
        </p:spPr>
        <p:txBody>
          <a:bodyPr wrap="square"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 Retrieval Phase</a:t>
            </a:r>
            <a:endParaRPr lang="en-US" sz="1500" dirty="0"/>
          </a:p>
        </p:txBody>
      </p:sp>
      <p:sp>
        <p:nvSpPr>
          <p:cNvPr id="21" name="Text 19"/>
          <p:cNvSpPr/>
          <p:nvPr/>
        </p:nvSpPr>
        <p:spPr>
          <a:xfrm>
            <a:off x="6446520" y="2560320"/>
            <a:ext cx="4846320" cy="274320"/>
          </a:xfrm>
          <a:prstGeom prst="rect">
            <a:avLst/>
          </a:prstGeom>
          <a:noFill/>
          <a:ln/>
        </p:spPr>
        <p:txBody>
          <a:bodyPr wrap="square" rtlCol="0" anchor="ctr"/>
          <a:lstStyle/>
          <a:p>
            <a:pPr marL="0" indent="0">
              <a:buNone/>
            </a:pPr>
            <a:r>
              <a:rPr lang="en-US" sz="1100" dirty="0">
                <a:solidFill>
                  <a:srgbClr val="8A9099"/>
                </a:solidFill>
                <a:latin typeface="Calibri" pitchFamily="34" charset="0"/>
                <a:ea typeface="Calibri" pitchFamily="34" charset="-122"/>
                <a:cs typeface="Calibri" pitchFamily="34" charset="-120"/>
              </a:rPr>
              <a:t>Runtime — every query</a:t>
            </a:r>
            <a:endParaRPr lang="en-US" sz="1100" dirty="0"/>
          </a:p>
        </p:txBody>
      </p:sp>
      <p:sp>
        <p:nvSpPr>
          <p:cNvPr id="22" name="Shape 20"/>
          <p:cNvSpPr/>
          <p:nvPr/>
        </p:nvSpPr>
        <p:spPr>
          <a:xfrm>
            <a:off x="6675120" y="3017520"/>
            <a:ext cx="4389120" cy="502920"/>
          </a:xfrm>
          <a:prstGeom prst="roundRect">
            <a:avLst>
              <a:gd name="adj" fmla="val 10909"/>
            </a:avLst>
          </a:prstGeom>
          <a:solidFill>
            <a:srgbClr val="1D4ED8">
              <a:alpha val="18000"/>
            </a:srgbClr>
          </a:solidFill>
          <a:ln w="12700">
            <a:solidFill>
              <a:srgbClr val="1D4ED8"/>
            </a:solidFill>
            <a:prstDash val="solid"/>
          </a:ln>
        </p:spPr>
        <p:txBody>
          <a:bodyPr/>
          <a:lstStyle/>
          <a:p>
            <a:endParaRPr lang="en-US"/>
          </a:p>
        </p:txBody>
      </p:sp>
      <p:sp>
        <p:nvSpPr>
          <p:cNvPr id="23" name="Text 21"/>
          <p:cNvSpPr/>
          <p:nvPr/>
        </p:nvSpPr>
        <p:spPr>
          <a:xfrm>
            <a:off x="6812280" y="3017520"/>
            <a:ext cx="4160520" cy="502920"/>
          </a:xfrm>
          <a:prstGeom prst="rect">
            <a:avLst/>
          </a:prstGeom>
          <a:noFill/>
          <a:ln/>
        </p:spPr>
        <p:txBody>
          <a:bodyPr wrap="square"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 User query → 🔢 query embedding</a:t>
            </a:r>
            <a:endParaRPr lang="en-US" sz="1200" dirty="0"/>
          </a:p>
        </p:txBody>
      </p:sp>
      <p:sp>
        <p:nvSpPr>
          <p:cNvPr id="24" name="Text 22"/>
          <p:cNvSpPr/>
          <p:nvPr/>
        </p:nvSpPr>
        <p:spPr>
          <a:xfrm>
            <a:off x="8686800" y="3493008"/>
            <a:ext cx="365760" cy="256032"/>
          </a:xfrm>
          <a:prstGeom prst="rect">
            <a:avLst/>
          </a:prstGeom>
          <a:noFill/>
          <a:ln/>
        </p:spPr>
        <p:txBody>
          <a:bodyPr wrap="square" rtlCol="0" anchor="ctr"/>
          <a:lstStyle/>
          <a:p>
            <a:pPr marL="0" indent="0" algn="ctr">
              <a:buNone/>
            </a:pPr>
            <a:r>
              <a:rPr lang="en-US" sz="1400" dirty="0">
                <a:solidFill>
                  <a:srgbClr val="8A9099"/>
                </a:solidFill>
                <a:latin typeface="Calibri" pitchFamily="34" charset="0"/>
                <a:ea typeface="Calibri" pitchFamily="34" charset="-122"/>
                <a:cs typeface="Calibri" pitchFamily="34" charset="-120"/>
              </a:rPr>
              <a:t>↓</a:t>
            </a:r>
            <a:endParaRPr lang="en-US" sz="1400" dirty="0"/>
          </a:p>
        </p:txBody>
      </p:sp>
      <p:sp>
        <p:nvSpPr>
          <p:cNvPr id="25" name="Shape 23"/>
          <p:cNvSpPr/>
          <p:nvPr/>
        </p:nvSpPr>
        <p:spPr>
          <a:xfrm>
            <a:off x="6675120" y="3776472"/>
            <a:ext cx="4389120" cy="502920"/>
          </a:xfrm>
          <a:prstGeom prst="roundRect">
            <a:avLst>
              <a:gd name="adj" fmla="val 10909"/>
            </a:avLst>
          </a:prstGeom>
          <a:solidFill>
            <a:srgbClr val="1D4ED8">
              <a:alpha val="18000"/>
            </a:srgbClr>
          </a:solidFill>
          <a:ln w="12700">
            <a:solidFill>
              <a:srgbClr val="1D4ED8"/>
            </a:solidFill>
            <a:prstDash val="solid"/>
          </a:ln>
        </p:spPr>
        <p:txBody>
          <a:bodyPr/>
          <a:lstStyle/>
          <a:p>
            <a:endParaRPr lang="en-US"/>
          </a:p>
        </p:txBody>
      </p:sp>
      <p:sp>
        <p:nvSpPr>
          <p:cNvPr id="26" name="Text 24"/>
          <p:cNvSpPr/>
          <p:nvPr/>
        </p:nvSpPr>
        <p:spPr>
          <a:xfrm>
            <a:off x="6812280" y="3776472"/>
            <a:ext cx="4160520" cy="502920"/>
          </a:xfrm>
          <a:prstGeom prst="rect">
            <a:avLst/>
          </a:prstGeom>
          <a:noFill/>
          <a:ln/>
        </p:spPr>
        <p:txBody>
          <a:bodyPr wrap="square"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 Similarity search on vector store</a:t>
            </a:r>
            <a:endParaRPr lang="en-US" sz="1200" dirty="0"/>
          </a:p>
        </p:txBody>
      </p:sp>
      <p:sp>
        <p:nvSpPr>
          <p:cNvPr id="27" name="Text 25"/>
          <p:cNvSpPr/>
          <p:nvPr/>
        </p:nvSpPr>
        <p:spPr>
          <a:xfrm>
            <a:off x="8686800" y="4251960"/>
            <a:ext cx="365760" cy="256032"/>
          </a:xfrm>
          <a:prstGeom prst="rect">
            <a:avLst/>
          </a:prstGeom>
          <a:noFill/>
          <a:ln/>
        </p:spPr>
        <p:txBody>
          <a:bodyPr wrap="square" rtlCol="0" anchor="ctr"/>
          <a:lstStyle/>
          <a:p>
            <a:pPr marL="0" indent="0" algn="ctr">
              <a:buNone/>
            </a:pPr>
            <a:r>
              <a:rPr lang="en-US" sz="1400" dirty="0">
                <a:solidFill>
                  <a:srgbClr val="8A9099"/>
                </a:solidFill>
                <a:latin typeface="Calibri" pitchFamily="34" charset="0"/>
                <a:ea typeface="Calibri" pitchFamily="34" charset="-122"/>
                <a:cs typeface="Calibri" pitchFamily="34" charset="-120"/>
              </a:rPr>
              <a:t>↓</a:t>
            </a:r>
            <a:endParaRPr lang="en-US" sz="1400" dirty="0"/>
          </a:p>
        </p:txBody>
      </p:sp>
      <p:sp>
        <p:nvSpPr>
          <p:cNvPr id="28" name="Shape 26"/>
          <p:cNvSpPr/>
          <p:nvPr/>
        </p:nvSpPr>
        <p:spPr>
          <a:xfrm>
            <a:off x="6675120" y="4535424"/>
            <a:ext cx="4389120" cy="502920"/>
          </a:xfrm>
          <a:prstGeom prst="roundRect">
            <a:avLst>
              <a:gd name="adj" fmla="val 10909"/>
            </a:avLst>
          </a:prstGeom>
          <a:solidFill>
            <a:srgbClr val="1D4ED8">
              <a:alpha val="18000"/>
            </a:srgbClr>
          </a:solidFill>
          <a:ln w="12700">
            <a:solidFill>
              <a:srgbClr val="1D4ED8"/>
            </a:solidFill>
            <a:prstDash val="solid"/>
          </a:ln>
        </p:spPr>
        <p:txBody>
          <a:bodyPr/>
          <a:lstStyle/>
          <a:p>
            <a:endParaRPr lang="en-US"/>
          </a:p>
        </p:txBody>
      </p:sp>
      <p:sp>
        <p:nvSpPr>
          <p:cNvPr id="29" name="Text 27"/>
          <p:cNvSpPr/>
          <p:nvPr/>
        </p:nvSpPr>
        <p:spPr>
          <a:xfrm>
            <a:off x="6812280" y="4535424"/>
            <a:ext cx="4160520" cy="502920"/>
          </a:xfrm>
          <a:prstGeom prst="rect">
            <a:avLst/>
          </a:prstGeom>
          <a:noFill/>
          <a:ln/>
        </p:spPr>
        <p:txBody>
          <a:bodyPr wrap="square"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 Top-K chunks retrieved + reranked</a:t>
            </a:r>
            <a:endParaRPr lang="en-US" sz="1200" dirty="0"/>
          </a:p>
        </p:txBody>
      </p:sp>
      <p:sp>
        <p:nvSpPr>
          <p:cNvPr id="30" name="Text 28"/>
          <p:cNvSpPr/>
          <p:nvPr/>
        </p:nvSpPr>
        <p:spPr>
          <a:xfrm>
            <a:off x="8686800" y="5010912"/>
            <a:ext cx="365760" cy="256032"/>
          </a:xfrm>
          <a:prstGeom prst="rect">
            <a:avLst/>
          </a:prstGeom>
          <a:noFill/>
          <a:ln/>
        </p:spPr>
        <p:txBody>
          <a:bodyPr wrap="square" rtlCol="0" anchor="ctr"/>
          <a:lstStyle/>
          <a:p>
            <a:pPr marL="0" indent="0" algn="ctr">
              <a:buNone/>
            </a:pPr>
            <a:r>
              <a:rPr lang="en-US" sz="1400" dirty="0">
                <a:solidFill>
                  <a:srgbClr val="8A9099"/>
                </a:solidFill>
                <a:latin typeface="Calibri" pitchFamily="34" charset="0"/>
                <a:ea typeface="Calibri" pitchFamily="34" charset="-122"/>
                <a:cs typeface="Calibri" pitchFamily="34" charset="-120"/>
              </a:rPr>
              <a:t>↓</a:t>
            </a:r>
            <a:endParaRPr lang="en-US" sz="1400" dirty="0"/>
          </a:p>
        </p:txBody>
      </p:sp>
      <p:sp>
        <p:nvSpPr>
          <p:cNvPr id="31" name="Shape 29"/>
          <p:cNvSpPr/>
          <p:nvPr/>
        </p:nvSpPr>
        <p:spPr>
          <a:xfrm>
            <a:off x="6675120" y="5294376"/>
            <a:ext cx="4389120" cy="502920"/>
          </a:xfrm>
          <a:prstGeom prst="roundRect">
            <a:avLst>
              <a:gd name="adj" fmla="val 10909"/>
            </a:avLst>
          </a:prstGeom>
          <a:solidFill>
            <a:srgbClr val="1D4ED8">
              <a:alpha val="18000"/>
            </a:srgbClr>
          </a:solidFill>
          <a:ln w="12700">
            <a:solidFill>
              <a:srgbClr val="1D4ED8"/>
            </a:solidFill>
            <a:prstDash val="solid"/>
          </a:ln>
        </p:spPr>
        <p:txBody>
          <a:bodyPr/>
          <a:lstStyle/>
          <a:p>
            <a:endParaRPr lang="en-US"/>
          </a:p>
        </p:txBody>
      </p:sp>
      <p:sp>
        <p:nvSpPr>
          <p:cNvPr id="32" name="Text 30"/>
          <p:cNvSpPr/>
          <p:nvPr/>
        </p:nvSpPr>
        <p:spPr>
          <a:xfrm>
            <a:off x="6812280" y="5294376"/>
            <a:ext cx="4160520" cy="502920"/>
          </a:xfrm>
          <a:prstGeom prst="rect">
            <a:avLst/>
          </a:prstGeom>
          <a:noFill/>
          <a:ln/>
        </p:spPr>
        <p:txBody>
          <a:bodyPr wrap="square"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 Claude + context → ✅ grounded answer</a:t>
            </a:r>
            <a:endParaRPr lang="en-US" sz="1200" dirty="0"/>
          </a:p>
        </p:txBody>
      </p:sp>
      <p:sp>
        <p:nvSpPr>
          <p:cNvPr id="33" name="Text 31"/>
          <p:cNvSpPr/>
          <p:nvPr/>
        </p:nvSpPr>
        <p:spPr>
          <a:xfrm>
            <a:off x="10728655" y="6400800"/>
            <a:ext cx="1097280" cy="274320"/>
          </a:xfrm>
          <a:prstGeom prst="rect">
            <a:avLst/>
          </a:prstGeom>
          <a:noFill/>
          <a:ln/>
        </p:spPr>
        <p:txBody>
          <a:bodyPr wrap="square" rtlCol="0" anchor="ctr"/>
          <a:lstStyle/>
          <a:p>
            <a:pPr marL="0" indent="0" algn="r">
              <a:buNone/>
            </a:pPr>
            <a:r>
              <a:rPr lang="en-US" sz="1000" dirty="0">
                <a:solidFill>
                  <a:srgbClr val="8A9099"/>
                </a:solidFill>
                <a:latin typeface="Courier New" pitchFamily="34" charset="0"/>
                <a:ea typeface="Courier New" pitchFamily="34" charset="-122"/>
                <a:cs typeface="Courier New" pitchFamily="34" charset="-120"/>
              </a:rPr>
              <a:t>06 / 16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rtlCol="0" anchor="ctr"/>
          <a:lstStyle/>
          <a:p>
            <a:pPr marL="0" indent="0" algn="l">
              <a:buNone/>
            </a:pPr>
            <a:r>
              <a:rPr lang="en-US" sz="1200" b="1" kern="0" spc="300" dirty="0">
                <a:solidFill>
                  <a:srgbClr val="2563EB"/>
                </a:solidFill>
                <a:latin typeface="Calibri" pitchFamily="34" charset="0"/>
                <a:ea typeface="Calibri" pitchFamily="34" charset="-122"/>
                <a:cs typeface="Calibri" pitchFamily="34" charset="-120"/>
              </a:rPr>
              <a:t>LAYER 2 · RAG</a:t>
            </a:r>
            <a:endParaRPr lang="en-US" sz="1200" dirty="0"/>
          </a:p>
        </p:txBody>
      </p:sp>
      <p:sp>
        <p:nvSpPr>
          <p:cNvPr id="3" name="Text 1"/>
          <p:cNvSpPr/>
          <p:nvPr/>
        </p:nvSpPr>
        <p:spPr>
          <a:xfrm>
            <a:off x="640080" y="777240"/>
            <a:ext cx="10911535" cy="822960"/>
          </a:xfrm>
          <a:prstGeom prst="rect">
            <a:avLst/>
          </a:prstGeom>
          <a:noFill/>
          <a:ln/>
        </p:spPr>
        <p:txBody>
          <a:bodyPr wrap="square" rtlCol="0" anchor="ctr"/>
          <a:lstStyle/>
          <a:p>
            <a:pPr marL="0" indent="0" algn="l">
              <a:buNone/>
            </a:pPr>
            <a:r>
              <a:rPr lang="en-US" sz="3200" b="1" dirty="0">
                <a:solidFill>
                  <a:srgbClr val="1A1A1A"/>
                </a:solidFill>
                <a:latin typeface="Century Schoolbook" pitchFamily="34" charset="0"/>
                <a:ea typeface="Century Schoolbook" pitchFamily="34" charset="-122"/>
                <a:cs typeface="Century Schoolbook" pitchFamily="34" charset="-120"/>
              </a:rPr>
              <a:t>RAG in ~20 lines with Claude + ChromaDB</a:t>
            </a:r>
            <a:endParaRPr lang="en-US" sz="3200" dirty="0"/>
          </a:p>
        </p:txBody>
      </p:sp>
      <p:sp>
        <p:nvSpPr>
          <p:cNvPr id="4" name="Shape 2"/>
          <p:cNvSpPr/>
          <p:nvPr/>
        </p:nvSpPr>
        <p:spPr>
          <a:xfrm>
            <a:off x="640080" y="1737360"/>
            <a:ext cx="6858000" cy="4663440"/>
          </a:xfrm>
          <a:prstGeom prst="roundRect">
            <a:avLst>
              <a:gd name="adj" fmla="val 1176"/>
            </a:avLst>
          </a:prstGeom>
          <a:solidFill>
            <a:srgbClr val="1E2230"/>
          </a:solidFill>
          <a:ln w="12700">
            <a:solidFill>
              <a:srgbClr val="2E3446"/>
            </a:solidFill>
            <a:prstDash val="solid"/>
          </a:ln>
        </p:spPr>
        <p:txBody>
          <a:bodyPr/>
          <a:lstStyle/>
          <a:p>
            <a:endParaRPr lang="en-US"/>
          </a:p>
        </p:txBody>
      </p:sp>
      <p:sp>
        <p:nvSpPr>
          <p:cNvPr id="5" name="Text 3"/>
          <p:cNvSpPr/>
          <p:nvPr/>
        </p:nvSpPr>
        <p:spPr>
          <a:xfrm>
            <a:off x="6217920" y="1792224"/>
            <a:ext cx="1188720" cy="219456"/>
          </a:xfrm>
          <a:prstGeom prst="rect">
            <a:avLst/>
          </a:prstGeom>
          <a:noFill/>
          <a:ln/>
        </p:spPr>
        <p:txBody>
          <a:bodyPr wrap="square" rtlCol="0" anchor="ctr"/>
          <a:lstStyle/>
          <a:p>
            <a:pPr marL="0" indent="0" algn="r">
              <a:buNone/>
            </a:pPr>
            <a:r>
              <a:rPr lang="en-US" sz="800" b="1" kern="0" spc="100" dirty="0">
                <a:solidFill>
                  <a:srgbClr val="9AA2B5"/>
                </a:solidFill>
                <a:latin typeface="Courier New" pitchFamily="34" charset="0"/>
                <a:ea typeface="Courier New" pitchFamily="34" charset="-122"/>
                <a:cs typeface="Courier New" pitchFamily="34" charset="-120"/>
              </a:rPr>
              <a:t>PYTHON</a:t>
            </a:r>
            <a:endParaRPr lang="en-US" sz="800" dirty="0"/>
          </a:p>
        </p:txBody>
      </p:sp>
      <p:sp>
        <p:nvSpPr>
          <p:cNvPr id="6" name="Text 4"/>
          <p:cNvSpPr/>
          <p:nvPr/>
        </p:nvSpPr>
        <p:spPr>
          <a:xfrm>
            <a:off x="804672" y="1865376"/>
            <a:ext cx="6528816" cy="4407408"/>
          </a:xfrm>
          <a:prstGeom prst="rect">
            <a:avLst/>
          </a:prstGeom>
          <a:noFill/>
          <a:ln/>
        </p:spPr>
        <p:txBody>
          <a:bodyPr wrap="square" rtlCol="0" anchor="t"/>
          <a:lstStyle/>
          <a:p>
            <a:pPr marL="0" indent="0" algn="l">
              <a:lnSpc>
                <a:spcPct val="115000"/>
              </a:lnSpc>
              <a:buNone/>
            </a:pPr>
            <a:r>
              <a:rPr lang="en-US" sz="950" dirty="0">
                <a:solidFill>
                  <a:srgbClr val="FF7B72"/>
                </a:solidFill>
                <a:latin typeface="Courier New" pitchFamily="34" charset="0"/>
                <a:ea typeface="Courier New" pitchFamily="34" charset="-122"/>
                <a:cs typeface="Courier New" pitchFamily="34" charset="-120"/>
              </a:rPr>
              <a:t>import anthropic, chromadb
</a:t>
            </a:r>
            <a:r>
              <a:rPr lang="en-US" sz="950" dirty="0">
                <a:solidFill>
                  <a:srgbClr val="8B949E"/>
                </a:solidFill>
                <a:latin typeface="Courier New" pitchFamily="34" charset="0"/>
                <a:ea typeface="Courier New" pitchFamily="34" charset="-122"/>
                <a:cs typeface="Courier New" pitchFamily="34" charset="-120"/>
              </a:rPr>
              <a:t># 1 · Ingest documents into vector store
</a:t>
            </a:r>
            <a:r>
              <a:rPr lang="en-US" sz="950" dirty="0">
                <a:solidFill>
                  <a:srgbClr val="C9D1D9"/>
                </a:solidFill>
                <a:latin typeface="Courier New" pitchFamily="34" charset="0"/>
                <a:ea typeface="Courier New" pitchFamily="34" charset="-122"/>
                <a:cs typeface="Courier New" pitchFamily="34" charset="-120"/>
              </a:rPr>
              <a:t>col = chromadb.Client().create_collection("jll_leases")
col.add(
</a:t>
            </a:r>
            <a:r>
              <a:rPr lang="en-US" sz="950" dirty="0">
                <a:solidFill>
                  <a:srgbClr val="A5D6FF"/>
                </a:solidFill>
                <a:latin typeface="Courier New" pitchFamily="34" charset="0"/>
                <a:ea typeface="Courier New" pitchFamily="34" charset="-122"/>
                <a:cs typeface="Courier New" pitchFamily="34" charset="-120"/>
              </a:rPr>
              <a:t>  documents=["ABC Corp lease expires 2025-12-31.
              Rent: Rs 4,50,000.",
             "Parking: 2 spots / 1000 sqft."],
  ids=["c1", "c2"])
</a:t>
            </a:r>
            <a:r>
              <a:rPr lang="en-US" sz="950" dirty="0">
                <a:solidFill>
                  <a:srgbClr val="8B949E"/>
                </a:solidFill>
                <a:latin typeface="Courier New" pitchFamily="34" charset="0"/>
                <a:ea typeface="Courier New" pitchFamily="34" charset="-122"/>
                <a:cs typeface="Courier New" pitchFamily="34" charset="-120"/>
              </a:rPr>
              <a:t># 2 · Retrieve relevant chunks
</a:t>
            </a:r>
            <a:r>
              <a:rPr lang="en-US" sz="950" dirty="0">
                <a:solidFill>
                  <a:srgbClr val="C9D1D9"/>
                </a:solidFill>
                <a:latin typeface="Courier New" pitchFamily="34" charset="0"/>
                <a:ea typeface="Courier New" pitchFamily="34" charset="-122"/>
                <a:cs typeface="Courier New" pitchFamily="34" charset="-120"/>
              </a:rPr>
              <a:t>r = col.query(query_texts=["When does ABC lease end?"],
              n_results=3)
ctx = "\n".join(r["documents"][0])
</a:t>
            </a:r>
            <a:r>
              <a:rPr lang="en-US" sz="950" dirty="0">
                <a:solidFill>
                  <a:srgbClr val="8B949E"/>
                </a:solidFill>
                <a:latin typeface="Courier New" pitchFamily="34" charset="0"/>
                <a:ea typeface="Courier New" pitchFamily="34" charset="-122"/>
                <a:cs typeface="Courier New" pitchFamily="34" charset="-120"/>
              </a:rPr>
              <a:t># 3 · Generate a grounded response
</a:t>
            </a:r>
            <a:r>
              <a:rPr lang="en-US" sz="950" dirty="0">
                <a:solidFill>
                  <a:srgbClr val="C9D1D9"/>
                </a:solidFill>
                <a:latin typeface="Courier New" pitchFamily="34" charset="0"/>
                <a:ea typeface="Courier New" pitchFamily="34" charset="-122"/>
                <a:cs typeface="Courier New" pitchFamily="34" charset="-120"/>
              </a:rPr>
              <a:t>resp = anthropic.Anthropic().messages.create(
</a:t>
            </a:r>
            <a:r>
              <a:rPr lang="en-US" sz="950" dirty="0">
                <a:solidFill>
                  <a:srgbClr val="A5D6FF"/>
                </a:solidFill>
                <a:latin typeface="Courier New" pitchFamily="34" charset="0"/>
                <a:ea typeface="Courier New" pitchFamily="34" charset="-122"/>
                <a:cs typeface="Courier New" pitchFamily="34" charset="-120"/>
              </a:rPr>
              <a:t>  model="claude-sonnet-4", max_tokens=500,
  system="Answer using ONLY the context.
          Say 'I don't know' if absent.",
  messages=[{"role":"user",
    "content": f"Context:\n{ctx}\n\nQ: …"}])
</a:t>
            </a:r>
            <a:r>
              <a:rPr lang="en-US" sz="950" dirty="0">
                <a:solidFill>
                  <a:srgbClr val="8B949E"/>
                </a:solidFill>
                <a:latin typeface="Courier New" pitchFamily="34" charset="0"/>
                <a:ea typeface="Courier New" pitchFamily="34" charset="-122"/>
                <a:cs typeface="Courier New" pitchFamily="34" charset="-120"/>
              </a:rPr>
              <a:t># → "ABC Corp's lease expires 2025-12-31…"</a:t>
            </a:r>
            <a:endParaRPr lang="en-US" sz="950" dirty="0"/>
          </a:p>
        </p:txBody>
      </p:sp>
      <p:sp>
        <p:nvSpPr>
          <p:cNvPr id="7" name="Shape 5"/>
          <p:cNvSpPr/>
          <p:nvPr/>
        </p:nvSpPr>
        <p:spPr>
          <a:xfrm>
            <a:off x="7772400" y="1737360"/>
            <a:ext cx="3749040" cy="4663440"/>
          </a:xfrm>
          <a:prstGeom prst="roundRect">
            <a:avLst>
              <a:gd name="adj" fmla="val 2195"/>
            </a:avLst>
          </a:prstGeom>
          <a:solidFill>
            <a:srgbClr val="F4F5F7"/>
          </a:solidFill>
          <a:ln w="12700">
            <a:solidFill>
              <a:srgbClr val="DADDE2"/>
            </a:solidFill>
            <a:prstDash val="solid"/>
          </a:ln>
        </p:spPr>
        <p:txBody>
          <a:bodyPr/>
          <a:lstStyle/>
          <a:p>
            <a:endParaRPr lang="en-US"/>
          </a:p>
        </p:txBody>
      </p:sp>
      <p:sp>
        <p:nvSpPr>
          <p:cNvPr id="8" name="Text 6"/>
          <p:cNvSpPr/>
          <p:nvPr/>
        </p:nvSpPr>
        <p:spPr>
          <a:xfrm>
            <a:off x="8001000" y="1920240"/>
            <a:ext cx="3291840" cy="320040"/>
          </a:xfrm>
          <a:prstGeom prst="rect">
            <a:avLst/>
          </a:prstGeom>
          <a:noFill/>
          <a:ln/>
        </p:spPr>
        <p:txBody>
          <a:bodyPr wrap="square" rtlCol="0" anchor="ctr"/>
          <a:lstStyle/>
          <a:p>
            <a:pPr marL="0" indent="0">
              <a:buNone/>
            </a:pPr>
            <a:r>
              <a:rPr lang="en-US" sz="1400" b="1" dirty="0">
                <a:solidFill>
                  <a:srgbClr val="2563EB"/>
                </a:solidFill>
                <a:latin typeface="Calibri" pitchFamily="34" charset="0"/>
                <a:ea typeface="Calibri" pitchFamily="34" charset="-122"/>
                <a:cs typeface="Calibri" pitchFamily="34" charset="-120"/>
              </a:rPr>
              <a:t>What to remember</a:t>
            </a:r>
            <a:endParaRPr lang="en-US" sz="1400" dirty="0"/>
          </a:p>
        </p:txBody>
      </p:sp>
      <p:sp>
        <p:nvSpPr>
          <p:cNvPr id="9" name="Text 7"/>
          <p:cNvSpPr/>
          <p:nvPr/>
        </p:nvSpPr>
        <p:spPr>
          <a:xfrm>
            <a:off x="8001000" y="2331720"/>
            <a:ext cx="3337560" cy="3931920"/>
          </a:xfrm>
          <a:prstGeom prst="rect">
            <a:avLst/>
          </a:prstGeom>
          <a:noFill/>
          <a:ln/>
        </p:spPr>
        <p:txBody>
          <a:bodyPr wrap="square" rtlCol="0" anchor="t"/>
          <a:lstStyle/>
          <a:p>
            <a:pPr marL="342900" indent="-342900" algn="l">
              <a:spcAft>
                <a:spcPts val="1000"/>
              </a:spcAft>
              <a:buSzPct val="100000"/>
              <a:buChar char="•"/>
            </a:pPr>
            <a:r>
              <a:rPr lang="en-US" sz="1200" b="1" dirty="0">
                <a:solidFill>
                  <a:srgbClr val="1A1A1A"/>
                </a:solidFill>
                <a:latin typeface="Calibri" pitchFamily="34" charset="0"/>
                <a:ea typeface="Calibri" pitchFamily="34" charset="-122"/>
                <a:cs typeface="Calibri" pitchFamily="34" charset="-120"/>
              </a:rPr>
              <a:t>Three steps: ingest → retrieve → generate.</a:t>
            </a:r>
            <a:endParaRPr lang="en-US" sz="1200" dirty="0"/>
          </a:p>
          <a:p>
            <a:pPr marL="342900" indent="-342900" algn="l">
              <a:spcAft>
                <a:spcPts val="1000"/>
              </a:spcAft>
              <a:buSzPct val="100000"/>
              <a:buChar char="•"/>
            </a:pPr>
            <a:r>
              <a:rPr lang="en-US" sz="1200" dirty="0">
                <a:solidFill>
                  <a:srgbClr val="5A5F66"/>
                </a:solidFill>
                <a:latin typeface="Calibri" pitchFamily="34" charset="0"/>
                <a:ea typeface="Calibri" pitchFamily="34" charset="-122"/>
                <a:cs typeface="Calibri" pitchFamily="34" charset="-120"/>
              </a:rPr>
              <a:t>Grounding lives in the system prompt: “only use the context.”</a:t>
            </a:r>
            <a:endParaRPr lang="en-US" sz="1200" dirty="0"/>
          </a:p>
          <a:p>
            <a:pPr marL="342900" indent="-342900" algn="l">
              <a:spcAft>
                <a:spcPts val="1000"/>
              </a:spcAft>
              <a:buSzPct val="100000"/>
              <a:buChar char="•"/>
            </a:pPr>
            <a:r>
              <a:rPr lang="en-US" sz="1200" b="1" dirty="0">
                <a:solidFill>
                  <a:srgbClr val="1A1A1A"/>
                </a:solidFill>
                <a:latin typeface="Calibri" pitchFamily="34" charset="0"/>
                <a:ea typeface="Calibri" pitchFamily="34" charset="-122"/>
                <a:cs typeface="Calibri" pitchFamily="34" charset="-120"/>
              </a:rPr>
              <a:t>Chunking quality dominates answer quality.</a:t>
            </a:r>
            <a:endParaRPr lang="en-US" sz="1200" dirty="0"/>
          </a:p>
          <a:p>
            <a:pPr marL="342900" indent="-342900" algn="l">
              <a:spcAft>
                <a:spcPts val="1000"/>
              </a:spcAft>
              <a:buSzPct val="100000"/>
              <a:buChar char="•"/>
            </a:pPr>
            <a:r>
              <a:rPr lang="en-US" sz="1200" dirty="0">
                <a:solidFill>
                  <a:srgbClr val="5A5F66"/>
                </a:solidFill>
                <a:latin typeface="Calibri" pitchFamily="34" charset="0"/>
                <a:ea typeface="Calibri" pitchFamily="34" charset="-122"/>
                <a:cs typeface="Calibri" pitchFamily="34" charset="-120"/>
              </a:rPr>
              <a:t>Add a reranker before you ship — top 3-5 beats top 20.</a:t>
            </a:r>
            <a:endParaRPr lang="en-US" sz="1200" dirty="0"/>
          </a:p>
          <a:p>
            <a:pPr marL="342900" indent="-342900" algn="l">
              <a:spcAft>
                <a:spcPts val="1000"/>
              </a:spcAft>
              <a:buSzPct val="100000"/>
              <a:buChar char="•"/>
            </a:pPr>
            <a:r>
              <a:rPr lang="en-US" sz="1200" dirty="0">
                <a:solidFill>
                  <a:srgbClr val="5A5F66"/>
                </a:solidFill>
                <a:latin typeface="Calibri" pitchFamily="34" charset="0"/>
                <a:ea typeface="Calibri" pitchFamily="34" charset="-122"/>
                <a:cs typeface="Calibri" pitchFamily="34" charset="-120"/>
              </a:rPr>
              <a:t>Use hybrid search (vector + BM25) so exact IDs aren't missed.</a:t>
            </a:r>
            <a:endParaRPr lang="en-US" sz="1200" dirty="0"/>
          </a:p>
          <a:p>
            <a:pPr marL="342900" indent="-342900" algn="l">
              <a:spcAft>
                <a:spcPts val="1000"/>
              </a:spcAft>
              <a:buSzPct val="100000"/>
              <a:buChar char="•"/>
            </a:pPr>
            <a:r>
              <a:rPr lang="en-US" sz="1200" b="1" dirty="0">
                <a:solidFill>
                  <a:srgbClr val="059669"/>
                </a:solidFill>
                <a:latin typeface="Calibri" pitchFamily="34" charset="0"/>
                <a:ea typeface="Calibri" pitchFamily="34" charset="-122"/>
                <a:cs typeface="Calibri" pitchFamily="34" charset="-120"/>
              </a:rPr>
              <a:t>Data stays fresh — no retraining to update knowledge.</a:t>
            </a:r>
            <a:endParaRPr lang="en-US" sz="1200" dirty="0"/>
          </a:p>
        </p:txBody>
      </p:sp>
      <p:sp>
        <p:nvSpPr>
          <p:cNvPr id="10" name="Text 8"/>
          <p:cNvSpPr/>
          <p:nvPr/>
        </p:nvSpPr>
        <p:spPr>
          <a:xfrm>
            <a:off x="10728655" y="6400800"/>
            <a:ext cx="1097280" cy="274320"/>
          </a:xfrm>
          <a:prstGeom prst="rect">
            <a:avLst/>
          </a:prstGeom>
          <a:noFill/>
          <a:ln/>
        </p:spPr>
        <p:txBody>
          <a:bodyPr wrap="square" rtlCol="0" anchor="ctr"/>
          <a:lstStyle/>
          <a:p>
            <a:pPr marL="0" indent="0" algn="r">
              <a:buNone/>
            </a:pPr>
            <a:r>
              <a:rPr lang="en-US" sz="1000" dirty="0">
                <a:solidFill>
                  <a:srgbClr val="8A9099"/>
                </a:solidFill>
                <a:latin typeface="Courier New" pitchFamily="34" charset="0"/>
                <a:ea typeface="Courier New" pitchFamily="34" charset="-122"/>
                <a:cs typeface="Courier New" pitchFamily="34" charset="-120"/>
              </a:rPr>
              <a:t>07 / 16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rtlCol="0" anchor="ctr"/>
          <a:lstStyle/>
          <a:p>
            <a:pPr marL="0" indent="0" algn="l">
              <a:buNone/>
            </a:pPr>
            <a:r>
              <a:rPr lang="en-US" sz="1200" b="1" kern="0" spc="300" dirty="0">
                <a:solidFill>
                  <a:srgbClr val="E30613"/>
                </a:solidFill>
                <a:latin typeface="Calibri" pitchFamily="34" charset="0"/>
                <a:ea typeface="Calibri" pitchFamily="34" charset="-122"/>
                <a:cs typeface="Calibri" pitchFamily="34" charset="-120"/>
              </a:rPr>
              <a:t>LAYER 3 · FINE-TUNING</a:t>
            </a:r>
            <a:endParaRPr lang="en-US" sz="1200" dirty="0"/>
          </a:p>
        </p:txBody>
      </p:sp>
      <p:sp>
        <p:nvSpPr>
          <p:cNvPr id="3" name="Text 1"/>
          <p:cNvSpPr/>
          <p:nvPr/>
        </p:nvSpPr>
        <p:spPr>
          <a:xfrm>
            <a:off x="640080" y="777240"/>
            <a:ext cx="10911535" cy="822960"/>
          </a:xfrm>
          <a:prstGeom prst="rect">
            <a:avLst/>
          </a:prstGeom>
          <a:noFill/>
          <a:ln/>
        </p:spPr>
        <p:txBody>
          <a:bodyPr wrap="square" rtlCol="0" anchor="ctr"/>
          <a:lstStyle/>
          <a:p>
            <a:pPr marL="0" indent="0" algn="l">
              <a:buNone/>
            </a:pPr>
            <a:r>
              <a:rPr lang="en-US" sz="3200" b="1" dirty="0">
                <a:solidFill>
                  <a:srgbClr val="1A1A1A"/>
                </a:solidFill>
                <a:latin typeface="Century Schoolbook" pitchFamily="34" charset="0"/>
                <a:ea typeface="Century Schoolbook" pitchFamily="34" charset="-122"/>
                <a:cs typeface="Century Schoolbook" pitchFamily="34" charset="-120"/>
              </a:rPr>
              <a:t>🔧 Fine-Tuning — the Behavior Layer</a:t>
            </a:r>
            <a:endParaRPr lang="en-US" sz="3200" dirty="0"/>
          </a:p>
        </p:txBody>
      </p:sp>
      <p:sp>
        <p:nvSpPr>
          <p:cNvPr id="4" name="Text 2"/>
          <p:cNvSpPr/>
          <p:nvPr/>
        </p:nvSpPr>
        <p:spPr>
          <a:xfrm>
            <a:off x="640080" y="1554480"/>
            <a:ext cx="10515600" cy="320040"/>
          </a:xfrm>
          <a:prstGeom prst="rect">
            <a:avLst/>
          </a:prstGeom>
          <a:noFill/>
          <a:ln/>
        </p:spPr>
        <p:txBody>
          <a:bodyPr wrap="square" rtlCol="0" anchor="ctr"/>
          <a:lstStyle/>
          <a:p>
            <a:pPr marL="0" indent="0">
              <a:buNone/>
            </a:pPr>
            <a:r>
              <a:rPr lang="en-US" sz="1200" i="1" dirty="0">
                <a:solidFill>
                  <a:srgbClr val="8A9099"/>
                </a:solidFill>
                <a:latin typeface="Calibri" pitchFamily="34" charset="0"/>
                <a:ea typeface="Calibri" pitchFamily="34" charset="-122"/>
                <a:cs typeface="Calibri" pitchFamily="34" charset="-120"/>
              </a:rPr>
              <a:t>“Fine-tuning updates a model's internal weights using domain data to change its default behavior.”  — Google Whitepaper</a:t>
            </a:r>
            <a:endParaRPr lang="en-US" sz="1200" dirty="0"/>
          </a:p>
        </p:txBody>
      </p:sp>
      <p:sp>
        <p:nvSpPr>
          <p:cNvPr id="5" name="Text 3"/>
          <p:cNvSpPr/>
          <p:nvPr/>
        </p:nvSpPr>
        <p:spPr>
          <a:xfrm>
            <a:off x="640080" y="2011680"/>
            <a:ext cx="4572000" cy="320040"/>
          </a:xfrm>
          <a:prstGeom prst="rect">
            <a:avLst/>
          </a:prstGeom>
          <a:noFill/>
          <a:ln/>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Process flow</a:t>
            </a:r>
            <a:endParaRPr lang="en-US" sz="1400" dirty="0"/>
          </a:p>
        </p:txBody>
      </p:sp>
      <p:sp>
        <p:nvSpPr>
          <p:cNvPr id="6" name="Shape 4"/>
          <p:cNvSpPr/>
          <p:nvPr/>
        </p:nvSpPr>
        <p:spPr>
          <a:xfrm>
            <a:off x="640080" y="2377440"/>
            <a:ext cx="4937760" cy="566928"/>
          </a:xfrm>
          <a:prstGeom prst="roundRect">
            <a:avLst>
              <a:gd name="adj" fmla="val 14516"/>
            </a:avLst>
          </a:prstGeom>
          <a:solidFill>
            <a:srgbClr val="F4F5F7"/>
          </a:solidFill>
          <a:ln w="12700">
            <a:solidFill>
              <a:srgbClr val="DADDE2"/>
            </a:solidFill>
            <a:prstDash val="solid"/>
          </a:ln>
        </p:spPr>
        <p:txBody>
          <a:bodyPr/>
          <a:lstStyle/>
          <a:p>
            <a:endParaRPr lang="en-US"/>
          </a:p>
        </p:txBody>
      </p:sp>
      <p:sp>
        <p:nvSpPr>
          <p:cNvPr id="7" name="Shape 5"/>
          <p:cNvSpPr/>
          <p:nvPr/>
        </p:nvSpPr>
        <p:spPr>
          <a:xfrm>
            <a:off x="822960" y="2496312"/>
            <a:ext cx="329184" cy="329184"/>
          </a:xfrm>
          <a:prstGeom prst="ellipse">
            <a:avLst/>
          </a:prstGeom>
          <a:solidFill>
            <a:srgbClr val="1D4ED8">
              <a:alpha val="25000"/>
            </a:srgbClr>
          </a:solidFill>
          <a:ln w="12700">
            <a:solidFill>
              <a:srgbClr val="1D4ED8"/>
            </a:solidFill>
            <a:prstDash val="solid"/>
          </a:ln>
        </p:spPr>
        <p:txBody>
          <a:bodyPr/>
          <a:lstStyle/>
          <a:p>
            <a:endParaRPr lang="en-US"/>
          </a:p>
        </p:txBody>
      </p:sp>
      <p:sp>
        <p:nvSpPr>
          <p:cNvPr id="8" name="Text 6"/>
          <p:cNvSpPr/>
          <p:nvPr/>
        </p:nvSpPr>
        <p:spPr>
          <a:xfrm>
            <a:off x="822960" y="2496312"/>
            <a:ext cx="329184" cy="329184"/>
          </a:xfrm>
          <a:prstGeom prst="rect">
            <a:avLst/>
          </a:prstGeom>
          <a:noFill/>
          <a:ln/>
        </p:spPr>
        <p:txBody>
          <a:bodyPr wrap="square" rtlCol="0" anchor="ctr"/>
          <a:lstStyle/>
          <a:p>
            <a:pPr marL="0" indent="0" algn="ctr">
              <a:buNone/>
            </a:pPr>
            <a:r>
              <a:rPr lang="en-US" sz="1200" b="1" dirty="0">
                <a:solidFill>
                  <a:srgbClr val="1D4ED8"/>
                </a:solidFill>
                <a:latin typeface="Courier New" pitchFamily="34" charset="0"/>
                <a:ea typeface="Courier New" pitchFamily="34" charset="-122"/>
                <a:cs typeface="Courier New" pitchFamily="34" charset="-120"/>
              </a:rPr>
              <a:t>1</a:t>
            </a:r>
            <a:endParaRPr lang="en-US" sz="1200" dirty="0"/>
          </a:p>
        </p:txBody>
      </p:sp>
      <p:sp>
        <p:nvSpPr>
          <p:cNvPr id="9" name="Text 7"/>
          <p:cNvSpPr/>
          <p:nvPr/>
        </p:nvSpPr>
        <p:spPr>
          <a:xfrm>
            <a:off x="1298448" y="2432304"/>
            <a:ext cx="4114800" cy="274320"/>
          </a:xfrm>
          <a:prstGeom prst="rect">
            <a:avLst/>
          </a:prstGeom>
          <a:noFill/>
          <a:ln/>
        </p:spPr>
        <p:txBody>
          <a:bodyPr wrap="square"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Curate training data (JSONL)</a:t>
            </a:r>
            <a:endParaRPr lang="en-US" sz="1200" dirty="0"/>
          </a:p>
        </p:txBody>
      </p:sp>
      <p:sp>
        <p:nvSpPr>
          <p:cNvPr id="10" name="Text 8"/>
          <p:cNvSpPr/>
          <p:nvPr/>
        </p:nvSpPr>
        <p:spPr>
          <a:xfrm>
            <a:off x="1298448" y="2688336"/>
            <a:ext cx="4114800" cy="256032"/>
          </a:xfrm>
          <a:prstGeom prst="rect">
            <a:avLst/>
          </a:prstGeom>
          <a:noFill/>
          <a:ln/>
        </p:spPr>
        <p:txBody>
          <a:bodyPr wrap="square" rtlCol="0" anchor="ctr"/>
          <a:lstStyle/>
          <a:p>
            <a:pPr marL="0" indent="0">
              <a:buNone/>
            </a:pPr>
            <a:r>
              <a:rPr lang="en-US" sz="1000" dirty="0">
                <a:solidFill>
                  <a:srgbClr val="8A9099"/>
                </a:solidFill>
                <a:latin typeface="Calibri" pitchFamily="34" charset="0"/>
                <a:ea typeface="Calibri" pitchFamily="34" charset="-122"/>
                <a:cs typeface="Calibri" pitchFamily="34" charset="-120"/>
              </a:rPr>
              <a:t>50–500+ high-quality examples</a:t>
            </a:r>
            <a:endParaRPr lang="en-US" sz="1000" dirty="0"/>
          </a:p>
        </p:txBody>
      </p:sp>
      <p:sp>
        <p:nvSpPr>
          <p:cNvPr id="11" name="Shape 9"/>
          <p:cNvSpPr/>
          <p:nvPr/>
        </p:nvSpPr>
        <p:spPr>
          <a:xfrm>
            <a:off x="640080" y="3035808"/>
            <a:ext cx="4937760" cy="566928"/>
          </a:xfrm>
          <a:prstGeom prst="roundRect">
            <a:avLst>
              <a:gd name="adj" fmla="val 14516"/>
            </a:avLst>
          </a:prstGeom>
          <a:solidFill>
            <a:srgbClr val="F4F5F7"/>
          </a:solidFill>
          <a:ln w="12700">
            <a:solidFill>
              <a:srgbClr val="DADDE2"/>
            </a:solidFill>
            <a:prstDash val="solid"/>
          </a:ln>
        </p:spPr>
        <p:txBody>
          <a:bodyPr/>
          <a:lstStyle/>
          <a:p>
            <a:endParaRPr lang="en-US"/>
          </a:p>
        </p:txBody>
      </p:sp>
      <p:sp>
        <p:nvSpPr>
          <p:cNvPr id="12" name="Shape 10"/>
          <p:cNvSpPr/>
          <p:nvPr/>
        </p:nvSpPr>
        <p:spPr>
          <a:xfrm>
            <a:off x="822960" y="3154680"/>
            <a:ext cx="329184" cy="329184"/>
          </a:xfrm>
          <a:prstGeom prst="ellipse">
            <a:avLst/>
          </a:prstGeom>
          <a:solidFill>
            <a:srgbClr val="5B21B6">
              <a:alpha val="25000"/>
            </a:srgbClr>
          </a:solidFill>
          <a:ln w="12700">
            <a:solidFill>
              <a:srgbClr val="5B21B6"/>
            </a:solidFill>
            <a:prstDash val="solid"/>
          </a:ln>
        </p:spPr>
        <p:txBody>
          <a:bodyPr/>
          <a:lstStyle/>
          <a:p>
            <a:endParaRPr lang="en-US"/>
          </a:p>
        </p:txBody>
      </p:sp>
      <p:sp>
        <p:nvSpPr>
          <p:cNvPr id="13" name="Text 11"/>
          <p:cNvSpPr/>
          <p:nvPr/>
        </p:nvSpPr>
        <p:spPr>
          <a:xfrm>
            <a:off x="822960" y="3154680"/>
            <a:ext cx="329184" cy="329184"/>
          </a:xfrm>
          <a:prstGeom prst="rect">
            <a:avLst/>
          </a:prstGeom>
          <a:noFill/>
          <a:ln/>
        </p:spPr>
        <p:txBody>
          <a:bodyPr wrap="square" rtlCol="0" anchor="ctr"/>
          <a:lstStyle/>
          <a:p>
            <a:pPr marL="0" indent="0" algn="ctr">
              <a:buNone/>
            </a:pPr>
            <a:r>
              <a:rPr lang="en-US" sz="1200" b="1" dirty="0">
                <a:solidFill>
                  <a:srgbClr val="5B21B6"/>
                </a:solidFill>
                <a:latin typeface="Courier New" pitchFamily="34" charset="0"/>
                <a:ea typeface="Courier New" pitchFamily="34" charset="-122"/>
                <a:cs typeface="Courier New" pitchFamily="34" charset="-120"/>
              </a:rPr>
              <a:t>2</a:t>
            </a:r>
            <a:endParaRPr lang="en-US" sz="1200" dirty="0"/>
          </a:p>
        </p:txBody>
      </p:sp>
      <p:sp>
        <p:nvSpPr>
          <p:cNvPr id="14" name="Text 12"/>
          <p:cNvSpPr/>
          <p:nvPr/>
        </p:nvSpPr>
        <p:spPr>
          <a:xfrm>
            <a:off x="1298448" y="3090672"/>
            <a:ext cx="4114800" cy="274320"/>
          </a:xfrm>
          <a:prstGeom prst="rect">
            <a:avLst/>
          </a:prstGeom>
          <a:noFill/>
          <a:ln/>
        </p:spPr>
        <p:txBody>
          <a:bodyPr wrap="square"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Clean &amp; validate</a:t>
            </a:r>
            <a:endParaRPr lang="en-US" sz="1200" dirty="0"/>
          </a:p>
        </p:txBody>
      </p:sp>
      <p:sp>
        <p:nvSpPr>
          <p:cNvPr id="15" name="Text 13"/>
          <p:cNvSpPr/>
          <p:nvPr/>
        </p:nvSpPr>
        <p:spPr>
          <a:xfrm>
            <a:off x="1298448" y="3346704"/>
            <a:ext cx="4114800" cy="256032"/>
          </a:xfrm>
          <a:prstGeom prst="rect">
            <a:avLst/>
          </a:prstGeom>
          <a:noFill/>
          <a:ln/>
        </p:spPr>
        <p:txBody>
          <a:bodyPr wrap="square" rtlCol="0" anchor="ctr"/>
          <a:lstStyle/>
          <a:p>
            <a:pPr marL="0" indent="0">
              <a:buNone/>
            </a:pPr>
            <a:r>
              <a:rPr lang="en-US" sz="1000" dirty="0">
                <a:solidFill>
                  <a:srgbClr val="8A9099"/>
                </a:solidFill>
                <a:latin typeface="Calibri" pitchFamily="34" charset="0"/>
                <a:ea typeface="Calibri" pitchFamily="34" charset="-122"/>
                <a:cs typeface="Calibri" pitchFamily="34" charset="-120"/>
              </a:rPr>
              <a:t>Remove noise, ensure consistency</a:t>
            </a:r>
            <a:endParaRPr lang="en-US" sz="1000" dirty="0"/>
          </a:p>
        </p:txBody>
      </p:sp>
      <p:sp>
        <p:nvSpPr>
          <p:cNvPr id="16" name="Shape 14"/>
          <p:cNvSpPr/>
          <p:nvPr/>
        </p:nvSpPr>
        <p:spPr>
          <a:xfrm>
            <a:off x="640080" y="3694176"/>
            <a:ext cx="4937760" cy="566928"/>
          </a:xfrm>
          <a:prstGeom prst="roundRect">
            <a:avLst>
              <a:gd name="adj" fmla="val 14516"/>
            </a:avLst>
          </a:prstGeom>
          <a:solidFill>
            <a:srgbClr val="F4F5F7"/>
          </a:solidFill>
          <a:ln w="12700">
            <a:solidFill>
              <a:srgbClr val="DADDE2"/>
            </a:solidFill>
            <a:prstDash val="solid"/>
          </a:ln>
        </p:spPr>
        <p:txBody>
          <a:bodyPr/>
          <a:lstStyle/>
          <a:p>
            <a:endParaRPr lang="en-US"/>
          </a:p>
        </p:txBody>
      </p:sp>
      <p:sp>
        <p:nvSpPr>
          <p:cNvPr id="17" name="Shape 15"/>
          <p:cNvSpPr/>
          <p:nvPr/>
        </p:nvSpPr>
        <p:spPr>
          <a:xfrm>
            <a:off x="822960" y="3813048"/>
            <a:ext cx="329184" cy="329184"/>
          </a:xfrm>
          <a:prstGeom prst="ellipse">
            <a:avLst/>
          </a:prstGeom>
          <a:solidFill>
            <a:srgbClr val="E30613">
              <a:alpha val="25000"/>
            </a:srgbClr>
          </a:solidFill>
          <a:ln w="12700">
            <a:solidFill>
              <a:srgbClr val="E30613"/>
            </a:solidFill>
            <a:prstDash val="solid"/>
          </a:ln>
        </p:spPr>
        <p:txBody>
          <a:bodyPr/>
          <a:lstStyle/>
          <a:p>
            <a:endParaRPr lang="en-US"/>
          </a:p>
        </p:txBody>
      </p:sp>
      <p:sp>
        <p:nvSpPr>
          <p:cNvPr id="18" name="Text 16"/>
          <p:cNvSpPr/>
          <p:nvPr/>
        </p:nvSpPr>
        <p:spPr>
          <a:xfrm>
            <a:off x="822960" y="3813048"/>
            <a:ext cx="329184" cy="329184"/>
          </a:xfrm>
          <a:prstGeom prst="rect">
            <a:avLst/>
          </a:prstGeom>
          <a:noFill/>
          <a:ln/>
        </p:spPr>
        <p:txBody>
          <a:bodyPr wrap="square" rtlCol="0" anchor="ctr"/>
          <a:lstStyle/>
          <a:p>
            <a:pPr marL="0" indent="0" algn="ctr">
              <a:buNone/>
            </a:pPr>
            <a:r>
              <a:rPr lang="en-US" sz="1200" b="1" dirty="0">
                <a:solidFill>
                  <a:srgbClr val="E30613"/>
                </a:solidFill>
                <a:latin typeface="Courier New" pitchFamily="34" charset="0"/>
                <a:ea typeface="Courier New" pitchFamily="34" charset="-122"/>
                <a:cs typeface="Courier New" pitchFamily="34" charset="-120"/>
              </a:rPr>
              <a:t>3</a:t>
            </a:r>
            <a:endParaRPr lang="en-US" sz="1200" dirty="0"/>
          </a:p>
        </p:txBody>
      </p:sp>
      <p:sp>
        <p:nvSpPr>
          <p:cNvPr id="19" name="Text 17"/>
          <p:cNvSpPr/>
          <p:nvPr/>
        </p:nvSpPr>
        <p:spPr>
          <a:xfrm>
            <a:off x="1298448" y="3749040"/>
            <a:ext cx="4114800" cy="274320"/>
          </a:xfrm>
          <a:prstGeom prst="rect">
            <a:avLst/>
          </a:prstGeom>
          <a:noFill/>
          <a:ln/>
        </p:spPr>
        <p:txBody>
          <a:bodyPr wrap="square"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Train (SFT)</a:t>
            </a:r>
            <a:endParaRPr lang="en-US" sz="1200" dirty="0"/>
          </a:p>
        </p:txBody>
      </p:sp>
      <p:sp>
        <p:nvSpPr>
          <p:cNvPr id="20" name="Text 18"/>
          <p:cNvSpPr/>
          <p:nvPr/>
        </p:nvSpPr>
        <p:spPr>
          <a:xfrm>
            <a:off x="1298448" y="4005072"/>
            <a:ext cx="4114800" cy="256032"/>
          </a:xfrm>
          <a:prstGeom prst="rect">
            <a:avLst/>
          </a:prstGeom>
          <a:noFill/>
          <a:ln/>
        </p:spPr>
        <p:txBody>
          <a:bodyPr wrap="square" rtlCol="0" anchor="ctr"/>
          <a:lstStyle/>
          <a:p>
            <a:pPr marL="0" indent="0">
              <a:buNone/>
            </a:pPr>
            <a:r>
              <a:rPr lang="en-US" sz="1000" dirty="0">
                <a:solidFill>
                  <a:srgbClr val="8A9099"/>
                </a:solidFill>
                <a:latin typeface="Calibri" pitchFamily="34" charset="0"/>
                <a:ea typeface="Calibri" pitchFamily="34" charset="-122"/>
                <a:cs typeface="Calibri" pitchFamily="34" charset="-120"/>
              </a:rPr>
              <a:t>LoRA / QLoRA on base model</a:t>
            </a:r>
            <a:endParaRPr lang="en-US" sz="1000" dirty="0"/>
          </a:p>
        </p:txBody>
      </p:sp>
      <p:sp>
        <p:nvSpPr>
          <p:cNvPr id="21" name="Shape 19"/>
          <p:cNvSpPr/>
          <p:nvPr/>
        </p:nvSpPr>
        <p:spPr>
          <a:xfrm>
            <a:off x="640080" y="4352544"/>
            <a:ext cx="4937760" cy="566928"/>
          </a:xfrm>
          <a:prstGeom prst="roundRect">
            <a:avLst>
              <a:gd name="adj" fmla="val 14516"/>
            </a:avLst>
          </a:prstGeom>
          <a:solidFill>
            <a:srgbClr val="F4F5F7"/>
          </a:solidFill>
          <a:ln w="12700">
            <a:solidFill>
              <a:srgbClr val="DADDE2"/>
            </a:solidFill>
            <a:prstDash val="solid"/>
          </a:ln>
        </p:spPr>
        <p:txBody>
          <a:bodyPr/>
          <a:lstStyle/>
          <a:p>
            <a:endParaRPr lang="en-US"/>
          </a:p>
        </p:txBody>
      </p:sp>
      <p:sp>
        <p:nvSpPr>
          <p:cNvPr id="22" name="Shape 20"/>
          <p:cNvSpPr/>
          <p:nvPr/>
        </p:nvSpPr>
        <p:spPr>
          <a:xfrm>
            <a:off x="822960" y="4471416"/>
            <a:ext cx="329184" cy="329184"/>
          </a:xfrm>
          <a:prstGeom prst="ellipse">
            <a:avLst/>
          </a:prstGeom>
          <a:solidFill>
            <a:srgbClr val="047857">
              <a:alpha val="25000"/>
            </a:srgbClr>
          </a:solidFill>
          <a:ln w="12700">
            <a:solidFill>
              <a:srgbClr val="047857"/>
            </a:solidFill>
            <a:prstDash val="solid"/>
          </a:ln>
        </p:spPr>
        <p:txBody>
          <a:bodyPr/>
          <a:lstStyle/>
          <a:p>
            <a:endParaRPr lang="en-US"/>
          </a:p>
        </p:txBody>
      </p:sp>
      <p:sp>
        <p:nvSpPr>
          <p:cNvPr id="23" name="Text 21"/>
          <p:cNvSpPr/>
          <p:nvPr/>
        </p:nvSpPr>
        <p:spPr>
          <a:xfrm>
            <a:off x="822960" y="4471416"/>
            <a:ext cx="329184" cy="329184"/>
          </a:xfrm>
          <a:prstGeom prst="rect">
            <a:avLst/>
          </a:prstGeom>
          <a:noFill/>
          <a:ln/>
        </p:spPr>
        <p:txBody>
          <a:bodyPr wrap="square" rtlCol="0" anchor="ctr"/>
          <a:lstStyle/>
          <a:p>
            <a:pPr marL="0" indent="0" algn="ctr">
              <a:buNone/>
            </a:pPr>
            <a:r>
              <a:rPr lang="en-US" sz="1200" b="1" dirty="0">
                <a:solidFill>
                  <a:srgbClr val="047857"/>
                </a:solidFill>
                <a:latin typeface="Courier New" pitchFamily="34" charset="0"/>
                <a:ea typeface="Courier New" pitchFamily="34" charset="-122"/>
                <a:cs typeface="Courier New" pitchFamily="34" charset="-120"/>
              </a:rPr>
              <a:t>4</a:t>
            </a:r>
            <a:endParaRPr lang="en-US" sz="1200" dirty="0"/>
          </a:p>
        </p:txBody>
      </p:sp>
      <p:sp>
        <p:nvSpPr>
          <p:cNvPr id="24" name="Text 22"/>
          <p:cNvSpPr/>
          <p:nvPr/>
        </p:nvSpPr>
        <p:spPr>
          <a:xfrm>
            <a:off x="1298448" y="4407408"/>
            <a:ext cx="4114800" cy="274320"/>
          </a:xfrm>
          <a:prstGeom prst="rect">
            <a:avLst/>
          </a:prstGeom>
          <a:noFill/>
          <a:ln/>
        </p:spPr>
        <p:txBody>
          <a:bodyPr wrap="square"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Evaluate &amp; deploy</a:t>
            </a:r>
            <a:endParaRPr lang="en-US" sz="1200" dirty="0"/>
          </a:p>
        </p:txBody>
      </p:sp>
      <p:sp>
        <p:nvSpPr>
          <p:cNvPr id="25" name="Text 23"/>
          <p:cNvSpPr/>
          <p:nvPr/>
        </p:nvSpPr>
        <p:spPr>
          <a:xfrm>
            <a:off x="1298448" y="4663440"/>
            <a:ext cx="4114800" cy="256032"/>
          </a:xfrm>
          <a:prstGeom prst="rect">
            <a:avLst/>
          </a:prstGeom>
          <a:noFill/>
          <a:ln/>
        </p:spPr>
        <p:txBody>
          <a:bodyPr wrap="square" rtlCol="0" anchor="ctr"/>
          <a:lstStyle/>
          <a:p>
            <a:pPr marL="0" indent="0">
              <a:buNone/>
            </a:pPr>
            <a:r>
              <a:rPr lang="en-US" sz="1000" dirty="0">
                <a:solidFill>
                  <a:srgbClr val="8A9099"/>
                </a:solidFill>
                <a:latin typeface="Calibri" pitchFamily="34" charset="0"/>
                <a:ea typeface="Calibri" pitchFamily="34" charset="-122"/>
                <a:cs typeface="Calibri" pitchFamily="34" charset="-120"/>
              </a:rPr>
              <a:t>Val loss, task metrics, A/B test</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 y="5120640"/>
          <a:ext cx="4937760" cy="1371600"/>
        </p:xfrm>
        <a:graphic>
          <a:graphicData uri="http://schemas.openxmlformats.org/drawingml/2006/table">
            <a:tbl>
              <a:tblPr/>
              <a:tblGrid>
                <a:gridCol w="17373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274320">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Method</a:t>
                      </a:r>
                      <a:endParaRPr lang="en-US" sz="9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E30613"/>
                    </a:solidFill>
                  </a:tcPr>
                </a:tc>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Cost</a:t>
                      </a:r>
                      <a:endParaRPr lang="en-US" sz="9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E30613"/>
                    </a:solidFill>
                  </a:tcPr>
                </a:tc>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Best for</a:t>
                      </a:r>
                      <a:endParaRPr lang="en-US" sz="9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E30613"/>
                    </a:solidFill>
                  </a:tcPr>
                </a:tc>
                <a:extLst>
                  <a:ext uri="{0D108BD9-81ED-4DB2-BD59-A6C34878D82A}">
                    <a16:rowId xmlns:a16="http://schemas.microsoft.com/office/drawing/2014/main" val="10000"/>
                  </a:ext>
                </a:extLst>
              </a:tr>
              <a:tr h="274320">
                <a:tc>
                  <a:txBody>
                    <a:bodyPr/>
                    <a:lstStyle/>
                    <a:p>
                      <a:pPr marL="0" indent="0" algn="l">
                        <a:buNone/>
                      </a:pPr>
                      <a:r>
                        <a:rPr lang="en-US" sz="1000" b="1" dirty="0">
                          <a:solidFill>
                            <a:srgbClr val="1A1A1A"/>
                          </a:solidFill>
                          <a:latin typeface="Calibri" pitchFamily="34" charset="0"/>
                          <a:ea typeface="Calibri" pitchFamily="34" charset="-122"/>
                          <a:cs typeface="Calibri" pitchFamily="34" charset="-120"/>
                        </a:rPr>
                        <a:t>Full fine-tune</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A5F6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A5F66"/>
                          </a:solidFill>
                          <a:latin typeface="Calibri" pitchFamily="34" charset="0"/>
                          <a:ea typeface="Calibri" pitchFamily="34" charset="-122"/>
                          <a:cs typeface="Calibri" pitchFamily="34" charset="-120"/>
                        </a:rPr>
                        <a:t>Max customization (rare)</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1000" b="1" dirty="0">
                          <a:solidFill>
                            <a:srgbClr val="1A1A1A"/>
                          </a:solidFill>
                          <a:latin typeface="Calibri" pitchFamily="34" charset="0"/>
                          <a:ea typeface="Calibri" pitchFamily="34" charset="-122"/>
                          <a:cs typeface="Calibri" pitchFamily="34" charset="-120"/>
                        </a:rPr>
                        <a:t>LoRA</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00" dirty="0">
                          <a:solidFill>
                            <a:srgbClr val="5A5F6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00" dirty="0">
                          <a:solidFill>
                            <a:srgbClr val="5A5F66"/>
                          </a:solidFill>
                          <a:latin typeface="Calibri" pitchFamily="34" charset="0"/>
                          <a:ea typeface="Calibri" pitchFamily="34" charset="-122"/>
                          <a:cs typeface="Calibri" pitchFamily="34" charset="-120"/>
                        </a:rPr>
                        <a:t>Most practical approach</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extLst>
                  <a:ext uri="{0D108BD9-81ED-4DB2-BD59-A6C34878D82A}">
                    <a16:rowId xmlns:a16="http://schemas.microsoft.com/office/drawing/2014/main" val="10002"/>
                  </a:ext>
                </a:extLst>
              </a:tr>
              <a:tr h="274320">
                <a:tc>
                  <a:txBody>
                    <a:bodyPr/>
                    <a:lstStyle/>
                    <a:p>
                      <a:pPr marL="0" indent="0" algn="l">
                        <a:buNone/>
                      </a:pPr>
                      <a:r>
                        <a:rPr lang="en-US" sz="1000" b="1" dirty="0">
                          <a:solidFill>
                            <a:srgbClr val="1A1A1A"/>
                          </a:solidFill>
                          <a:latin typeface="Calibri" pitchFamily="34" charset="0"/>
                          <a:ea typeface="Calibri" pitchFamily="34" charset="-122"/>
                          <a:cs typeface="Calibri" pitchFamily="34" charset="-120"/>
                        </a:rPr>
                        <a:t>QLoRA</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A5F6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A5F66"/>
                          </a:solidFill>
                          <a:latin typeface="Calibri" pitchFamily="34" charset="0"/>
                          <a:ea typeface="Calibri" pitchFamily="34" charset="-122"/>
                          <a:cs typeface="Calibri" pitchFamily="34" charset="-120"/>
                        </a:rPr>
                        <a:t>Consumer GPUs</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US" sz="1000" b="1" dirty="0">
                          <a:solidFill>
                            <a:srgbClr val="1A1A1A"/>
                          </a:solidFill>
                          <a:latin typeface="Calibri" pitchFamily="34" charset="0"/>
                          <a:ea typeface="Calibri" pitchFamily="34" charset="-122"/>
                          <a:cs typeface="Calibri" pitchFamily="34" charset="-120"/>
                        </a:rPr>
                        <a:t>RLHF / DPO</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00" dirty="0">
                          <a:solidFill>
                            <a:srgbClr val="5A5F66"/>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00" dirty="0">
                          <a:solidFill>
                            <a:srgbClr val="5A5F66"/>
                          </a:solidFill>
                          <a:latin typeface="Calibri" pitchFamily="34" charset="0"/>
                          <a:ea typeface="Calibri" pitchFamily="34" charset="-122"/>
                          <a:cs typeface="Calibri" pitchFamily="34" charset="-120"/>
                        </a:rPr>
                        <a:t>Alignment &amp; tone</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extLst>
                  <a:ext uri="{0D108BD9-81ED-4DB2-BD59-A6C34878D82A}">
                    <a16:rowId xmlns:a16="http://schemas.microsoft.com/office/drawing/2014/main" val="10004"/>
                  </a:ext>
                </a:extLst>
              </a:tr>
            </a:tbl>
          </a:graphicData>
        </a:graphic>
      </p:graphicFrame>
      <p:sp>
        <p:nvSpPr>
          <p:cNvPr id="27" name="Text 24"/>
          <p:cNvSpPr/>
          <p:nvPr/>
        </p:nvSpPr>
        <p:spPr>
          <a:xfrm>
            <a:off x="5943600" y="2011680"/>
            <a:ext cx="5486400" cy="320040"/>
          </a:xfrm>
          <a:prstGeom prst="rect">
            <a:avLst/>
          </a:prstGeom>
          <a:noFill/>
          <a:ln/>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Training data format (JSONL)</a:t>
            </a:r>
            <a:endParaRPr lang="en-US" sz="1400" dirty="0"/>
          </a:p>
        </p:txBody>
      </p:sp>
      <p:sp>
        <p:nvSpPr>
          <p:cNvPr id="28" name="Shape 25"/>
          <p:cNvSpPr/>
          <p:nvPr/>
        </p:nvSpPr>
        <p:spPr>
          <a:xfrm>
            <a:off x="5943600" y="2377440"/>
            <a:ext cx="5577840" cy="2286000"/>
          </a:xfrm>
          <a:prstGeom prst="roundRect">
            <a:avLst>
              <a:gd name="adj" fmla="val 2400"/>
            </a:avLst>
          </a:prstGeom>
          <a:solidFill>
            <a:srgbClr val="1E2230"/>
          </a:solidFill>
          <a:ln w="12700">
            <a:solidFill>
              <a:srgbClr val="2E3446"/>
            </a:solidFill>
            <a:prstDash val="solid"/>
          </a:ln>
        </p:spPr>
        <p:txBody>
          <a:bodyPr/>
          <a:lstStyle/>
          <a:p>
            <a:endParaRPr lang="en-US"/>
          </a:p>
        </p:txBody>
      </p:sp>
      <p:sp>
        <p:nvSpPr>
          <p:cNvPr id="29" name="Text 26"/>
          <p:cNvSpPr/>
          <p:nvPr/>
        </p:nvSpPr>
        <p:spPr>
          <a:xfrm>
            <a:off x="10241280" y="2432304"/>
            <a:ext cx="1188720" cy="219456"/>
          </a:xfrm>
          <a:prstGeom prst="rect">
            <a:avLst/>
          </a:prstGeom>
          <a:noFill/>
          <a:ln/>
        </p:spPr>
        <p:txBody>
          <a:bodyPr wrap="square" rtlCol="0" anchor="ctr"/>
          <a:lstStyle/>
          <a:p>
            <a:pPr marL="0" indent="0" algn="r">
              <a:buNone/>
            </a:pPr>
            <a:r>
              <a:rPr lang="en-US" sz="800" b="1" kern="0" spc="100" dirty="0">
                <a:solidFill>
                  <a:srgbClr val="9AA2B5"/>
                </a:solidFill>
                <a:latin typeface="Courier New" pitchFamily="34" charset="0"/>
                <a:ea typeface="Courier New" pitchFamily="34" charset="-122"/>
                <a:cs typeface="Courier New" pitchFamily="34" charset="-120"/>
              </a:rPr>
              <a:t>JSONL</a:t>
            </a:r>
            <a:endParaRPr lang="en-US" sz="800" dirty="0"/>
          </a:p>
        </p:txBody>
      </p:sp>
      <p:sp>
        <p:nvSpPr>
          <p:cNvPr id="30" name="Text 27"/>
          <p:cNvSpPr/>
          <p:nvPr/>
        </p:nvSpPr>
        <p:spPr>
          <a:xfrm>
            <a:off x="6108192" y="2505456"/>
            <a:ext cx="5248656" cy="2029968"/>
          </a:xfrm>
          <a:prstGeom prst="rect">
            <a:avLst/>
          </a:prstGeom>
          <a:noFill/>
          <a:ln/>
        </p:spPr>
        <p:txBody>
          <a:bodyPr wrap="square" rtlCol="0" anchor="t"/>
          <a:lstStyle/>
          <a:p>
            <a:pPr marL="0" indent="0" algn="l">
              <a:lnSpc>
                <a:spcPct val="115000"/>
              </a:lnSpc>
              <a:buNone/>
            </a:pPr>
            <a:r>
              <a:rPr lang="en-US" sz="950" dirty="0">
                <a:solidFill>
                  <a:srgbClr val="8B949E"/>
                </a:solidFill>
                <a:latin typeface="Courier New" pitchFamily="34" charset="0"/>
                <a:ea typeface="Courier New" pitchFamily="34" charset="-122"/>
                <a:cs typeface="Courier New" pitchFamily="34" charset="-120"/>
              </a:rPr>
              <a:t>// one line = one training example
</a:t>
            </a:r>
            <a:r>
              <a:rPr lang="en-US" sz="950" dirty="0">
                <a:solidFill>
                  <a:srgbClr val="C9D1D9"/>
                </a:solidFill>
                <a:latin typeface="Courier New" pitchFamily="34" charset="0"/>
                <a:ea typeface="Courier New" pitchFamily="34" charset="-122"/>
                <a:cs typeface="Courier New" pitchFamily="34" charset="-120"/>
              </a:rPr>
              <a:t>{ "messages": [
</a:t>
            </a:r>
            <a:r>
              <a:rPr lang="en-US" sz="950" dirty="0">
                <a:solidFill>
                  <a:srgbClr val="A5D6FF"/>
                </a:solidFill>
                <a:latin typeface="Courier New" pitchFamily="34" charset="0"/>
                <a:ea typeface="Courier New" pitchFamily="34" charset="-122"/>
                <a:cs typeface="Courier New" pitchFamily="34" charset="-120"/>
              </a:rPr>
              <a:t>  {"role":"system",
   "content":"JLL analyst. Reply JSON:
     property_id, status, action_items."},
  {"role":"user",
   "content":"Water leak near server rm fl5"},
  {"role":"assistant",
   "content":"{status:CRITICAL, …}"} ]}</a:t>
            </a:r>
            <a:endParaRPr lang="en-US" sz="950" dirty="0"/>
          </a:p>
        </p:txBody>
      </p:sp>
      <p:sp>
        <p:nvSpPr>
          <p:cNvPr id="31" name="Text 28"/>
          <p:cNvSpPr/>
          <p:nvPr/>
        </p:nvSpPr>
        <p:spPr>
          <a:xfrm>
            <a:off x="5943600" y="4800600"/>
            <a:ext cx="5486400" cy="320040"/>
          </a:xfrm>
          <a:prstGeom prst="rect">
            <a:avLst/>
          </a:prstGeom>
          <a:noFill/>
          <a:ln/>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Bedrock fine-tuning (Claude Haiku)</a:t>
            </a:r>
            <a:endParaRPr lang="en-US" sz="1400" dirty="0"/>
          </a:p>
        </p:txBody>
      </p:sp>
      <p:sp>
        <p:nvSpPr>
          <p:cNvPr id="32" name="Shape 29"/>
          <p:cNvSpPr/>
          <p:nvPr/>
        </p:nvSpPr>
        <p:spPr>
          <a:xfrm>
            <a:off x="5943600" y="5166360"/>
            <a:ext cx="5577840" cy="1417320"/>
          </a:xfrm>
          <a:prstGeom prst="roundRect">
            <a:avLst>
              <a:gd name="adj" fmla="val 3871"/>
            </a:avLst>
          </a:prstGeom>
          <a:solidFill>
            <a:srgbClr val="1E2230"/>
          </a:solidFill>
          <a:ln w="12700">
            <a:solidFill>
              <a:srgbClr val="2E3446"/>
            </a:solidFill>
            <a:prstDash val="solid"/>
          </a:ln>
        </p:spPr>
        <p:txBody>
          <a:bodyPr/>
          <a:lstStyle/>
          <a:p>
            <a:endParaRPr lang="en-US"/>
          </a:p>
        </p:txBody>
      </p:sp>
      <p:sp>
        <p:nvSpPr>
          <p:cNvPr id="33" name="Text 30"/>
          <p:cNvSpPr/>
          <p:nvPr/>
        </p:nvSpPr>
        <p:spPr>
          <a:xfrm>
            <a:off x="10241280" y="5221224"/>
            <a:ext cx="1188720" cy="219456"/>
          </a:xfrm>
          <a:prstGeom prst="rect">
            <a:avLst/>
          </a:prstGeom>
          <a:noFill/>
          <a:ln/>
        </p:spPr>
        <p:txBody>
          <a:bodyPr wrap="square" rtlCol="0" anchor="ctr"/>
          <a:lstStyle/>
          <a:p>
            <a:pPr marL="0" indent="0" algn="r">
              <a:buNone/>
            </a:pPr>
            <a:r>
              <a:rPr lang="en-US" sz="800" b="1" kern="0" spc="100" dirty="0">
                <a:solidFill>
                  <a:srgbClr val="9AA2B5"/>
                </a:solidFill>
                <a:latin typeface="Courier New" pitchFamily="34" charset="0"/>
                <a:ea typeface="Courier New" pitchFamily="34" charset="-122"/>
                <a:cs typeface="Courier New" pitchFamily="34" charset="-120"/>
              </a:rPr>
              <a:t>PYTHON</a:t>
            </a:r>
            <a:endParaRPr lang="en-US" sz="800" dirty="0"/>
          </a:p>
        </p:txBody>
      </p:sp>
      <p:sp>
        <p:nvSpPr>
          <p:cNvPr id="34" name="Text 31"/>
          <p:cNvSpPr/>
          <p:nvPr/>
        </p:nvSpPr>
        <p:spPr>
          <a:xfrm>
            <a:off x="6108192" y="5294376"/>
            <a:ext cx="5248656" cy="1161288"/>
          </a:xfrm>
          <a:prstGeom prst="rect">
            <a:avLst/>
          </a:prstGeom>
          <a:noFill/>
          <a:ln/>
        </p:spPr>
        <p:txBody>
          <a:bodyPr wrap="square" rtlCol="0" anchor="t"/>
          <a:lstStyle/>
          <a:p>
            <a:pPr marL="0" indent="0" algn="l">
              <a:lnSpc>
                <a:spcPct val="115000"/>
              </a:lnSpc>
              <a:buNone/>
            </a:pPr>
            <a:r>
              <a:rPr lang="en-US" sz="950" dirty="0">
                <a:solidFill>
                  <a:srgbClr val="C9D1D9"/>
                </a:solidFill>
                <a:latin typeface="Courier New" pitchFamily="34" charset="0"/>
                <a:ea typeface="Courier New" pitchFamily="34" charset="-122"/>
                <a:cs typeface="Courier New" pitchFamily="34" charset="-120"/>
              </a:rPr>
              <a:t>bedrock = boto3.client("bedrock")
bedrock.create_model_customization_job(
</a:t>
            </a:r>
            <a:r>
              <a:rPr lang="en-US" sz="950" dirty="0">
                <a:solidFill>
                  <a:srgbClr val="A5D6FF"/>
                </a:solidFill>
                <a:latin typeface="Courier New" pitchFamily="34" charset="0"/>
                <a:ea typeface="Courier New" pitchFamily="34" charset="-122"/>
                <a:cs typeface="Courier New" pitchFamily="34" charset="-120"/>
              </a:rPr>
              <a:t>  jobName="jll-classifier-v1",
  baseModelIdentifier="…claude-3-haiku…",
  trainingDataConfig={"s3Uri":"s3://…"})</a:t>
            </a:r>
            <a:endParaRPr lang="en-US" sz="950" dirty="0"/>
          </a:p>
        </p:txBody>
      </p:sp>
      <p:sp>
        <p:nvSpPr>
          <p:cNvPr id="35" name="Text 32"/>
          <p:cNvSpPr/>
          <p:nvPr/>
        </p:nvSpPr>
        <p:spPr>
          <a:xfrm>
            <a:off x="10728655" y="6400800"/>
            <a:ext cx="1097280" cy="274320"/>
          </a:xfrm>
          <a:prstGeom prst="rect">
            <a:avLst/>
          </a:prstGeom>
          <a:noFill/>
          <a:ln/>
        </p:spPr>
        <p:txBody>
          <a:bodyPr wrap="square" rtlCol="0" anchor="ctr"/>
          <a:lstStyle/>
          <a:p>
            <a:pPr marL="0" indent="0" algn="r">
              <a:buNone/>
            </a:pPr>
            <a:r>
              <a:rPr lang="en-US" sz="1000" dirty="0">
                <a:solidFill>
                  <a:srgbClr val="8A9099"/>
                </a:solidFill>
                <a:latin typeface="Courier New" pitchFamily="34" charset="0"/>
                <a:ea typeface="Courier New" pitchFamily="34" charset="-122"/>
                <a:cs typeface="Courier New" pitchFamily="34" charset="-120"/>
              </a:rPr>
              <a:t>08 / 16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rtlCol="0" anchor="ctr"/>
          <a:lstStyle/>
          <a:p>
            <a:pPr marL="0" indent="0" algn="l">
              <a:buNone/>
            </a:pPr>
            <a:r>
              <a:rPr lang="en-US" sz="1200" b="1" kern="0" spc="300" dirty="0">
                <a:solidFill>
                  <a:srgbClr val="0E7490"/>
                </a:solidFill>
                <a:latin typeface="Calibri" pitchFamily="34" charset="0"/>
                <a:ea typeface="Calibri" pitchFamily="34" charset="-122"/>
                <a:cs typeface="Calibri" pitchFamily="34" charset="-120"/>
              </a:rPr>
              <a:t>COMPARE</a:t>
            </a:r>
            <a:endParaRPr lang="en-US" sz="1200" dirty="0"/>
          </a:p>
        </p:txBody>
      </p:sp>
      <p:sp>
        <p:nvSpPr>
          <p:cNvPr id="3" name="Text 1"/>
          <p:cNvSpPr/>
          <p:nvPr/>
        </p:nvSpPr>
        <p:spPr>
          <a:xfrm>
            <a:off x="640080" y="777240"/>
            <a:ext cx="10911535" cy="822960"/>
          </a:xfrm>
          <a:prstGeom prst="rect">
            <a:avLst/>
          </a:prstGeom>
          <a:noFill/>
          <a:ln/>
        </p:spPr>
        <p:txBody>
          <a:bodyPr wrap="square" rtlCol="0" anchor="ctr"/>
          <a:lstStyle/>
          <a:p>
            <a:pPr marL="0" indent="0" algn="l">
              <a:buNone/>
            </a:pPr>
            <a:r>
              <a:rPr lang="en-US" sz="3200" b="1" dirty="0">
                <a:solidFill>
                  <a:srgbClr val="1A1A1A"/>
                </a:solidFill>
                <a:latin typeface="Century Schoolbook" pitchFamily="34" charset="0"/>
                <a:ea typeface="Century Schoolbook" pitchFamily="34" charset="-122"/>
                <a:cs typeface="Century Schoolbook" pitchFamily="34" charset="-120"/>
              </a:rPr>
              <a:t>⚖️ Head-to-head comparison</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881360" cy="4023360"/>
        </p:xfrm>
        <a:graphic>
          <a:graphicData uri="http://schemas.openxmlformats.org/drawingml/2006/table">
            <a:tbl>
              <a:tblPr/>
              <a:tblGrid>
                <a:gridCol w="26517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402336">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Dimension</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E30613"/>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 Prompting</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E30613"/>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 RAG</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E30613"/>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 Fine-Tuning</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E30613"/>
                    </a:solidFill>
                  </a:tcPr>
                </a:tc>
                <a:extLst>
                  <a:ext uri="{0D108BD9-81ED-4DB2-BD59-A6C34878D82A}">
                    <a16:rowId xmlns:a16="http://schemas.microsoft.com/office/drawing/2014/main" val="10000"/>
                  </a:ext>
                </a:extLst>
              </a:tr>
              <a:tr h="402336">
                <a:tc>
                  <a:txBody>
                    <a:bodyPr/>
                    <a:lstStyle/>
                    <a:p>
                      <a:pPr marL="0" indent="0" algn="l">
                        <a:buNone/>
                      </a:pPr>
                      <a:r>
                        <a:rPr lang="en-US" sz="1100" b="1" dirty="0">
                          <a:solidFill>
                            <a:srgbClr val="1A1A1A"/>
                          </a:solidFill>
                          <a:latin typeface="Calibri" pitchFamily="34" charset="0"/>
                          <a:ea typeface="Calibri" pitchFamily="34" charset="-122"/>
                          <a:cs typeface="Calibri" pitchFamily="34" charset="-120"/>
                        </a:rPr>
                        <a:t>What changes</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A5F66"/>
                          </a:solidFill>
                          <a:latin typeface="Calibri" pitchFamily="34" charset="0"/>
                          <a:ea typeface="Calibri" pitchFamily="34" charset="-122"/>
                          <a:cs typeface="Calibri" pitchFamily="34" charset="-120"/>
                        </a:rPr>
                        <a:t>Nothing — instructions</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A5F66"/>
                          </a:solidFill>
                          <a:latin typeface="Calibri" pitchFamily="34" charset="0"/>
                          <a:ea typeface="Calibri" pitchFamily="34" charset="-122"/>
                          <a:cs typeface="Calibri" pitchFamily="34" charset="-120"/>
                        </a:rPr>
                        <a:t>External context</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A5F66"/>
                          </a:solidFill>
                          <a:latin typeface="Calibri" pitchFamily="34" charset="0"/>
                          <a:ea typeface="Calibri" pitchFamily="34" charset="-122"/>
                          <a:cs typeface="Calibri" pitchFamily="34" charset="-120"/>
                        </a:rPr>
                        <a:t>Model weights</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US" sz="1100" b="1" dirty="0">
                          <a:solidFill>
                            <a:srgbClr val="1A1A1A"/>
                          </a:solidFill>
                          <a:latin typeface="Calibri" pitchFamily="34" charset="0"/>
                          <a:ea typeface="Calibri" pitchFamily="34" charset="-122"/>
                          <a:cs typeface="Calibri" pitchFamily="34" charset="-120"/>
                        </a:rPr>
                        <a:t>Implementation effort</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100" dirty="0">
                          <a:solidFill>
                            <a:srgbClr val="059669"/>
                          </a:solidFill>
                          <a:latin typeface="Calibri" pitchFamily="34" charset="0"/>
                          <a:ea typeface="Calibri" pitchFamily="34" charset="-122"/>
                          <a:cs typeface="Calibri" pitchFamily="34" charset="-120"/>
                        </a:rPr>
                        <a:t>🟢 Low (min–hrs)</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100" dirty="0">
                          <a:solidFill>
                            <a:srgbClr val="B45309"/>
                          </a:solidFill>
                          <a:latin typeface="Calibri" pitchFamily="34" charset="0"/>
                          <a:ea typeface="Calibri" pitchFamily="34" charset="-122"/>
                          <a:cs typeface="Calibri" pitchFamily="34" charset="-120"/>
                        </a:rPr>
                        <a:t>🟡 Medium (days–wks)</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100" dirty="0">
                          <a:solidFill>
                            <a:srgbClr val="E30613"/>
                          </a:solidFill>
                          <a:latin typeface="Calibri" pitchFamily="34" charset="0"/>
                          <a:ea typeface="Calibri" pitchFamily="34" charset="-122"/>
                          <a:cs typeface="Calibri" pitchFamily="34" charset="-120"/>
                        </a:rPr>
                        <a:t>🔴 High (wks–months)</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extLst>
                  <a:ext uri="{0D108BD9-81ED-4DB2-BD59-A6C34878D82A}">
                    <a16:rowId xmlns:a16="http://schemas.microsoft.com/office/drawing/2014/main" val="10002"/>
                  </a:ext>
                </a:extLst>
              </a:tr>
              <a:tr h="402336">
                <a:tc>
                  <a:txBody>
                    <a:bodyPr/>
                    <a:lstStyle/>
                    <a:p>
                      <a:pPr marL="0" indent="0" algn="l">
                        <a:buNone/>
                      </a:pPr>
                      <a:r>
                        <a:rPr lang="en-US" sz="1100" b="1" dirty="0">
                          <a:solidFill>
                            <a:srgbClr val="1A1A1A"/>
                          </a:solidFill>
                          <a:latin typeface="Calibri" pitchFamily="34" charset="0"/>
                          <a:ea typeface="Calibri" pitchFamily="34" charset="-122"/>
                          <a:cs typeface="Calibri" pitchFamily="34" charset="-120"/>
                        </a:rPr>
                        <a:t>Cost</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59669"/>
                          </a:solidFill>
                          <a:latin typeface="Calibri" pitchFamily="34" charset="0"/>
                          <a:ea typeface="Calibri" pitchFamily="34" charset="-122"/>
                          <a:cs typeface="Calibri" pitchFamily="34" charset="-120"/>
                        </a:rPr>
                        <a:t>🟢 API calls only</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100" dirty="0">
                          <a:solidFill>
                            <a:srgbClr val="B45309"/>
                          </a:solidFill>
                          <a:latin typeface="Calibri" pitchFamily="34" charset="0"/>
                          <a:ea typeface="Calibri" pitchFamily="34" charset="-122"/>
                          <a:cs typeface="Calibri" pitchFamily="34" charset="-120"/>
                        </a:rPr>
                        <a:t>🟡 API + VectorDB</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100" dirty="0">
                          <a:solidFill>
                            <a:srgbClr val="E30613"/>
                          </a:solidFill>
                          <a:latin typeface="Calibri" pitchFamily="34" charset="0"/>
                          <a:ea typeface="Calibri" pitchFamily="34" charset="-122"/>
                          <a:cs typeface="Calibri" pitchFamily="34" charset="-120"/>
                        </a:rPr>
                        <a:t>🔴 Compute + data</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lgn="l">
                        <a:buNone/>
                      </a:pPr>
                      <a:r>
                        <a:rPr lang="en-US" sz="1100" b="1" dirty="0">
                          <a:solidFill>
                            <a:srgbClr val="1A1A1A"/>
                          </a:solidFill>
                          <a:latin typeface="Calibri" pitchFamily="34" charset="0"/>
                          <a:ea typeface="Calibri" pitchFamily="34" charset="-122"/>
                          <a:cs typeface="Calibri" pitchFamily="34" charset="-120"/>
                        </a:rPr>
                        <a:t>Data freshness</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100" dirty="0">
                          <a:solidFill>
                            <a:srgbClr val="059669"/>
                          </a:solidFill>
                          <a:latin typeface="Calibri" pitchFamily="34" charset="0"/>
                          <a:ea typeface="Calibri" pitchFamily="34" charset="-122"/>
                          <a:cs typeface="Calibri" pitchFamily="34" charset="-120"/>
                        </a:rPr>
                        <a:t>🟢 Real-time</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100" dirty="0">
                          <a:solidFill>
                            <a:srgbClr val="059669"/>
                          </a:solidFill>
                          <a:latin typeface="Calibri" pitchFamily="34" charset="0"/>
                          <a:ea typeface="Calibri" pitchFamily="34" charset="-122"/>
                          <a:cs typeface="Calibri" pitchFamily="34" charset="-120"/>
                        </a:rPr>
                        <a:t>🟢 Near real-time</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100" dirty="0">
                          <a:solidFill>
                            <a:srgbClr val="E30613"/>
                          </a:solidFill>
                          <a:latin typeface="Calibri" pitchFamily="34" charset="0"/>
                          <a:ea typeface="Calibri" pitchFamily="34" charset="-122"/>
                          <a:cs typeface="Calibri" pitchFamily="34" charset="-120"/>
                        </a:rPr>
                        <a:t>🔴 Static</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extLst>
                  <a:ext uri="{0D108BD9-81ED-4DB2-BD59-A6C34878D82A}">
                    <a16:rowId xmlns:a16="http://schemas.microsoft.com/office/drawing/2014/main" val="10004"/>
                  </a:ext>
                </a:extLst>
              </a:tr>
              <a:tr h="402336">
                <a:tc>
                  <a:txBody>
                    <a:bodyPr/>
                    <a:lstStyle/>
                    <a:p>
                      <a:pPr marL="0" indent="0" algn="l">
                        <a:buNone/>
                      </a:pPr>
                      <a:r>
                        <a:rPr lang="en-US" sz="1100" b="1" dirty="0">
                          <a:solidFill>
                            <a:srgbClr val="1A1A1A"/>
                          </a:solidFill>
                          <a:latin typeface="Calibri" pitchFamily="34" charset="0"/>
                          <a:ea typeface="Calibri" pitchFamily="34" charset="-122"/>
                          <a:cs typeface="Calibri" pitchFamily="34" charset="-120"/>
                        </a:rPr>
                        <a:t>Hallucination control</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100" dirty="0">
                          <a:solidFill>
                            <a:srgbClr val="E30613"/>
                          </a:solidFill>
                          <a:latin typeface="Calibri" pitchFamily="34" charset="0"/>
                          <a:ea typeface="Calibri" pitchFamily="34" charset="-122"/>
                          <a:cs typeface="Calibri" pitchFamily="34" charset="-120"/>
                        </a:rPr>
                        <a:t>🔴 May invent facts</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59669"/>
                          </a:solidFill>
                          <a:latin typeface="Calibri" pitchFamily="34" charset="0"/>
                          <a:ea typeface="Calibri" pitchFamily="34" charset="-122"/>
                          <a:cs typeface="Calibri" pitchFamily="34" charset="-120"/>
                        </a:rPr>
                        <a:t>🟢 Grounded in docs</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100" dirty="0">
                          <a:solidFill>
                            <a:srgbClr val="B45309"/>
                          </a:solidFill>
                          <a:latin typeface="Calibri" pitchFamily="34" charset="0"/>
                          <a:ea typeface="Calibri" pitchFamily="34" charset="-122"/>
                          <a:cs typeface="Calibri" pitchFamily="34" charset="-120"/>
                        </a:rPr>
                        <a:t>🟡 Learned patterns</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lgn="l">
                        <a:buNone/>
                      </a:pPr>
                      <a:r>
                        <a:rPr lang="en-US" sz="1100" b="1" dirty="0">
                          <a:solidFill>
                            <a:srgbClr val="1A1A1A"/>
                          </a:solidFill>
                          <a:latin typeface="Calibri" pitchFamily="34" charset="0"/>
                          <a:ea typeface="Calibri" pitchFamily="34" charset="-122"/>
                          <a:cs typeface="Calibri" pitchFamily="34" charset="-120"/>
                        </a:rPr>
                        <a:t>Domain knowledge</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100" dirty="0">
                          <a:solidFill>
                            <a:srgbClr val="E30613"/>
                          </a:solidFill>
                          <a:latin typeface="Calibri" pitchFamily="34" charset="0"/>
                          <a:ea typeface="Calibri" pitchFamily="34" charset="-122"/>
                          <a:cs typeface="Calibri" pitchFamily="34" charset="-120"/>
                        </a:rPr>
                        <a:t>🔴 Training data only</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100" dirty="0">
                          <a:solidFill>
                            <a:srgbClr val="059669"/>
                          </a:solidFill>
                          <a:latin typeface="Calibri" pitchFamily="34" charset="0"/>
                          <a:ea typeface="Calibri" pitchFamily="34" charset="-122"/>
                          <a:cs typeface="Calibri" pitchFamily="34" charset="-120"/>
                        </a:rPr>
                        <a:t>🟢 Unlimited external</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100" dirty="0">
                          <a:solidFill>
                            <a:srgbClr val="B45309"/>
                          </a:solidFill>
                          <a:latin typeface="Calibri" pitchFamily="34" charset="0"/>
                          <a:ea typeface="Calibri" pitchFamily="34" charset="-122"/>
                          <a:cs typeface="Calibri" pitchFamily="34" charset="-120"/>
                        </a:rPr>
                        <a:t>🟡 Training examples</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extLst>
                  <a:ext uri="{0D108BD9-81ED-4DB2-BD59-A6C34878D82A}">
                    <a16:rowId xmlns:a16="http://schemas.microsoft.com/office/drawing/2014/main" val="10006"/>
                  </a:ext>
                </a:extLst>
              </a:tr>
              <a:tr h="402336">
                <a:tc>
                  <a:txBody>
                    <a:bodyPr/>
                    <a:lstStyle/>
                    <a:p>
                      <a:pPr marL="0" indent="0" algn="l">
                        <a:buNone/>
                      </a:pPr>
                      <a:r>
                        <a:rPr lang="en-US" sz="1100" b="1" dirty="0">
                          <a:solidFill>
                            <a:srgbClr val="1A1A1A"/>
                          </a:solidFill>
                          <a:latin typeface="Calibri" pitchFamily="34" charset="0"/>
                          <a:ea typeface="Calibri" pitchFamily="34" charset="-122"/>
                          <a:cs typeface="Calibri" pitchFamily="34" charset="-120"/>
                        </a:rPr>
                        <a:t>Output consistency</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100" dirty="0">
                          <a:solidFill>
                            <a:srgbClr val="E30613"/>
                          </a:solidFill>
                          <a:latin typeface="Calibri" pitchFamily="34" charset="0"/>
                          <a:ea typeface="Calibri" pitchFamily="34" charset="-122"/>
                          <a:cs typeface="Calibri" pitchFamily="34" charset="-120"/>
                        </a:rPr>
                        <a:t>🔴 Fragile</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100" dirty="0">
                          <a:solidFill>
                            <a:srgbClr val="B45309"/>
                          </a:solidFill>
                          <a:latin typeface="Calibri" pitchFamily="34" charset="0"/>
                          <a:ea typeface="Calibri" pitchFamily="34" charset="-122"/>
                          <a:cs typeface="Calibri" pitchFamily="34" charset="-120"/>
                        </a:rPr>
                        <a:t>🟡 Retrieval-dependent</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59669"/>
                          </a:solidFill>
                          <a:latin typeface="Calibri" pitchFamily="34" charset="0"/>
                          <a:ea typeface="Calibri" pitchFamily="34" charset="-122"/>
                          <a:cs typeface="Calibri" pitchFamily="34" charset="-120"/>
                        </a:rPr>
                        <a:t>🟢 Most consistent</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02336">
                <a:tc>
                  <a:txBody>
                    <a:bodyPr/>
                    <a:lstStyle/>
                    <a:p>
                      <a:pPr marL="0" indent="0" algn="l">
                        <a:buNone/>
                      </a:pPr>
                      <a:r>
                        <a:rPr lang="en-US" sz="1100" b="1" dirty="0">
                          <a:solidFill>
                            <a:srgbClr val="1A1A1A"/>
                          </a:solidFill>
                          <a:latin typeface="Calibri" pitchFamily="34" charset="0"/>
                          <a:ea typeface="Calibri" pitchFamily="34" charset="-122"/>
                          <a:cs typeface="Calibri" pitchFamily="34" charset="-120"/>
                        </a:rPr>
                        <a:t>Time to production</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100" dirty="0">
                          <a:solidFill>
                            <a:srgbClr val="059669"/>
                          </a:solidFill>
                          <a:latin typeface="Calibri" pitchFamily="34" charset="0"/>
                          <a:ea typeface="Calibri" pitchFamily="34" charset="-122"/>
                          <a:cs typeface="Calibri" pitchFamily="34" charset="-120"/>
                        </a:rPr>
                        <a:t>🟢 Minutes</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100" dirty="0">
                          <a:solidFill>
                            <a:srgbClr val="B45309"/>
                          </a:solidFill>
                          <a:latin typeface="Calibri" pitchFamily="34" charset="0"/>
                          <a:ea typeface="Calibri" pitchFamily="34" charset="-122"/>
                          <a:cs typeface="Calibri" pitchFamily="34" charset="-120"/>
                        </a:rPr>
                        <a:t>🟡 1–4 weeks</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100" dirty="0">
                          <a:solidFill>
                            <a:srgbClr val="E30613"/>
                          </a:solidFill>
                          <a:latin typeface="Calibri" pitchFamily="34" charset="0"/>
                          <a:ea typeface="Calibri" pitchFamily="34" charset="-122"/>
                          <a:cs typeface="Calibri" pitchFamily="34" charset="-120"/>
                        </a:rPr>
                        <a:t>🔴 4–12 weeks</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extLst>
                  <a:ext uri="{0D108BD9-81ED-4DB2-BD59-A6C34878D82A}">
                    <a16:rowId xmlns:a16="http://schemas.microsoft.com/office/drawing/2014/main" val="10008"/>
                  </a:ext>
                </a:extLst>
              </a:tr>
              <a:tr h="402336">
                <a:tc>
                  <a:txBody>
                    <a:bodyPr/>
                    <a:lstStyle/>
                    <a:p>
                      <a:pPr marL="0" indent="0" algn="l">
                        <a:buNone/>
                      </a:pPr>
                      <a:r>
                        <a:rPr lang="en-US" sz="1100" b="1" dirty="0">
                          <a:solidFill>
                            <a:srgbClr val="1A1A1A"/>
                          </a:solidFill>
                          <a:latin typeface="Calibri" pitchFamily="34" charset="0"/>
                          <a:ea typeface="Calibri" pitchFamily="34" charset="-122"/>
                          <a:cs typeface="Calibri" pitchFamily="34" charset="-120"/>
                        </a:rPr>
                        <a:t>Skill required</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59669"/>
                          </a:solidFill>
                          <a:latin typeface="Calibri" pitchFamily="34" charset="0"/>
                          <a:ea typeface="Calibri" pitchFamily="34" charset="-122"/>
                          <a:cs typeface="Calibri" pitchFamily="34" charset="-120"/>
                        </a:rPr>
                        <a:t>🟢 Any developer</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100" dirty="0">
                          <a:solidFill>
                            <a:srgbClr val="B45309"/>
                          </a:solidFill>
                          <a:latin typeface="Calibri" pitchFamily="34" charset="0"/>
                          <a:ea typeface="Calibri" pitchFamily="34" charset="-122"/>
                          <a:cs typeface="Calibri" pitchFamily="34" charset="-120"/>
                        </a:rPr>
                        <a:t>🟡 ML / data eng</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100" dirty="0">
                          <a:solidFill>
                            <a:srgbClr val="E30613"/>
                          </a:solidFill>
                          <a:latin typeface="Calibri" pitchFamily="34" charset="0"/>
                          <a:ea typeface="Calibri" pitchFamily="34" charset="-122"/>
                          <a:cs typeface="Calibri" pitchFamily="34" charset="-120"/>
                        </a:rPr>
                        <a:t>🔴 ML eng + infra</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5" name="Text 2"/>
          <p:cNvSpPr/>
          <p:nvPr/>
        </p:nvSpPr>
        <p:spPr>
          <a:xfrm>
            <a:off x="10728655" y="6400800"/>
            <a:ext cx="1097280" cy="274320"/>
          </a:xfrm>
          <a:prstGeom prst="rect">
            <a:avLst/>
          </a:prstGeom>
          <a:noFill/>
          <a:ln/>
        </p:spPr>
        <p:txBody>
          <a:bodyPr wrap="square" rtlCol="0" anchor="ctr"/>
          <a:lstStyle/>
          <a:p>
            <a:pPr marL="0" indent="0" algn="r">
              <a:buNone/>
            </a:pPr>
            <a:r>
              <a:rPr lang="en-US" sz="1000" dirty="0">
                <a:solidFill>
                  <a:srgbClr val="8A9099"/>
                </a:solidFill>
                <a:latin typeface="Courier New" pitchFamily="34" charset="0"/>
                <a:ea typeface="Courier New" pitchFamily="34" charset="-122"/>
                <a:cs typeface="Courier New" pitchFamily="34" charset="-120"/>
              </a:rPr>
              <a:t>09 / 16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rtlCol="0" anchor="ctr"/>
          <a:lstStyle/>
          <a:p>
            <a:pPr marL="0" indent="0" algn="l">
              <a:buNone/>
            </a:pPr>
            <a:r>
              <a:rPr lang="en-US" sz="1200" b="1" kern="0" spc="300" dirty="0">
                <a:solidFill>
                  <a:srgbClr val="0E7490"/>
                </a:solidFill>
                <a:latin typeface="Calibri" pitchFamily="34" charset="0"/>
                <a:ea typeface="Calibri" pitchFamily="34" charset="-122"/>
                <a:cs typeface="Calibri" pitchFamily="34" charset="-120"/>
              </a:rPr>
              <a:t>COMPARE · ECONOMICS</a:t>
            </a:r>
            <a:endParaRPr lang="en-US" sz="1200" dirty="0"/>
          </a:p>
        </p:txBody>
      </p:sp>
      <p:sp>
        <p:nvSpPr>
          <p:cNvPr id="3" name="Text 1"/>
          <p:cNvSpPr/>
          <p:nvPr/>
        </p:nvSpPr>
        <p:spPr>
          <a:xfrm>
            <a:off x="640080" y="777240"/>
            <a:ext cx="10911535" cy="822960"/>
          </a:xfrm>
          <a:prstGeom prst="rect">
            <a:avLst/>
          </a:prstGeom>
          <a:noFill/>
          <a:ln/>
        </p:spPr>
        <p:txBody>
          <a:bodyPr wrap="square" rtlCol="0" anchor="ctr"/>
          <a:lstStyle/>
          <a:p>
            <a:pPr marL="0" indent="0" algn="l">
              <a:buNone/>
            </a:pPr>
            <a:r>
              <a:rPr lang="en-US" sz="3200" b="1" dirty="0">
                <a:solidFill>
                  <a:srgbClr val="1A1A1A"/>
                </a:solidFill>
                <a:latin typeface="Century Schoolbook" pitchFamily="34" charset="0"/>
                <a:ea typeface="Century Schoolbook" pitchFamily="34" charset="-122"/>
                <a:cs typeface="Century Schoolbook" pitchFamily="34" charset="-120"/>
              </a:rPr>
              <a:t>What each approach actually costs</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6400800" cy="2286000"/>
        </p:xfrm>
        <a:graphic>
          <a:graphicData uri="http://schemas.openxmlformats.org/drawingml/2006/table">
            <a:tbl>
              <a:tblPr/>
              <a:tblGrid>
                <a:gridCol w="20116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45720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Cost metric</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E30613"/>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 Prompt</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E30613"/>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 RAG</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E30613"/>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 Fine-Tune</a:t>
                      </a:r>
                      <a:endParaRPr lang="en-US" sz="11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E30613"/>
                    </a:solidFill>
                  </a:tcPr>
                </a:tc>
                <a:extLst>
                  <a:ext uri="{0D108BD9-81ED-4DB2-BD59-A6C34878D82A}">
                    <a16:rowId xmlns:a16="http://schemas.microsoft.com/office/drawing/2014/main" val="10000"/>
                  </a:ext>
                </a:extLst>
              </a:tr>
              <a:tr h="457200">
                <a:tc>
                  <a:txBody>
                    <a:bodyPr/>
                    <a:lstStyle/>
                    <a:p>
                      <a:pPr marL="0" indent="0" algn="l">
                        <a:buNone/>
                      </a:pPr>
                      <a:r>
                        <a:rPr lang="en-US" sz="1150" b="1" dirty="0">
                          <a:solidFill>
                            <a:srgbClr val="1A1A1A"/>
                          </a:solidFill>
                          <a:latin typeface="Calibri" pitchFamily="34" charset="0"/>
                          <a:ea typeface="Calibri" pitchFamily="34" charset="-122"/>
                          <a:cs typeface="Calibri" pitchFamily="34" charset="-120"/>
                        </a:rPr>
                        <a:t>Setup</a:t>
                      </a:r>
                      <a:endParaRPr lang="en-US" sz="11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A5F66"/>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A5F66"/>
                          </a:solidFill>
                          <a:latin typeface="Calibri" pitchFamily="34" charset="0"/>
                          <a:ea typeface="Calibri" pitchFamily="34" charset="-122"/>
                          <a:cs typeface="Calibri" pitchFamily="34" charset="-120"/>
                        </a:rPr>
                        <a:t>$100–$1K</a:t>
                      </a:r>
                      <a:endParaRPr lang="en-US" sz="11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A5F66"/>
                          </a:solidFill>
                          <a:latin typeface="Calibri" pitchFamily="34" charset="0"/>
                          <a:ea typeface="Calibri" pitchFamily="34" charset="-122"/>
                          <a:cs typeface="Calibri" pitchFamily="34" charset="-120"/>
                        </a:rPr>
                        <a:t>$1K–$50K+</a:t>
                      </a:r>
                      <a:endParaRPr lang="en-US" sz="11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150" b="1" dirty="0">
                          <a:solidFill>
                            <a:srgbClr val="1A1A1A"/>
                          </a:solidFill>
                          <a:latin typeface="Calibri" pitchFamily="34" charset="0"/>
                          <a:ea typeface="Calibri" pitchFamily="34" charset="-122"/>
                          <a:cs typeface="Calibri" pitchFamily="34" charset="-120"/>
                        </a:rPr>
                        <a:t>Per-query</a:t>
                      </a:r>
                      <a:endParaRPr lang="en-US" sz="11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150" dirty="0">
                          <a:solidFill>
                            <a:srgbClr val="5A5F66"/>
                          </a:solidFill>
                          <a:latin typeface="Calibri" pitchFamily="34" charset="0"/>
                          <a:ea typeface="Calibri" pitchFamily="34" charset="-122"/>
                          <a:cs typeface="Calibri" pitchFamily="34" charset="-120"/>
                        </a:rPr>
                        <a:t>$0.003–0.015</a:t>
                      </a:r>
                      <a:endParaRPr lang="en-US" sz="11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150" dirty="0">
                          <a:solidFill>
                            <a:srgbClr val="5A5F66"/>
                          </a:solidFill>
                          <a:latin typeface="Calibri" pitchFamily="34" charset="0"/>
                          <a:ea typeface="Calibri" pitchFamily="34" charset="-122"/>
                          <a:cs typeface="Calibri" pitchFamily="34" charset="-120"/>
                        </a:rPr>
                        <a:t>$0.005–0.025</a:t>
                      </a:r>
                      <a:endParaRPr lang="en-US" sz="11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150" dirty="0">
                          <a:solidFill>
                            <a:srgbClr val="5A5F66"/>
                          </a:solidFill>
                          <a:latin typeface="Calibri" pitchFamily="34" charset="0"/>
                          <a:ea typeface="Calibri" pitchFamily="34" charset="-122"/>
                          <a:cs typeface="Calibri" pitchFamily="34" charset="-120"/>
                        </a:rPr>
                        <a:t>$0.001–0.010</a:t>
                      </a:r>
                      <a:endParaRPr lang="en-US" sz="11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extLst>
                  <a:ext uri="{0D108BD9-81ED-4DB2-BD59-A6C34878D82A}">
                    <a16:rowId xmlns:a16="http://schemas.microsoft.com/office/drawing/2014/main" val="10002"/>
                  </a:ext>
                </a:extLst>
              </a:tr>
              <a:tr h="457200">
                <a:tc>
                  <a:txBody>
                    <a:bodyPr/>
                    <a:lstStyle/>
                    <a:p>
                      <a:pPr marL="0" indent="0" algn="l">
                        <a:buNone/>
                      </a:pPr>
                      <a:r>
                        <a:rPr lang="en-US" sz="1150" b="1" dirty="0">
                          <a:solidFill>
                            <a:srgbClr val="1A1A1A"/>
                          </a:solidFill>
                          <a:latin typeface="Calibri" pitchFamily="34" charset="0"/>
                          <a:ea typeface="Calibri" pitchFamily="34" charset="-122"/>
                          <a:cs typeface="Calibri" pitchFamily="34" charset="-120"/>
                        </a:rPr>
                        <a:t>Monthly maintenance</a:t>
                      </a:r>
                      <a:endParaRPr lang="en-US" sz="11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A5F66"/>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A5F66"/>
                          </a:solidFill>
                          <a:latin typeface="Calibri" pitchFamily="34" charset="0"/>
                          <a:ea typeface="Calibri" pitchFamily="34" charset="-122"/>
                          <a:cs typeface="Calibri" pitchFamily="34" charset="-120"/>
                        </a:rPr>
                        <a:t>$50–$500</a:t>
                      </a:r>
                      <a:endParaRPr lang="en-US" sz="11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A5F66"/>
                          </a:solidFill>
                          <a:latin typeface="Calibri" pitchFamily="34" charset="0"/>
                          <a:ea typeface="Calibri" pitchFamily="34" charset="-122"/>
                          <a:cs typeface="Calibri" pitchFamily="34" charset="-120"/>
                        </a:rPr>
                        <a:t>$200–$2K</a:t>
                      </a:r>
                      <a:endParaRPr lang="en-US" sz="11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150" b="1" dirty="0">
                          <a:solidFill>
                            <a:srgbClr val="1A1A1A"/>
                          </a:solidFill>
                          <a:latin typeface="Calibri" pitchFamily="34" charset="0"/>
                          <a:ea typeface="Calibri" pitchFamily="34" charset="-122"/>
                          <a:cs typeface="Calibri" pitchFamily="34" charset="-120"/>
                        </a:rPr>
                        <a:t>Data prep</a:t>
                      </a:r>
                      <a:endParaRPr lang="en-US" sz="11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150" dirty="0">
                          <a:solidFill>
                            <a:srgbClr val="5A5F66"/>
                          </a:solidFill>
                          <a:latin typeface="Calibri" pitchFamily="34" charset="0"/>
                          <a:ea typeface="Calibri" pitchFamily="34" charset="-122"/>
                          <a:cs typeface="Calibri" pitchFamily="34" charset="-120"/>
                        </a:rPr>
                        <a:t>0 hrs</a:t>
                      </a:r>
                      <a:endParaRPr lang="en-US" sz="11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150" dirty="0">
                          <a:solidFill>
                            <a:srgbClr val="5A5F66"/>
                          </a:solidFill>
                          <a:latin typeface="Calibri" pitchFamily="34" charset="0"/>
                          <a:ea typeface="Calibri" pitchFamily="34" charset="-122"/>
                          <a:cs typeface="Calibri" pitchFamily="34" charset="-120"/>
                        </a:rPr>
                        <a:t>10–40 hrs</a:t>
                      </a:r>
                      <a:endParaRPr lang="en-US" sz="11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150" dirty="0">
                          <a:solidFill>
                            <a:srgbClr val="5A5F66"/>
                          </a:solidFill>
                          <a:latin typeface="Calibri" pitchFamily="34" charset="0"/>
                          <a:ea typeface="Calibri" pitchFamily="34" charset="-122"/>
                          <a:cs typeface="Calibri" pitchFamily="34" charset="-120"/>
                        </a:rPr>
                        <a:t>40–200+ hrs</a:t>
                      </a:r>
                      <a:endParaRPr lang="en-US" sz="11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extLst>
                  <a:ext uri="{0D108BD9-81ED-4DB2-BD59-A6C34878D82A}">
                    <a16:rowId xmlns:a16="http://schemas.microsoft.com/office/drawing/2014/main" val="10004"/>
                  </a:ext>
                </a:extLst>
              </a:tr>
            </a:tbl>
          </a:graphicData>
        </a:graphic>
      </p:graphicFrame>
      <p:sp>
        <p:nvSpPr>
          <p:cNvPr id="5" name="Shape 2"/>
          <p:cNvSpPr/>
          <p:nvPr/>
        </p:nvSpPr>
        <p:spPr>
          <a:xfrm>
            <a:off x="7315200" y="1828800"/>
            <a:ext cx="1353312" cy="1783080"/>
          </a:xfrm>
          <a:prstGeom prst="roundRect">
            <a:avLst>
              <a:gd name="adj" fmla="val 6081"/>
            </a:avLst>
          </a:prstGeom>
          <a:solidFill>
            <a:srgbClr val="F4F5F7"/>
          </a:solidFill>
          <a:ln w="12700">
            <a:solidFill>
              <a:srgbClr val="DADDE2"/>
            </a:solidFill>
            <a:prstDash val="solid"/>
          </a:ln>
        </p:spPr>
        <p:txBody>
          <a:bodyPr/>
          <a:lstStyle/>
          <a:p>
            <a:endParaRPr lang="en-US"/>
          </a:p>
        </p:txBody>
      </p:sp>
      <p:sp>
        <p:nvSpPr>
          <p:cNvPr id="6" name="Text 3"/>
          <p:cNvSpPr/>
          <p:nvPr/>
        </p:nvSpPr>
        <p:spPr>
          <a:xfrm>
            <a:off x="7315200" y="1965960"/>
            <a:ext cx="1353312" cy="457200"/>
          </a:xfrm>
          <a:prstGeom prst="rect">
            <a:avLst/>
          </a:prstGeom>
          <a:noFill/>
          <a:ln/>
        </p:spPr>
        <p:txBody>
          <a:bodyPr wrap="square"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7" name="Text 4"/>
          <p:cNvSpPr/>
          <p:nvPr/>
        </p:nvSpPr>
        <p:spPr>
          <a:xfrm>
            <a:off x="7315200" y="2468880"/>
            <a:ext cx="1353312" cy="548640"/>
          </a:xfrm>
          <a:prstGeom prst="rect">
            <a:avLst/>
          </a:prstGeom>
          <a:noFill/>
          <a:ln/>
        </p:spPr>
        <p:txBody>
          <a:bodyPr wrap="square" rtlCol="0" anchor="ctr"/>
          <a:lstStyle/>
          <a:p>
            <a:pPr marL="0" indent="0" algn="ctr">
              <a:buNone/>
            </a:pPr>
            <a:r>
              <a:rPr lang="en-US" sz="2400" b="1" dirty="0">
                <a:solidFill>
                  <a:srgbClr val="5B21B6"/>
                </a:solidFill>
                <a:latin typeface="Century Schoolbook" pitchFamily="34" charset="0"/>
                <a:ea typeface="Century Schoolbook" pitchFamily="34" charset="-122"/>
                <a:cs typeface="Century Schoolbook" pitchFamily="34" charset="-120"/>
              </a:rPr>
              <a:t>30 sec</a:t>
            </a:r>
            <a:endParaRPr lang="en-US" sz="2400" dirty="0"/>
          </a:p>
        </p:txBody>
      </p:sp>
      <p:sp>
        <p:nvSpPr>
          <p:cNvPr id="8" name="Text 5"/>
          <p:cNvSpPr/>
          <p:nvPr/>
        </p:nvSpPr>
        <p:spPr>
          <a:xfrm>
            <a:off x="7315200" y="3017520"/>
            <a:ext cx="1353312" cy="274320"/>
          </a:xfrm>
          <a:prstGeom prst="rect">
            <a:avLst/>
          </a:prstGeom>
          <a:noFill/>
          <a:ln/>
        </p:spPr>
        <p:txBody>
          <a:bodyPr wrap="square" rtlCol="0" anchor="ctr"/>
          <a:lstStyle/>
          <a:p>
            <a:pPr marL="0" indent="0" algn="ctr">
              <a:buNone/>
            </a:pPr>
            <a:r>
              <a:rPr lang="en-US" sz="1000" dirty="0">
                <a:solidFill>
                  <a:srgbClr val="8A9099"/>
                </a:solidFill>
                <a:latin typeface="Calibri" pitchFamily="34" charset="0"/>
                <a:ea typeface="Calibri" pitchFamily="34" charset="-122"/>
                <a:cs typeface="Calibri" pitchFamily="34" charset="-120"/>
              </a:rPr>
              <a:t>to start</a:t>
            </a:r>
            <a:endParaRPr lang="en-US" sz="1000" dirty="0"/>
          </a:p>
        </p:txBody>
      </p:sp>
      <p:sp>
        <p:nvSpPr>
          <p:cNvPr id="9" name="Text 6"/>
          <p:cNvSpPr/>
          <p:nvPr/>
        </p:nvSpPr>
        <p:spPr>
          <a:xfrm>
            <a:off x="7315200" y="3246120"/>
            <a:ext cx="1353312" cy="274320"/>
          </a:xfrm>
          <a:prstGeom prst="rect">
            <a:avLst/>
          </a:prstGeom>
          <a:noFill/>
          <a:ln/>
        </p:spPr>
        <p:txBody>
          <a:bodyPr wrap="square" rtlCol="0" anchor="ctr"/>
          <a:lstStyle/>
          <a:p>
            <a:pPr marL="0" indent="0" algn="ctr">
              <a:buNone/>
            </a:pPr>
            <a:r>
              <a:rPr lang="en-US" sz="1050" b="1" dirty="0">
                <a:solidFill>
                  <a:srgbClr val="1A1A1A"/>
                </a:solidFill>
                <a:latin typeface="Calibri" pitchFamily="34" charset="0"/>
                <a:ea typeface="Calibri" pitchFamily="34" charset="-122"/>
                <a:cs typeface="Calibri" pitchFamily="34" charset="-120"/>
              </a:rPr>
              <a:t>Prompting</a:t>
            </a:r>
            <a:endParaRPr lang="en-US" sz="1050" dirty="0"/>
          </a:p>
        </p:txBody>
      </p:sp>
      <p:sp>
        <p:nvSpPr>
          <p:cNvPr id="10" name="Shape 7"/>
          <p:cNvSpPr/>
          <p:nvPr/>
        </p:nvSpPr>
        <p:spPr>
          <a:xfrm>
            <a:off x="8796528" y="1828800"/>
            <a:ext cx="1353312" cy="1783080"/>
          </a:xfrm>
          <a:prstGeom prst="roundRect">
            <a:avLst>
              <a:gd name="adj" fmla="val 6081"/>
            </a:avLst>
          </a:prstGeom>
          <a:solidFill>
            <a:srgbClr val="F4F5F7"/>
          </a:solidFill>
          <a:ln w="12700">
            <a:solidFill>
              <a:srgbClr val="DADDE2"/>
            </a:solidFill>
            <a:prstDash val="solid"/>
          </a:ln>
        </p:spPr>
        <p:txBody>
          <a:bodyPr/>
          <a:lstStyle/>
          <a:p>
            <a:endParaRPr lang="en-US"/>
          </a:p>
        </p:txBody>
      </p:sp>
      <p:sp>
        <p:nvSpPr>
          <p:cNvPr id="4" name="Text 8"/>
          <p:cNvSpPr/>
          <p:nvPr/>
        </p:nvSpPr>
        <p:spPr>
          <a:xfrm>
            <a:off x="8796528" y="1965960"/>
            <a:ext cx="1353312" cy="457200"/>
          </a:xfrm>
          <a:prstGeom prst="rect">
            <a:avLst/>
          </a:prstGeom>
          <a:noFill/>
          <a:ln/>
        </p:spPr>
        <p:txBody>
          <a:bodyPr wrap="square"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2" name="Text 9"/>
          <p:cNvSpPr/>
          <p:nvPr/>
        </p:nvSpPr>
        <p:spPr>
          <a:xfrm>
            <a:off x="8796528" y="2468880"/>
            <a:ext cx="1353312" cy="548640"/>
          </a:xfrm>
          <a:prstGeom prst="rect">
            <a:avLst/>
          </a:prstGeom>
          <a:noFill/>
          <a:ln/>
        </p:spPr>
        <p:txBody>
          <a:bodyPr wrap="square" rtlCol="0" anchor="ctr"/>
          <a:lstStyle/>
          <a:p>
            <a:pPr marL="0" indent="0" algn="ctr">
              <a:buNone/>
            </a:pPr>
            <a:r>
              <a:rPr lang="en-US" sz="2400" b="1" dirty="0">
                <a:solidFill>
                  <a:srgbClr val="1D4ED8"/>
                </a:solidFill>
                <a:latin typeface="Century Schoolbook" pitchFamily="34" charset="0"/>
                <a:ea typeface="Century Schoolbook" pitchFamily="34" charset="-122"/>
                <a:cs typeface="Century Schoolbook" pitchFamily="34" charset="-120"/>
              </a:rPr>
              <a:t>30 min</a:t>
            </a:r>
            <a:endParaRPr lang="en-US" sz="2400" dirty="0"/>
          </a:p>
        </p:txBody>
      </p:sp>
      <p:sp>
        <p:nvSpPr>
          <p:cNvPr id="13" name="Text 10"/>
          <p:cNvSpPr/>
          <p:nvPr/>
        </p:nvSpPr>
        <p:spPr>
          <a:xfrm>
            <a:off x="8796528" y="3017520"/>
            <a:ext cx="1353312" cy="274320"/>
          </a:xfrm>
          <a:prstGeom prst="rect">
            <a:avLst/>
          </a:prstGeom>
          <a:noFill/>
          <a:ln/>
        </p:spPr>
        <p:txBody>
          <a:bodyPr wrap="square" rtlCol="0" anchor="ctr"/>
          <a:lstStyle/>
          <a:p>
            <a:pPr marL="0" indent="0" algn="ctr">
              <a:buNone/>
            </a:pPr>
            <a:r>
              <a:rPr lang="en-US" sz="1000" dirty="0">
                <a:solidFill>
                  <a:srgbClr val="8A9099"/>
                </a:solidFill>
                <a:latin typeface="Calibri" pitchFamily="34" charset="0"/>
                <a:ea typeface="Calibri" pitchFamily="34" charset="-122"/>
                <a:cs typeface="Calibri" pitchFamily="34" charset="-120"/>
              </a:rPr>
              <a:t>to start</a:t>
            </a:r>
            <a:endParaRPr lang="en-US" sz="1000" dirty="0"/>
          </a:p>
        </p:txBody>
      </p:sp>
      <p:sp>
        <p:nvSpPr>
          <p:cNvPr id="14" name="Text 11"/>
          <p:cNvSpPr/>
          <p:nvPr/>
        </p:nvSpPr>
        <p:spPr>
          <a:xfrm>
            <a:off x="8796528" y="3246120"/>
            <a:ext cx="1353312" cy="274320"/>
          </a:xfrm>
          <a:prstGeom prst="rect">
            <a:avLst/>
          </a:prstGeom>
          <a:noFill/>
          <a:ln/>
        </p:spPr>
        <p:txBody>
          <a:bodyPr wrap="square" rtlCol="0" anchor="ctr"/>
          <a:lstStyle/>
          <a:p>
            <a:pPr marL="0" indent="0" algn="ctr">
              <a:buNone/>
            </a:pPr>
            <a:r>
              <a:rPr lang="en-US" sz="1050" b="1" dirty="0">
                <a:solidFill>
                  <a:srgbClr val="1A1A1A"/>
                </a:solidFill>
                <a:latin typeface="Calibri" pitchFamily="34" charset="0"/>
                <a:ea typeface="Calibri" pitchFamily="34" charset="-122"/>
                <a:cs typeface="Calibri" pitchFamily="34" charset="-120"/>
              </a:rPr>
              <a:t>RAG</a:t>
            </a:r>
            <a:endParaRPr lang="en-US" sz="1050" dirty="0"/>
          </a:p>
        </p:txBody>
      </p:sp>
      <p:sp>
        <p:nvSpPr>
          <p:cNvPr id="15" name="Shape 12"/>
          <p:cNvSpPr/>
          <p:nvPr/>
        </p:nvSpPr>
        <p:spPr>
          <a:xfrm>
            <a:off x="10277856" y="1828800"/>
            <a:ext cx="1353312" cy="1783080"/>
          </a:xfrm>
          <a:prstGeom prst="roundRect">
            <a:avLst>
              <a:gd name="adj" fmla="val 6081"/>
            </a:avLst>
          </a:prstGeom>
          <a:solidFill>
            <a:srgbClr val="F4F5F7"/>
          </a:solidFill>
          <a:ln w="12700">
            <a:solidFill>
              <a:srgbClr val="DADDE2"/>
            </a:solidFill>
            <a:prstDash val="solid"/>
          </a:ln>
        </p:spPr>
        <p:txBody>
          <a:bodyPr/>
          <a:lstStyle/>
          <a:p>
            <a:endParaRPr lang="en-US"/>
          </a:p>
        </p:txBody>
      </p:sp>
      <p:sp>
        <p:nvSpPr>
          <p:cNvPr id="16" name="Text 13"/>
          <p:cNvSpPr/>
          <p:nvPr/>
        </p:nvSpPr>
        <p:spPr>
          <a:xfrm>
            <a:off x="10277856" y="1965960"/>
            <a:ext cx="1353312" cy="457200"/>
          </a:xfrm>
          <a:prstGeom prst="rect">
            <a:avLst/>
          </a:prstGeom>
          <a:noFill/>
          <a:ln/>
        </p:spPr>
        <p:txBody>
          <a:bodyPr wrap="square"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7" name="Text 14"/>
          <p:cNvSpPr/>
          <p:nvPr/>
        </p:nvSpPr>
        <p:spPr>
          <a:xfrm>
            <a:off x="10277856" y="2468880"/>
            <a:ext cx="1353312" cy="548640"/>
          </a:xfrm>
          <a:prstGeom prst="rect">
            <a:avLst/>
          </a:prstGeom>
          <a:noFill/>
          <a:ln/>
        </p:spPr>
        <p:txBody>
          <a:bodyPr wrap="square" rtlCol="0" anchor="ctr"/>
          <a:lstStyle/>
          <a:p>
            <a:pPr marL="0" indent="0" algn="ctr">
              <a:buNone/>
            </a:pPr>
            <a:r>
              <a:rPr lang="en-US" sz="2400" b="1" dirty="0">
                <a:solidFill>
                  <a:srgbClr val="E30613"/>
                </a:solidFill>
                <a:latin typeface="Century Schoolbook" pitchFamily="34" charset="0"/>
                <a:ea typeface="Century Schoolbook" pitchFamily="34" charset="-122"/>
                <a:cs typeface="Century Schoolbook" pitchFamily="34" charset="-120"/>
              </a:rPr>
              <a:t>30 days</a:t>
            </a:r>
            <a:endParaRPr lang="en-US" sz="2400" dirty="0"/>
          </a:p>
        </p:txBody>
      </p:sp>
      <p:sp>
        <p:nvSpPr>
          <p:cNvPr id="18" name="Text 15"/>
          <p:cNvSpPr/>
          <p:nvPr/>
        </p:nvSpPr>
        <p:spPr>
          <a:xfrm>
            <a:off x="10277856" y="3017520"/>
            <a:ext cx="1353312" cy="274320"/>
          </a:xfrm>
          <a:prstGeom prst="rect">
            <a:avLst/>
          </a:prstGeom>
          <a:noFill/>
          <a:ln/>
        </p:spPr>
        <p:txBody>
          <a:bodyPr wrap="square" rtlCol="0" anchor="ctr"/>
          <a:lstStyle/>
          <a:p>
            <a:pPr marL="0" indent="0" algn="ctr">
              <a:buNone/>
            </a:pPr>
            <a:r>
              <a:rPr lang="en-US" sz="1000" dirty="0">
                <a:solidFill>
                  <a:srgbClr val="8A9099"/>
                </a:solidFill>
                <a:latin typeface="Calibri" pitchFamily="34" charset="0"/>
                <a:ea typeface="Calibri" pitchFamily="34" charset="-122"/>
                <a:cs typeface="Calibri" pitchFamily="34" charset="-120"/>
              </a:rPr>
              <a:t>to start</a:t>
            </a:r>
            <a:endParaRPr lang="en-US" sz="1000" dirty="0"/>
          </a:p>
        </p:txBody>
      </p:sp>
      <p:sp>
        <p:nvSpPr>
          <p:cNvPr id="19" name="Text 16"/>
          <p:cNvSpPr/>
          <p:nvPr/>
        </p:nvSpPr>
        <p:spPr>
          <a:xfrm>
            <a:off x="10277856" y="3246120"/>
            <a:ext cx="1353312" cy="274320"/>
          </a:xfrm>
          <a:prstGeom prst="rect">
            <a:avLst/>
          </a:prstGeom>
          <a:noFill/>
          <a:ln/>
        </p:spPr>
        <p:txBody>
          <a:bodyPr wrap="square" rtlCol="0" anchor="ctr"/>
          <a:lstStyle/>
          <a:p>
            <a:pPr marL="0" indent="0" algn="ctr">
              <a:buNone/>
            </a:pPr>
            <a:r>
              <a:rPr lang="en-US" sz="1050" b="1" dirty="0">
                <a:solidFill>
                  <a:srgbClr val="1A1A1A"/>
                </a:solidFill>
                <a:latin typeface="Calibri" pitchFamily="34" charset="0"/>
                <a:ea typeface="Calibri" pitchFamily="34" charset="-122"/>
                <a:cs typeface="Calibri" pitchFamily="34" charset="-120"/>
              </a:rPr>
              <a:t>Fine-Tuning</a:t>
            </a:r>
            <a:endParaRPr lang="en-US" sz="1050" dirty="0"/>
          </a:p>
        </p:txBody>
      </p:sp>
      <p:sp>
        <p:nvSpPr>
          <p:cNvPr id="20" name="Shape 17"/>
          <p:cNvSpPr/>
          <p:nvPr/>
        </p:nvSpPr>
        <p:spPr>
          <a:xfrm>
            <a:off x="640080" y="4023360"/>
            <a:ext cx="10881360" cy="2286000"/>
          </a:xfrm>
          <a:prstGeom prst="roundRect">
            <a:avLst>
              <a:gd name="adj" fmla="val 3600"/>
            </a:avLst>
          </a:prstGeom>
          <a:solidFill>
            <a:srgbClr val="F4F5F7"/>
          </a:solidFill>
          <a:ln w="12700">
            <a:solidFill>
              <a:srgbClr val="DADDE2"/>
            </a:solidFill>
            <a:prstDash val="solid"/>
          </a:ln>
        </p:spPr>
        <p:txBody>
          <a:bodyPr/>
          <a:lstStyle/>
          <a:p>
            <a:endParaRPr lang="en-US"/>
          </a:p>
        </p:txBody>
      </p:sp>
      <p:sp>
        <p:nvSpPr>
          <p:cNvPr id="21" name="Text 18"/>
          <p:cNvSpPr/>
          <p:nvPr/>
        </p:nvSpPr>
        <p:spPr>
          <a:xfrm>
            <a:off x="868680" y="4206240"/>
            <a:ext cx="10424160" cy="365760"/>
          </a:xfrm>
          <a:prstGeom prst="rect">
            <a:avLst/>
          </a:prstGeom>
          <a:noFill/>
          <a:ln/>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  The Ladder of LLM Optimization — always climb left → right, don't skip steps</a:t>
            </a:r>
            <a:endParaRPr lang="en-US" sz="1400" dirty="0"/>
          </a:p>
        </p:txBody>
      </p:sp>
      <p:sp>
        <p:nvSpPr>
          <p:cNvPr id="22" name="Shape 19"/>
          <p:cNvSpPr/>
          <p:nvPr/>
        </p:nvSpPr>
        <p:spPr>
          <a:xfrm>
            <a:off x="868680" y="4800600"/>
            <a:ext cx="1572768" cy="640080"/>
          </a:xfrm>
          <a:prstGeom prst="roundRect">
            <a:avLst>
              <a:gd name="adj" fmla="val 11429"/>
            </a:avLst>
          </a:prstGeom>
          <a:solidFill>
            <a:srgbClr val="6D28D9">
              <a:alpha val="20000"/>
            </a:srgbClr>
          </a:solidFill>
          <a:ln w="12700">
            <a:solidFill>
              <a:srgbClr val="6D28D9"/>
            </a:solidFill>
            <a:prstDash val="solid"/>
          </a:ln>
        </p:spPr>
        <p:txBody>
          <a:bodyPr/>
          <a:lstStyle/>
          <a:p>
            <a:endParaRPr lang="en-US"/>
          </a:p>
        </p:txBody>
      </p:sp>
      <p:sp>
        <p:nvSpPr>
          <p:cNvPr id="23" name="Text 20"/>
          <p:cNvSpPr/>
          <p:nvPr/>
        </p:nvSpPr>
        <p:spPr>
          <a:xfrm>
            <a:off x="868680" y="4800600"/>
            <a:ext cx="1572768" cy="640080"/>
          </a:xfrm>
          <a:prstGeom prst="rect">
            <a:avLst/>
          </a:prstGeom>
          <a:no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Zero-shot</a:t>
            </a:r>
            <a:endParaRPr lang="en-US" sz="1100" dirty="0"/>
          </a:p>
        </p:txBody>
      </p:sp>
      <p:sp>
        <p:nvSpPr>
          <p:cNvPr id="24" name="Text 21"/>
          <p:cNvSpPr/>
          <p:nvPr/>
        </p:nvSpPr>
        <p:spPr>
          <a:xfrm>
            <a:off x="2386584" y="4800600"/>
            <a:ext cx="219456" cy="640080"/>
          </a:xfrm>
          <a:prstGeom prst="rect">
            <a:avLst/>
          </a:prstGeom>
          <a:noFill/>
          <a:ln/>
        </p:spPr>
        <p:txBody>
          <a:bodyPr wrap="square" rtlCol="0" anchor="ctr"/>
          <a:lstStyle/>
          <a:p>
            <a:pPr marL="0" indent="0" algn="ctr">
              <a:buNone/>
            </a:pPr>
            <a:r>
              <a:rPr lang="en-US" sz="1500" dirty="0">
                <a:solidFill>
                  <a:srgbClr val="8A9099"/>
                </a:solidFill>
                <a:latin typeface="Calibri" pitchFamily="34" charset="0"/>
                <a:ea typeface="Calibri" pitchFamily="34" charset="-122"/>
                <a:cs typeface="Calibri" pitchFamily="34" charset="-120"/>
              </a:rPr>
              <a:t>→</a:t>
            </a:r>
            <a:endParaRPr lang="en-US" sz="1500" dirty="0"/>
          </a:p>
        </p:txBody>
      </p:sp>
      <p:sp>
        <p:nvSpPr>
          <p:cNvPr id="25" name="Shape 22"/>
          <p:cNvSpPr/>
          <p:nvPr/>
        </p:nvSpPr>
        <p:spPr>
          <a:xfrm>
            <a:off x="2606040" y="4800600"/>
            <a:ext cx="1572768" cy="640080"/>
          </a:xfrm>
          <a:prstGeom prst="roundRect">
            <a:avLst>
              <a:gd name="adj" fmla="val 11429"/>
            </a:avLst>
          </a:prstGeom>
          <a:solidFill>
            <a:srgbClr val="6D28D9">
              <a:alpha val="20000"/>
            </a:srgbClr>
          </a:solidFill>
          <a:ln w="12700">
            <a:solidFill>
              <a:srgbClr val="6D28D9"/>
            </a:solidFill>
            <a:prstDash val="solid"/>
          </a:ln>
        </p:spPr>
        <p:txBody>
          <a:bodyPr/>
          <a:lstStyle/>
          <a:p>
            <a:endParaRPr lang="en-US"/>
          </a:p>
        </p:txBody>
      </p:sp>
      <p:sp>
        <p:nvSpPr>
          <p:cNvPr id="26" name="Text 23"/>
          <p:cNvSpPr/>
          <p:nvPr/>
        </p:nvSpPr>
        <p:spPr>
          <a:xfrm>
            <a:off x="2606040" y="4800600"/>
            <a:ext cx="1572768" cy="640080"/>
          </a:xfrm>
          <a:prstGeom prst="rect">
            <a:avLst/>
          </a:prstGeom>
          <a:no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Few-shot</a:t>
            </a:r>
            <a:endParaRPr lang="en-US" sz="1100" dirty="0"/>
          </a:p>
        </p:txBody>
      </p:sp>
      <p:sp>
        <p:nvSpPr>
          <p:cNvPr id="27" name="Text 24"/>
          <p:cNvSpPr/>
          <p:nvPr/>
        </p:nvSpPr>
        <p:spPr>
          <a:xfrm>
            <a:off x="4123944" y="4800600"/>
            <a:ext cx="219456" cy="640080"/>
          </a:xfrm>
          <a:prstGeom prst="rect">
            <a:avLst/>
          </a:prstGeom>
          <a:noFill/>
          <a:ln/>
        </p:spPr>
        <p:txBody>
          <a:bodyPr wrap="square" rtlCol="0" anchor="ctr"/>
          <a:lstStyle/>
          <a:p>
            <a:pPr marL="0" indent="0" algn="ctr">
              <a:buNone/>
            </a:pPr>
            <a:r>
              <a:rPr lang="en-US" sz="1500" dirty="0">
                <a:solidFill>
                  <a:srgbClr val="8A9099"/>
                </a:solidFill>
                <a:latin typeface="Calibri" pitchFamily="34" charset="0"/>
                <a:ea typeface="Calibri" pitchFamily="34" charset="-122"/>
                <a:cs typeface="Calibri" pitchFamily="34" charset="-120"/>
              </a:rPr>
              <a:t>→</a:t>
            </a:r>
            <a:endParaRPr lang="en-US" sz="1500" dirty="0"/>
          </a:p>
        </p:txBody>
      </p:sp>
      <p:sp>
        <p:nvSpPr>
          <p:cNvPr id="28" name="Shape 25"/>
          <p:cNvSpPr/>
          <p:nvPr/>
        </p:nvSpPr>
        <p:spPr>
          <a:xfrm>
            <a:off x="4343400" y="4800600"/>
            <a:ext cx="1572768" cy="640080"/>
          </a:xfrm>
          <a:prstGeom prst="roundRect">
            <a:avLst>
              <a:gd name="adj" fmla="val 11429"/>
            </a:avLst>
          </a:prstGeom>
          <a:solidFill>
            <a:srgbClr val="2563EB">
              <a:alpha val="20000"/>
            </a:srgbClr>
          </a:solidFill>
          <a:ln w="12700">
            <a:solidFill>
              <a:srgbClr val="2563EB"/>
            </a:solidFill>
            <a:prstDash val="solid"/>
          </a:ln>
        </p:spPr>
        <p:txBody>
          <a:bodyPr/>
          <a:lstStyle/>
          <a:p>
            <a:endParaRPr lang="en-US"/>
          </a:p>
        </p:txBody>
      </p:sp>
      <p:sp>
        <p:nvSpPr>
          <p:cNvPr id="29" name="Text 26"/>
          <p:cNvSpPr/>
          <p:nvPr/>
        </p:nvSpPr>
        <p:spPr>
          <a:xfrm>
            <a:off x="4343400" y="4800600"/>
            <a:ext cx="1572768" cy="640080"/>
          </a:xfrm>
          <a:prstGeom prst="rect">
            <a:avLst/>
          </a:prstGeom>
          <a:no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Few-shot + RAG</a:t>
            </a:r>
            <a:endParaRPr lang="en-US" sz="1100" dirty="0"/>
          </a:p>
        </p:txBody>
      </p:sp>
      <p:sp>
        <p:nvSpPr>
          <p:cNvPr id="30" name="Text 27"/>
          <p:cNvSpPr/>
          <p:nvPr/>
        </p:nvSpPr>
        <p:spPr>
          <a:xfrm>
            <a:off x="5861304" y="4800600"/>
            <a:ext cx="219456" cy="640080"/>
          </a:xfrm>
          <a:prstGeom prst="rect">
            <a:avLst/>
          </a:prstGeom>
          <a:noFill/>
          <a:ln/>
        </p:spPr>
        <p:txBody>
          <a:bodyPr wrap="square" rtlCol="0" anchor="ctr"/>
          <a:lstStyle/>
          <a:p>
            <a:pPr marL="0" indent="0" algn="ctr">
              <a:buNone/>
            </a:pPr>
            <a:r>
              <a:rPr lang="en-US" sz="1500" dirty="0">
                <a:solidFill>
                  <a:srgbClr val="8A9099"/>
                </a:solidFill>
                <a:latin typeface="Calibri" pitchFamily="34" charset="0"/>
                <a:ea typeface="Calibri" pitchFamily="34" charset="-122"/>
                <a:cs typeface="Calibri" pitchFamily="34" charset="-120"/>
              </a:rPr>
              <a:t>→</a:t>
            </a:r>
            <a:endParaRPr lang="en-US" sz="1500" dirty="0"/>
          </a:p>
        </p:txBody>
      </p:sp>
      <p:sp>
        <p:nvSpPr>
          <p:cNvPr id="31" name="Shape 28"/>
          <p:cNvSpPr/>
          <p:nvPr/>
        </p:nvSpPr>
        <p:spPr>
          <a:xfrm>
            <a:off x="6080760" y="4800600"/>
            <a:ext cx="1572768" cy="640080"/>
          </a:xfrm>
          <a:prstGeom prst="roundRect">
            <a:avLst>
              <a:gd name="adj" fmla="val 11429"/>
            </a:avLst>
          </a:prstGeom>
          <a:solidFill>
            <a:srgbClr val="2563EB">
              <a:alpha val="20000"/>
            </a:srgbClr>
          </a:solidFill>
          <a:ln w="12700">
            <a:solidFill>
              <a:srgbClr val="2563EB"/>
            </a:solidFill>
            <a:prstDash val="solid"/>
          </a:ln>
        </p:spPr>
        <p:txBody>
          <a:bodyPr/>
          <a:lstStyle/>
          <a:p>
            <a:endParaRPr lang="en-US"/>
          </a:p>
        </p:txBody>
      </p:sp>
      <p:sp>
        <p:nvSpPr>
          <p:cNvPr id="32" name="Text 29"/>
          <p:cNvSpPr/>
          <p:nvPr/>
        </p:nvSpPr>
        <p:spPr>
          <a:xfrm>
            <a:off x="6080760" y="4800600"/>
            <a:ext cx="1572768" cy="640080"/>
          </a:xfrm>
          <a:prstGeom prst="rect">
            <a:avLst/>
          </a:prstGeom>
          <a:no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RAG</a:t>
            </a:r>
            <a:endParaRPr lang="en-US" sz="1100" dirty="0"/>
          </a:p>
        </p:txBody>
      </p:sp>
      <p:sp>
        <p:nvSpPr>
          <p:cNvPr id="33" name="Text 30"/>
          <p:cNvSpPr/>
          <p:nvPr/>
        </p:nvSpPr>
        <p:spPr>
          <a:xfrm>
            <a:off x="7598664" y="4800600"/>
            <a:ext cx="219456" cy="640080"/>
          </a:xfrm>
          <a:prstGeom prst="rect">
            <a:avLst/>
          </a:prstGeom>
          <a:noFill/>
          <a:ln/>
        </p:spPr>
        <p:txBody>
          <a:bodyPr wrap="square" rtlCol="0" anchor="ctr"/>
          <a:lstStyle/>
          <a:p>
            <a:pPr marL="0" indent="0" algn="ctr">
              <a:buNone/>
            </a:pPr>
            <a:r>
              <a:rPr lang="en-US" sz="1500" dirty="0">
                <a:solidFill>
                  <a:srgbClr val="8A9099"/>
                </a:solidFill>
                <a:latin typeface="Calibri" pitchFamily="34" charset="0"/>
                <a:ea typeface="Calibri" pitchFamily="34" charset="-122"/>
                <a:cs typeface="Calibri" pitchFamily="34" charset="-120"/>
              </a:rPr>
              <a:t>→</a:t>
            </a:r>
            <a:endParaRPr lang="en-US" sz="1500" dirty="0"/>
          </a:p>
        </p:txBody>
      </p:sp>
      <p:sp>
        <p:nvSpPr>
          <p:cNvPr id="34" name="Shape 31"/>
          <p:cNvSpPr/>
          <p:nvPr/>
        </p:nvSpPr>
        <p:spPr>
          <a:xfrm>
            <a:off x="7818120" y="4800600"/>
            <a:ext cx="1572768" cy="640080"/>
          </a:xfrm>
          <a:prstGeom prst="roundRect">
            <a:avLst>
              <a:gd name="adj" fmla="val 11429"/>
            </a:avLst>
          </a:prstGeom>
          <a:solidFill>
            <a:srgbClr val="E30613">
              <a:alpha val="20000"/>
            </a:srgbClr>
          </a:solidFill>
          <a:ln w="12700">
            <a:solidFill>
              <a:srgbClr val="E30613"/>
            </a:solidFill>
            <a:prstDash val="solid"/>
          </a:ln>
        </p:spPr>
        <p:txBody>
          <a:bodyPr/>
          <a:lstStyle/>
          <a:p>
            <a:endParaRPr lang="en-US"/>
          </a:p>
        </p:txBody>
      </p:sp>
      <p:sp>
        <p:nvSpPr>
          <p:cNvPr id="35" name="Text 32"/>
          <p:cNvSpPr/>
          <p:nvPr/>
        </p:nvSpPr>
        <p:spPr>
          <a:xfrm>
            <a:off x="7818120" y="4800600"/>
            <a:ext cx="1572768" cy="640080"/>
          </a:xfrm>
          <a:prstGeom prst="rect">
            <a:avLst/>
          </a:prstGeom>
          <a:no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Fine-Tune</a:t>
            </a:r>
            <a:endParaRPr lang="en-US" sz="1100" dirty="0"/>
          </a:p>
        </p:txBody>
      </p:sp>
      <p:sp>
        <p:nvSpPr>
          <p:cNvPr id="36" name="Text 33"/>
          <p:cNvSpPr/>
          <p:nvPr/>
        </p:nvSpPr>
        <p:spPr>
          <a:xfrm>
            <a:off x="9336024" y="4800600"/>
            <a:ext cx="219456" cy="640080"/>
          </a:xfrm>
          <a:prstGeom prst="rect">
            <a:avLst/>
          </a:prstGeom>
          <a:noFill/>
          <a:ln/>
        </p:spPr>
        <p:txBody>
          <a:bodyPr wrap="square" rtlCol="0" anchor="ctr"/>
          <a:lstStyle/>
          <a:p>
            <a:pPr marL="0" indent="0" algn="ctr">
              <a:buNone/>
            </a:pPr>
            <a:r>
              <a:rPr lang="en-US" sz="1500" dirty="0">
                <a:solidFill>
                  <a:srgbClr val="8A9099"/>
                </a:solidFill>
                <a:latin typeface="Calibri" pitchFamily="34" charset="0"/>
                <a:ea typeface="Calibri" pitchFamily="34" charset="-122"/>
                <a:cs typeface="Calibri" pitchFamily="34" charset="-120"/>
              </a:rPr>
              <a:t>→</a:t>
            </a:r>
            <a:endParaRPr lang="en-US" sz="1500" dirty="0"/>
          </a:p>
        </p:txBody>
      </p:sp>
      <p:sp>
        <p:nvSpPr>
          <p:cNvPr id="37" name="Shape 34"/>
          <p:cNvSpPr/>
          <p:nvPr/>
        </p:nvSpPr>
        <p:spPr>
          <a:xfrm>
            <a:off x="9555480" y="4800600"/>
            <a:ext cx="1572768" cy="640080"/>
          </a:xfrm>
          <a:prstGeom prst="roundRect">
            <a:avLst>
              <a:gd name="adj" fmla="val 11429"/>
            </a:avLst>
          </a:prstGeom>
          <a:solidFill>
            <a:srgbClr val="059669">
              <a:alpha val="20000"/>
            </a:srgbClr>
          </a:solidFill>
          <a:ln w="12700">
            <a:solidFill>
              <a:srgbClr val="059669"/>
            </a:solidFill>
            <a:prstDash val="solid"/>
          </a:ln>
        </p:spPr>
        <p:txBody>
          <a:bodyPr/>
          <a:lstStyle/>
          <a:p>
            <a:endParaRPr lang="en-US"/>
          </a:p>
        </p:txBody>
      </p:sp>
      <p:sp>
        <p:nvSpPr>
          <p:cNvPr id="38" name="Text 35"/>
          <p:cNvSpPr/>
          <p:nvPr/>
        </p:nvSpPr>
        <p:spPr>
          <a:xfrm>
            <a:off x="9555480" y="4800600"/>
            <a:ext cx="1572768" cy="640080"/>
          </a:xfrm>
          <a:prstGeom prst="rect">
            <a:avLst/>
          </a:prstGeom>
          <a:noFill/>
          <a:ln/>
        </p:spPr>
        <p:txBody>
          <a:bodyPr wrap="square" rtlCol="0" anchor="ctr"/>
          <a:lstStyle/>
          <a:p>
            <a:pPr marL="0" indent="0" algn="ctr">
              <a:buNone/>
            </a:pPr>
            <a:r>
              <a:rPr lang="en-US" sz="1100" b="1" dirty="0">
                <a:solidFill>
                  <a:srgbClr val="1A1A1A"/>
                </a:solidFill>
                <a:latin typeface="Calibri" pitchFamily="34" charset="0"/>
                <a:ea typeface="Calibri" pitchFamily="34" charset="-122"/>
                <a:cs typeface="Calibri" pitchFamily="34" charset="-120"/>
              </a:rPr>
              <a:t>Fine-Tune + RAG 🏆</a:t>
            </a:r>
            <a:endParaRPr lang="en-US" sz="1100" dirty="0"/>
          </a:p>
        </p:txBody>
      </p:sp>
      <p:sp>
        <p:nvSpPr>
          <p:cNvPr id="39" name="Text 36"/>
          <p:cNvSpPr/>
          <p:nvPr/>
        </p:nvSpPr>
        <p:spPr>
          <a:xfrm>
            <a:off x="868680" y="5623560"/>
            <a:ext cx="10424160" cy="457200"/>
          </a:xfrm>
          <a:prstGeom prst="rect">
            <a:avLst/>
          </a:prstGeom>
          <a:noFill/>
          <a:ln/>
        </p:spPr>
        <p:txBody>
          <a:bodyPr wrap="square" rtlCol="0" anchor="ctr"/>
          <a:lstStyle/>
          <a:p>
            <a:pPr marL="0" indent="0">
              <a:buNone/>
            </a:pPr>
            <a:r>
              <a:rPr lang="en-US" sz="1200" i="1" dirty="0">
                <a:solidFill>
                  <a:srgbClr val="5A5F66"/>
                </a:solidFill>
                <a:latin typeface="Calibri" pitchFamily="34" charset="0"/>
                <a:ea typeface="Calibri" pitchFamily="34" charset="-122"/>
                <a:cs typeface="Calibri" pitchFamily="34" charset="-120"/>
              </a:rPr>
              <a:t>Fine-tuning is cheapest per query but most expensive to set up — the cost is your team's time, not the API bill.</a:t>
            </a:r>
            <a:endParaRPr lang="en-US" sz="1200" dirty="0"/>
          </a:p>
        </p:txBody>
      </p:sp>
      <p:sp>
        <p:nvSpPr>
          <p:cNvPr id="40" name="Text 37"/>
          <p:cNvSpPr/>
          <p:nvPr/>
        </p:nvSpPr>
        <p:spPr>
          <a:xfrm>
            <a:off x="10728655" y="6400800"/>
            <a:ext cx="1097280" cy="274320"/>
          </a:xfrm>
          <a:prstGeom prst="rect">
            <a:avLst/>
          </a:prstGeom>
          <a:noFill/>
          <a:ln/>
        </p:spPr>
        <p:txBody>
          <a:bodyPr wrap="square" rtlCol="0" anchor="ctr"/>
          <a:lstStyle/>
          <a:p>
            <a:pPr marL="0" indent="0" algn="r">
              <a:buNone/>
            </a:pPr>
            <a:r>
              <a:rPr lang="en-US" sz="1000" dirty="0">
                <a:solidFill>
                  <a:srgbClr val="8A9099"/>
                </a:solidFill>
                <a:latin typeface="Courier New" pitchFamily="34" charset="0"/>
                <a:ea typeface="Courier New" pitchFamily="34" charset="-122"/>
                <a:cs typeface="Courier New" pitchFamily="34" charset="-120"/>
              </a:rPr>
              <a:t>10 / 16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rtlCol="0" anchor="ctr"/>
          <a:lstStyle/>
          <a:p>
            <a:pPr marL="0" indent="0" algn="l">
              <a:buNone/>
            </a:pPr>
            <a:r>
              <a:rPr lang="en-US" sz="1200" b="1" kern="0" spc="300" dirty="0">
                <a:solidFill>
                  <a:srgbClr val="B45309"/>
                </a:solidFill>
                <a:latin typeface="Calibri" pitchFamily="34" charset="0"/>
                <a:ea typeface="Calibri" pitchFamily="34" charset="-122"/>
                <a:cs typeface="Calibri" pitchFamily="34" charset="-120"/>
              </a:rPr>
              <a:t>DECIDE</a:t>
            </a:r>
            <a:endParaRPr lang="en-US" sz="1200" dirty="0"/>
          </a:p>
        </p:txBody>
      </p:sp>
      <p:sp>
        <p:nvSpPr>
          <p:cNvPr id="3" name="Text 1"/>
          <p:cNvSpPr/>
          <p:nvPr/>
        </p:nvSpPr>
        <p:spPr>
          <a:xfrm>
            <a:off x="640080" y="777240"/>
            <a:ext cx="10911535" cy="822960"/>
          </a:xfrm>
          <a:prstGeom prst="rect">
            <a:avLst/>
          </a:prstGeom>
          <a:noFill/>
          <a:ln/>
        </p:spPr>
        <p:txBody>
          <a:bodyPr wrap="square" rtlCol="0" anchor="ctr"/>
          <a:lstStyle/>
          <a:p>
            <a:pPr marL="0" indent="0" algn="l">
              <a:buNone/>
            </a:pPr>
            <a:r>
              <a:rPr lang="en-US" sz="3200" b="1" dirty="0">
                <a:solidFill>
                  <a:srgbClr val="1A1A1A"/>
                </a:solidFill>
                <a:latin typeface="Century Schoolbook" pitchFamily="34" charset="0"/>
                <a:ea typeface="Century Schoolbook" pitchFamily="34" charset="-122"/>
                <a:cs typeface="Century Schoolbook" pitchFamily="34" charset="-120"/>
              </a:rPr>
              <a:t>🧭 Which one? Diagnose the failure first</a:t>
            </a:r>
            <a:endParaRPr lang="en-US" sz="3200" dirty="0"/>
          </a:p>
        </p:txBody>
      </p:sp>
      <p:sp>
        <p:nvSpPr>
          <p:cNvPr id="4" name="Shape 2"/>
          <p:cNvSpPr/>
          <p:nvPr/>
        </p:nvSpPr>
        <p:spPr>
          <a:xfrm>
            <a:off x="3566160" y="1691640"/>
            <a:ext cx="5029200" cy="548640"/>
          </a:xfrm>
          <a:prstGeom prst="roundRect">
            <a:avLst>
              <a:gd name="adj" fmla="val 16667"/>
            </a:avLst>
          </a:prstGeom>
          <a:solidFill>
            <a:srgbClr val="E30613">
              <a:alpha val="20000"/>
            </a:srgbClr>
          </a:solidFill>
          <a:ln w="19050">
            <a:solidFill>
              <a:srgbClr val="E30613"/>
            </a:solidFill>
            <a:prstDash val="solid"/>
          </a:ln>
        </p:spPr>
        <p:txBody>
          <a:bodyPr/>
          <a:lstStyle/>
          <a:p>
            <a:endParaRPr lang="en-US"/>
          </a:p>
        </p:txBody>
      </p:sp>
      <p:sp>
        <p:nvSpPr>
          <p:cNvPr id="5" name="Text 3"/>
          <p:cNvSpPr/>
          <p:nvPr/>
        </p:nvSpPr>
        <p:spPr>
          <a:xfrm>
            <a:off x="3566160" y="1691640"/>
            <a:ext cx="5029200" cy="548640"/>
          </a:xfrm>
          <a:prstGeom prst="rect">
            <a:avLst/>
          </a:prstGeom>
          <a:noFill/>
          <a:ln/>
        </p:spPr>
        <p:txBody>
          <a:bodyPr wrap="square" rtlCol="0" anchor="ctr"/>
          <a:lstStyle/>
          <a:p>
            <a:pPr marL="0" indent="0" algn="ctr">
              <a:buNone/>
            </a:pPr>
            <a:r>
              <a:rPr lang="en-US" sz="1300" b="1" dirty="0">
                <a:solidFill>
                  <a:srgbClr val="1A1A1A"/>
                </a:solidFill>
                <a:latin typeface="Calibri" pitchFamily="34" charset="0"/>
                <a:ea typeface="Calibri" pitchFamily="34" charset="-122"/>
                <a:cs typeface="Calibri" pitchFamily="34" charset="-120"/>
              </a:rPr>
              <a:t>🤔 Is the LLM failing? — What kind of failure?</a:t>
            </a:r>
            <a:endParaRPr lang="en-US" sz="1300" dirty="0"/>
          </a:p>
        </p:txBody>
      </p:sp>
      <p:sp>
        <p:nvSpPr>
          <p:cNvPr id="6" name="Text 4"/>
          <p:cNvSpPr/>
          <p:nvPr/>
        </p:nvSpPr>
        <p:spPr>
          <a:xfrm>
            <a:off x="640080" y="2587752"/>
            <a:ext cx="2606040" cy="274320"/>
          </a:xfrm>
          <a:prstGeom prst="rect">
            <a:avLst/>
          </a:prstGeom>
          <a:noFill/>
          <a:ln/>
        </p:spPr>
        <p:txBody>
          <a:bodyPr wrap="square" rtlCol="0" anchor="ctr"/>
          <a:lstStyle/>
          <a:p>
            <a:pPr marL="0" indent="0" algn="ctr">
              <a:buNone/>
            </a:pPr>
            <a:r>
              <a:rPr lang="en-US" sz="1050" dirty="0">
                <a:solidFill>
                  <a:srgbClr val="8A9099"/>
                </a:solidFill>
                <a:latin typeface="Calibri" pitchFamily="34" charset="0"/>
                <a:ea typeface="Calibri" pitchFamily="34" charset="-122"/>
                <a:cs typeface="Calibri" pitchFamily="34" charset="-120"/>
              </a:rPr>
              <a:t>Doesn't know facts</a:t>
            </a:r>
            <a:endParaRPr lang="en-US" sz="1050" dirty="0"/>
          </a:p>
        </p:txBody>
      </p:sp>
      <p:sp>
        <p:nvSpPr>
          <p:cNvPr id="7" name="Shape 5"/>
          <p:cNvSpPr/>
          <p:nvPr/>
        </p:nvSpPr>
        <p:spPr>
          <a:xfrm>
            <a:off x="640080" y="2898648"/>
            <a:ext cx="2606040" cy="1051560"/>
          </a:xfrm>
          <a:prstGeom prst="roundRect">
            <a:avLst>
              <a:gd name="adj" fmla="val 7826"/>
            </a:avLst>
          </a:prstGeom>
          <a:solidFill>
            <a:srgbClr val="F4F5F7"/>
          </a:solidFill>
          <a:ln w="12700">
            <a:solidFill>
              <a:srgbClr val="1D4ED8"/>
            </a:solidFill>
            <a:prstDash val="solid"/>
          </a:ln>
        </p:spPr>
        <p:txBody>
          <a:bodyPr/>
          <a:lstStyle/>
          <a:p>
            <a:endParaRPr lang="en-US"/>
          </a:p>
        </p:txBody>
      </p:sp>
      <p:sp>
        <p:nvSpPr>
          <p:cNvPr id="8" name="Text 6"/>
          <p:cNvSpPr/>
          <p:nvPr/>
        </p:nvSpPr>
        <p:spPr>
          <a:xfrm>
            <a:off x="640080" y="3017520"/>
            <a:ext cx="2606040" cy="365760"/>
          </a:xfrm>
          <a:prstGeom prst="rect">
            <a:avLst/>
          </a:prstGeom>
          <a:noFill/>
          <a:ln/>
        </p:spPr>
        <p:txBody>
          <a:bodyPr wrap="square" rtlCol="0" anchor="ctr"/>
          <a:lstStyle/>
          <a:p>
            <a:pPr marL="0" indent="0" algn="ctr">
              <a:buNone/>
            </a:pPr>
            <a:r>
              <a:rPr lang="en-US" sz="1250" b="1" dirty="0">
                <a:solidFill>
                  <a:srgbClr val="1D4ED8"/>
                </a:solidFill>
                <a:latin typeface="Calibri" pitchFamily="34" charset="0"/>
                <a:ea typeface="Calibri" pitchFamily="34" charset="-122"/>
                <a:cs typeface="Calibri" pitchFamily="34" charset="-120"/>
              </a:rPr>
              <a:t>📚 KNOWLEDGE GAP</a:t>
            </a:r>
            <a:endParaRPr lang="en-US" sz="1250" dirty="0"/>
          </a:p>
        </p:txBody>
      </p:sp>
      <p:sp>
        <p:nvSpPr>
          <p:cNvPr id="9" name="Text 7"/>
          <p:cNvSpPr/>
          <p:nvPr/>
        </p:nvSpPr>
        <p:spPr>
          <a:xfrm>
            <a:off x="640080" y="3429000"/>
            <a:ext cx="2606040" cy="365760"/>
          </a:xfrm>
          <a:prstGeom prst="rect">
            <a:avLst/>
          </a:prstGeom>
          <a:noFill/>
          <a:ln/>
        </p:spPr>
        <p:txBody>
          <a:bodyPr wrap="square"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 Use RAG</a:t>
            </a:r>
            <a:endParaRPr lang="en-US" sz="1200" dirty="0"/>
          </a:p>
        </p:txBody>
      </p:sp>
      <p:sp>
        <p:nvSpPr>
          <p:cNvPr id="10" name="Text 8"/>
          <p:cNvSpPr/>
          <p:nvPr/>
        </p:nvSpPr>
        <p:spPr>
          <a:xfrm>
            <a:off x="3410712" y="2587752"/>
            <a:ext cx="2606040" cy="274320"/>
          </a:xfrm>
          <a:prstGeom prst="rect">
            <a:avLst/>
          </a:prstGeom>
          <a:noFill/>
          <a:ln/>
        </p:spPr>
        <p:txBody>
          <a:bodyPr wrap="square" rtlCol="0" anchor="ctr"/>
          <a:lstStyle/>
          <a:p>
            <a:pPr marL="0" indent="0" algn="ctr">
              <a:buNone/>
            </a:pPr>
            <a:r>
              <a:rPr lang="en-US" sz="1050" dirty="0">
                <a:solidFill>
                  <a:srgbClr val="8A9099"/>
                </a:solidFill>
                <a:latin typeface="Calibri" pitchFamily="34" charset="0"/>
                <a:ea typeface="Calibri" pitchFamily="34" charset="-122"/>
                <a:cs typeface="Calibri" pitchFamily="34" charset="-120"/>
              </a:rPr>
              <a:t>Bad reasoning / logic</a:t>
            </a:r>
            <a:endParaRPr lang="en-US" sz="1050" dirty="0"/>
          </a:p>
        </p:txBody>
      </p:sp>
      <p:sp>
        <p:nvSpPr>
          <p:cNvPr id="11" name="Shape 9"/>
          <p:cNvSpPr/>
          <p:nvPr/>
        </p:nvSpPr>
        <p:spPr>
          <a:xfrm>
            <a:off x="3410712" y="2898648"/>
            <a:ext cx="2606040" cy="1051560"/>
          </a:xfrm>
          <a:prstGeom prst="roundRect">
            <a:avLst>
              <a:gd name="adj" fmla="val 7826"/>
            </a:avLst>
          </a:prstGeom>
          <a:solidFill>
            <a:srgbClr val="F4F5F7"/>
          </a:solidFill>
          <a:ln w="12700">
            <a:solidFill>
              <a:srgbClr val="5B21B6"/>
            </a:solidFill>
            <a:prstDash val="solid"/>
          </a:ln>
        </p:spPr>
        <p:txBody>
          <a:bodyPr/>
          <a:lstStyle/>
          <a:p>
            <a:endParaRPr lang="en-US"/>
          </a:p>
        </p:txBody>
      </p:sp>
      <p:sp>
        <p:nvSpPr>
          <p:cNvPr id="12" name="Text 10"/>
          <p:cNvSpPr/>
          <p:nvPr/>
        </p:nvSpPr>
        <p:spPr>
          <a:xfrm>
            <a:off x="3410712" y="3017520"/>
            <a:ext cx="2606040" cy="365760"/>
          </a:xfrm>
          <a:prstGeom prst="rect">
            <a:avLst/>
          </a:prstGeom>
          <a:noFill/>
          <a:ln/>
        </p:spPr>
        <p:txBody>
          <a:bodyPr wrap="square" rtlCol="0" anchor="ctr"/>
          <a:lstStyle/>
          <a:p>
            <a:pPr marL="0" indent="0" algn="ctr">
              <a:buNone/>
            </a:pPr>
            <a:r>
              <a:rPr lang="en-US" sz="1250" b="1" dirty="0">
                <a:solidFill>
                  <a:srgbClr val="5B21B6"/>
                </a:solidFill>
                <a:latin typeface="Calibri" pitchFamily="34" charset="0"/>
                <a:ea typeface="Calibri" pitchFamily="34" charset="-122"/>
                <a:cs typeface="Calibri" pitchFamily="34" charset="-120"/>
              </a:rPr>
              <a:t>🧠 REASONING GAP</a:t>
            </a:r>
            <a:endParaRPr lang="en-US" sz="1250" dirty="0"/>
          </a:p>
        </p:txBody>
      </p:sp>
      <p:sp>
        <p:nvSpPr>
          <p:cNvPr id="13" name="Text 11"/>
          <p:cNvSpPr/>
          <p:nvPr/>
        </p:nvSpPr>
        <p:spPr>
          <a:xfrm>
            <a:off x="3410712" y="3429000"/>
            <a:ext cx="2606040" cy="365760"/>
          </a:xfrm>
          <a:prstGeom prst="rect">
            <a:avLst/>
          </a:prstGeom>
          <a:noFill/>
          <a:ln/>
        </p:spPr>
        <p:txBody>
          <a:bodyPr wrap="square"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 Better Prompting</a:t>
            </a:r>
            <a:endParaRPr lang="en-US" sz="1200" dirty="0"/>
          </a:p>
        </p:txBody>
      </p:sp>
      <p:sp>
        <p:nvSpPr>
          <p:cNvPr id="14" name="Text 12"/>
          <p:cNvSpPr/>
          <p:nvPr/>
        </p:nvSpPr>
        <p:spPr>
          <a:xfrm>
            <a:off x="6181344" y="2587752"/>
            <a:ext cx="2606040" cy="274320"/>
          </a:xfrm>
          <a:prstGeom prst="rect">
            <a:avLst/>
          </a:prstGeom>
          <a:noFill/>
          <a:ln/>
        </p:spPr>
        <p:txBody>
          <a:bodyPr wrap="square" rtlCol="0" anchor="ctr"/>
          <a:lstStyle/>
          <a:p>
            <a:pPr marL="0" indent="0" algn="ctr">
              <a:buNone/>
            </a:pPr>
            <a:r>
              <a:rPr lang="en-US" sz="1050" dirty="0">
                <a:solidFill>
                  <a:srgbClr val="8A9099"/>
                </a:solidFill>
                <a:latin typeface="Calibri" pitchFamily="34" charset="0"/>
                <a:ea typeface="Calibri" pitchFamily="34" charset="-122"/>
                <a:cs typeface="Calibri" pitchFamily="34" charset="-120"/>
              </a:rPr>
              <a:t>Wrong tone / format</a:t>
            </a:r>
            <a:endParaRPr lang="en-US" sz="1050" dirty="0"/>
          </a:p>
        </p:txBody>
      </p:sp>
      <p:sp>
        <p:nvSpPr>
          <p:cNvPr id="15" name="Shape 13"/>
          <p:cNvSpPr/>
          <p:nvPr/>
        </p:nvSpPr>
        <p:spPr>
          <a:xfrm>
            <a:off x="6181344" y="2898648"/>
            <a:ext cx="2606040" cy="1051560"/>
          </a:xfrm>
          <a:prstGeom prst="roundRect">
            <a:avLst>
              <a:gd name="adj" fmla="val 7826"/>
            </a:avLst>
          </a:prstGeom>
          <a:solidFill>
            <a:srgbClr val="F4F5F7"/>
          </a:solidFill>
          <a:ln w="12700">
            <a:solidFill>
              <a:srgbClr val="E30613"/>
            </a:solidFill>
            <a:prstDash val="solid"/>
          </a:ln>
        </p:spPr>
        <p:txBody>
          <a:bodyPr/>
          <a:lstStyle/>
          <a:p>
            <a:endParaRPr lang="en-US"/>
          </a:p>
        </p:txBody>
      </p:sp>
      <p:sp>
        <p:nvSpPr>
          <p:cNvPr id="16" name="Text 14"/>
          <p:cNvSpPr/>
          <p:nvPr/>
        </p:nvSpPr>
        <p:spPr>
          <a:xfrm>
            <a:off x="6181344" y="3017520"/>
            <a:ext cx="2606040" cy="365760"/>
          </a:xfrm>
          <a:prstGeom prst="rect">
            <a:avLst/>
          </a:prstGeom>
          <a:noFill/>
          <a:ln/>
        </p:spPr>
        <p:txBody>
          <a:bodyPr wrap="square" rtlCol="0" anchor="ctr"/>
          <a:lstStyle/>
          <a:p>
            <a:pPr marL="0" indent="0" algn="ctr">
              <a:buNone/>
            </a:pPr>
            <a:r>
              <a:rPr lang="en-US" sz="1250" b="1" dirty="0">
                <a:solidFill>
                  <a:srgbClr val="E30613"/>
                </a:solidFill>
                <a:latin typeface="Calibri" pitchFamily="34" charset="0"/>
                <a:ea typeface="Calibri" pitchFamily="34" charset="-122"/>
                <a:cs typeface="Calibri" pitchFamily="34" charset="-120"/>
              </a:rPr>
              <a:t>🎨 STYLE GAP</a:t>
            </a:r>
            <a:endParaRPr lang="en-US" sz="1250" dirty="0"/>
          </a:p>
        </p:txBody>
      </p:sp>
      <p:sp>
        <p:nvSpPr>
          <p:cNvPr id="17" name="Text 15"/>
          <p:cNvSpPr/>
          <p:nvPr/>
        </p:nvSpPr>
        <p:spPr>
          <a:xfrm>
            <a:off x="6181344" y="3429000"/>
            <a:ext cx="2606040" cy="365760"/>
          </a:xfrm>
          <a:prstGeom prst="rect">
            <a:avLst/>
          </a:prstGeom>
          <a:noFill/>
          <a:ln/>
        </p:spPr>
        <p:txBody>
          <a:bodyPr wrap="square"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 Prompt, then Fine-Tune</a:t>
            </a:r>
            <a:endParaRPr lang="en-US" sz="1200" dirty="0"/>
          </a:p>
        </p:txBody>
      </p:sp>
      <p:sp>
        <p:nvSpPr>
          <p:cNvPr id="18" name="Text 16"/>
          <p:cNvSpPr/>
          <p:nvPr/>
        </p:nvSpPr>
        <p:spPr>
          <a:xfrm>
            <a:off x="8951976" y="2587752"/>
            <a:ext cx="2606040" cy="274320"/>
          </a:xfrm>
          <a:prstGeom prst="rect">
            <a:avLst/>
          </a:prstGeom>
          <a:noFill/>
          <a:ln/>
        </p:spPr>
        <p:txBody>
          <a:bodyPr wrap="square" rtlCol="0" anchor="ctr"/>
          <a:lstStyle/>
          <a:p>
            <a:pPr marL="0" indent="0" algn="ctr">
              <a:buNone/>
            </a:pPr>
            <a:r>
              <a:rPr lang="en-US" sz="1050" dirty="0">
                <a:solidFill>
                  <a:srgbClr val="8A9099"/>
                </a:solidFill>
                <a:latin typeface="Calibri" pitchFamily="34" charset="0"/>
                <a:ea typeface="Calibri" pitchFamily="34" charset="-122"/>
                <a:cs typeface="Calibri" pitchFamily="34" charset="-120"/>
              </a:rPr>
              <a:t>All of the above</a:t>
            </a:r>
            <a:endParaRPr lang="en-US" sz="1050" dirty="0"/>
          </a:p>
        </p:txBody>
      </p:sp>
      <p:sp>
        <p:nvSpPr>
          <p:cNvPr id="19" name="Shape 17"/>
          <p:cNvSpPr/>
          <p:nvPr/>
        </p:nvSpPr>
        <p:spPr>
          <a:xfrm>
            <a:off x="8951976" y="2898648"/>
            <a:ext cx="2606040" cy="1051560"/>
          </a:xfrm>
          <a:prstGeom prst="roundRect">
            <a:avLst>
              <a:gd name="adj" fmla="val 7826"/>
            </a:avLst>
          </a:prstGeom>
          <a:solidFill>
            <a:srgbClr val="F4F5F7"/>
          </a:solidFill>
          <a:ln w="12700">
            <a:solidFill>
              <a:srgbClr val="047857"/>
            </a:solidFill>
            <a:prstDash val="solid"/>
          </a:ln>
        </p:spPr>
        <p:txBody>
          <a:bodyPr/>
          <a:lstStyle/>
          <a:p>
            <a:endParaRPr lang="en-US"/>
          </a:p>
        </p:txBody>
      </p:sp>
      <p:sp>
        <p:nvSpPr>
          <p:cNvPr id="20" name="Text 18"/>
          <p:cNvSpPr/>
          <p:nvPr/>
        </p:nvSpPr>
        <p:spPr>
          <a:xfrm>
            <a:off x="8951976" y="3017520"/>
            <a:ext cx="2606040" cy="365760"/>
          </a:xfrm>
          <a:prstGeom prst="rect">
            <a:avLst/>
          </a:prstGeom>
          <a:noFill/>
          <a:ln/>
        </p:spPr>
        <p:txBody>
          <a:bodyPr wrap="square" rtlCol="0" anchor="ctr"/>
          <a:lstStyle/>
          <a:p>
            <a:pPr marL="0" indent="0" algn="ctr">
              <a:buNone/>
            </a:pPr>
            <a:r>
              <a:rPr lang="en-US" sz="1250" b="1" dirty="0">
                <a:solidFill>
                  <a:srgbClr val="047857"/>
                </a:solidFill>
                <a:latin typeface="Calibri" pitchFamily="34" charset="0"/>
                <a:ea typeface="Calibri" pitchFamily="34" charset="-122"/>
                <a:cs typeface="Calibri" pitchFamily="34" charset="-120"/>
              </a:rPr>
              <a:t>🏆 HYBRID</a:t>
            </a:r>
            <a:endParaRPr lang="en-US" sz="1250" dirty="0"/>
          </a:p>
        </p:txBody>
      </p:sp>
      <p:sp>
        <p:nvSpPr>
          <p:cNvPr id="21" name="Text 19"/>
          <p:cNvSpPr/>
          <p:nvPr/>
        </p:nvSpPr>
        <p:spPr>
          <a:xfrm>
            <a:off x="8951976" y="3429000"/>
            <a:ext cx="2606040" cy="365760"/>
          </a:xfrm>
          <a:prstGeom prst="rect">
            <a:avLst/>
          </a:prstGeom>
          <a:noFill/>
          <a:ln/>
        </p:spPr>
        <p:txBody>
          <a:bodyPr wrap="square" rtlCol="0" anchor="ctr"/>
          <a:lstStyle/>
          <a:p>
            <a:pPr marL="0" indent="0" algn="ctr">
              <a:buNone/>
            </a:pPr>
            <a:r>
              <a:rPr lang="en-US" sz="1200" b="1" dirty="0">
                <a:solidFill>
                  <a:srgbClr val="1A1A1A"/>
                </a:solidFill>
                <a:latin typeface="Calibri" pitchFamily="34" charset="0"/>
                <a:ea typeface="Calibri" pitchFamily="34" charset="-122"/>
                <a:cs typeface="Calibri" pitchFamily="34" charset="-120"/>
              </a:rPr>
              <a:t>→ Combine all three</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40080" y="4206240"/>
          <a:ext cx="7315200" cy="914400"/>
        </p:xfrm>
        <a:graphic>
          <a:graphicData uri="http://schemas.openxmlformats.org/drawingml/2006/table">
            <a:tbl>
              <a:tblPr/>
              <a:tblGrid>
                <a:gridCol w="310896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310896">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Symptom</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E30613"/>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Root cause</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E30613"/>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Solution</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E30613"/>
                    </a:solidFill>
                  </a:tcPr>
                </a:tc>
                <a:extLst>
                  <a:ext uri="{0D108BD9-81ED-4DB2-BD59-A6C34878D82A}">
                    <a16:rowId xmlns:a16="http://schemas.microsoft.com/office/drawing/2014/main" val="10000"/>
                  </a:ext>
                </a:extLst>
              </a:tr>
              <a:tr h="310896">
                <a:tc>
                  <a:txBody>
                    <a:bodyPr/>
                    <a:lstStyle/>
                    <a:p>
                      <a:pPr marL="0" indent="0" algn="l">
                        <a:buNone/>
                      </a:pPr>
                      <a:r>
                        <a:rPr lang="en-US" sz="1050" b="1" dirty="0">
                          <a:solidFill>
                            <a:srgbClr val="1A1A1A"/>
                          </a:solidFill>
                          <a:latin typeface="Calibri" pitchFamily="34" charset="0"/>
                          <a:ea typeface="Calibri" pitchFamily="34" charset="-122"/>
                          <a:cs typeface="Calibri" pitchFamily="34" charset="-120"/>
                        </a:rPr>
                        <a:t>“Made up a tenant name”</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Knowledge</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 RAG</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lgn="l">
                        <a:buNone/>
                      </a:pPr>
                      <a:r>
                        <a:rPr lang="en-US" sz="1050" b="1" dirty="0">
                          <a:solidFill>
                            <a:srgbClr val="1A1A1A"/>
                          </a:solidFill>
                          <a:latin typeface="Calibri" pitchFamily="34" charset="0"/>
                          <a:ea typeface="Calibri" pitchFamily="34" charset="-122"/>
                          <a:cs typeface="Calibri" pitchFamily="34" charset="-120"/>
                        </a:rPr>
                        <a:t>“Can't do multi-step math”</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Reasoning</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 CoT prompting</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extLst>
                  <a:ext uri="{0D108BD9-81ED-4DB2-BD59-A6C34878D82A}">
                    <a16:rowId xmlns:a16="http://schemas.microsoft.com/office/drawing/2014/main" val="10002"/>
                  </a:ext>
                </a:extLst>
              </a:tr>
              <a:tr h="310896">
                <a:tc>
                  <a:txBody>
                    <a:bodyPr/>
                    <a:lstStyle/>
                    <a:p>
                      <a:pPr marL="0" indent="0" algn="l">
                        <a:buNone/>
                      </a:pPr>
                      <a:r>
                        <a:rPr lang="en-US" sz="1050" b="1" dirty="0">
                          <a:solidFill>
                            <a:srgbClr val="1A1A1A"/>
                          </a:solidFill>
                          <a:latin typeface="Calibri" pitchFamily="34" charset="0"/>
                          <a:ea typeface="Calibri" pitchFamily="34" charset="-122"/>
                          <a:cs typeface="Calibri" pitchFamily="34" charset="-120"/>
                        </a:rPr>
                        <a:t>“JSON format keeps changing”</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Style</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 → 🔧 Fine-tune</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lgn="l">
                        <a:buNone/>
                      </a:pPr>
                      <a:r>
                        <a:rPr lang="en-US" sz="1050" b="1" dirty="0">
                          <a:solidFill>
                            <a:srgbClr val="1A1A1A"/>
                          </a:solidFill>
                          <a:latin typeface="Calibri" pitchFamily="34" charset="0"/>
                          <a:ea typeface="Calibri" pitchFamily="34" charset="-122"/>
                          <a:cs typeface="Calibri" pitchFamily="34" charset="-120"/>
                        </a:rPr>
                        <a:t>“Misses company policies”</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Knowledge</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 RAG</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extLst>
                  <a:ext uri="{0D108BD9-81ED-4DB2-BD59-A6C34878D82A}">
                    <a16:rowId xmlns:a16="http://schemas.microsoft.com/office/drawing/2014/main" val="10004"/>
                  </a:ext>
                </a:extLst>
              </a:tr>
              <a:tr h="310896">
                <a:tc>
                  <a:txBody>
                    <a:bodyPr/>
                    <a:lstStyle/>
                    <a:p>
                      <a:pPr marL="0" indent="0" algn="l">
                        <a:buNone/>
                      </a:pPr>
                      <a:r>
                        <a:rPr lang="en-US" sz="1050" b="1" dirty="0">
                          <a:solidFill>
                            <a:srgbClr val="1A1A1A"/>
                          </a:solidFill>
                          <a:latin typeface="Calibri" pitchFamily="34" charset="0"/>
                          <a:ea typeface="Calibri" pitchFamily="34" charset="-122"/>
                          <a:cs typeface="Calibri" pitchFamily="34" charset="-120"/>
                        </a:rPr>
                        <a:t>“Too casual for clients”</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Style</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 Fine-tune</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lgn="l">
                        <a:buNone/>
                      </a:pPr>
                      <a:r>
                        <a:rPr lang="en-US" sz="1050" b="1" dirty="0">
                          <a:solidFill>
                            <a:srgbClr val="1A1A1A"/>
                          </a:solidFill>
                          <a:latin typeface="Calibri" pitchFamily="34" charset="0"/>
                          <a:ea typeface="Calibri" pitchFamily="34" charset="-122"/>
                          <a:cs typeface="Calibri" pitchFamily="34" charset="-120"/>
                        </a:rPr>
                        <a:t>“Answers are outdated”</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Stale data</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 RAG</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extLst>
                  <a:ext uri="{0D108BD9-81ED-4DB2-BD59-A6C34878D82A}">
                    <a16:rowId xmlns:a16="http://schemas.microsoft.com/office/drawing/2014/main" val="10006"/>
                  </a:ext>
                </a:extLst>
              </a:tr>
            </a:tbl>
          </a:graphicData>
        </a:graphic>
      </p:graphicFrame>
      <p:sp>
        <p:nvSpPr>
          <p:cNvPr id="23" name="Shape 20"/>
          <p:cNvSpPr/>
          <p:nvPr/>
        </p:nvSpPr>
        <p:spPr>
          <a:xfrm>
            <a:off x="8183880" y="4206240"/>
            <a:ext cx="3337560" cy="2148840"/>
          </a:xfrm>
          <a:prstGeom prst="roundRect">
            <a:avLst>
              <a:gd name="adj" fmla="val 3830"/>
            </a:avLst>
          </a:prstGeom>
          <a:solidFill>
            <a:srgbClr val="F4F5F7"/>
          </a:solidFill>
          <a:ln w="12700">
            <a:solidFill>
              <a:srgbClr val="DADDE2"/>
            </a:solidFill>
            <a:prstDash val="solid"/>
          </a:ln>
        </p:spPr>
        <p:txBody>
          <a:bodyPr/>
          <a:lstStyle/>
          <a:p>
            <a:endParaRPr lang="en-US"/>
          </a:p>
        </p:txBody>
      </p:sp>
      <p:sp>
        <p:nvSpPr>
          <p:cNvPr id="24" name="Text 21"/>
          <p:cNvSpPr/>
          <p:nvPr/>
        </p:nvSpPr>
        <p:spPr>
          <a:xfrm>
            <a:off x="8412480" y="4343400"/>
            <a:ext cx="2926080" cy="320040"/>
          </a:xfrm>
          <a:prstGeom prst="rect">
            <a:avLst/>
          </a:prstGeom>
          <a:noFill/>
          <a:ln/>
        </p:spPr>
        <p:txBody>
          <a:bodyPr wrap="square" rtlCol="0" anchor="ctr"/>
          <a:lstStyle/>
          <a:p>
            <a:pPr marL="0" indent="0">
              <a:buNone/>
            </a:pPr>
            <a:r>
              <a:rPr lang="en-US" sz="1300" b="1" dirty="0">
                <a:solidFill>
                  <a:srgbClr val="B45309"/>
                </a:solidFill>
                <a:latin typeface="Calibri" pitchFamily="34" charset="0"/>
                <a:ea typeface="Calibri" pitchFamily="34" charset="-122"/>
                <a:cs typeface="Calibri" pitchFamily="34" charset="-120"/>
              </a:rPr>
              <a:t>🪜 The rule of thumb</a:t>
            </a:r>
            <a:endParaRPr lang="en-US" sz="1300" dirty="0"/>
          </a:p>
        </p:txBody>
      </p:sp>
      <p:sp>
        <p:nvSpPr>
          <p:cNvPr id="25" name="Text 22"/>
          <p:cNvSpPr/>
          <p:nvPr/>
        </p:nvSpPr>
        <p:spPr>
          <a:xfrm>
            <a:off x="8412480" y="4709160"/>
            <a:ext cx="2926080" cy="1554480"/>
          </a:xfrm>
          <a:prstGeom prst="rect">
            <a:avLst/>
          </a:prstGeom>
          <a:noFill/>
          <a:ln/>
        </p:spPr>
        <p:txBody>
          <a:bodyPr wrap="square" rtlCol="0" anchor="t"/>
          <a:lstStyle/>
          <a:p>
            <a:pPr marL="342900" indent="-342900" algn="l">
              <a:spcAft>
                <a:spcPts val="800"/>
              </a:spcAft>
              <a:buSzPct val="100000"/>
              <a:buChar char="•"/>
            </a:pPr>
            <a:r>
              <a:rPr lang="en-US" sz="1150" b="1" dirty="0">
                <a:solidFill>
                  <a:srgbClr val="1A1A1A"/>
                </a:solidFill>
                <a:latin typeface="Calibri" pitchFamily="34" charset="0"/>
                <a:ea typeface="Calibri" pitchFamily="34" charset="-122"/>
                <a:cs typeface="Calibri" pitchFamily="34" charset="-120"/>
              </a:rPr>
              <a:t>Optimize the prompt — always start here.</a:t>
            </a:r>
            <a:endParaRPr lang="en-US" sz="1150" dirty="0"/>
          </a:p>
          <a:p>
            <a:pPr marL="342900" indent="-342900" algn="l">
              <a:spcAft>
                <a:spcPts val="800"/>
              </a:spcAft>
              <a:buSzPct val="100000"/>
              <a:buChar char="•"/>
            </a:pPr>
            <a:r>
              <a:rPr lang="en-US" sz="1150" dirty="0">
                <a:solidFill>
                  <a:srgbClr val="5A5F66"/>
                </a:solidFill>
                <a:latin typeface="Calibri" pitchFamily="34" charset="0"/>
                <a:ea typeface="Calibri" pitchFamily="34" charset="-122"/>
                <a:cs typeface="Calibri" pitchFamily="34" charset="-120"/>
              </a:rPr>
              <a:t>Add RAG if it needs more knowledge.</a:t>
            </a:r>
            <a:endParaRPr lang="en-US" sz="1150" dirty="0"/>
          </a:p>
          <a:p>
            <a:pPr marL="342900" indent="-342900" algn="l">
              <a:spcAft>
                <a:spcPts val="800"/>
              </a:spcAft>
              <a:buSzPct val="100000"/>
              <a:buChar char="•"/>
            </a:pPr>
            <a:r>
              <a:rPr lang="en-US" sz="1150" dirty="0">
                <a:solidFill>
                  <a:srgbClr val="5A5F66"/>
                </a:solidFill>
                <a:latin typeface="Calibri" pitchFamily="34" charset="0"/>
                <a:ea typeface="Calibri" pitchFamily="34" charset="-122"/>
                <a:cs typeface="Calibri" pitchFamily="34" charset="-120"/>
              </a:rPr>
              <a:t>Fine-tune only for stubborn behavior.</a:t>
            </a:r>
            <a:endParaRPr lang="en-US" sz="1150" dirty="0"/>
          </a:p>
          <a:p>
            <a:pPr marL="342900" indent="-342900" algn="l">
              <a:spcAft>
                <a:spcPts val="800"/>
              </a:spcAft>
              <a:buSzPct val="100000"/>
              <a:buChar char="•"/>
            </a:pPr>
            <a:r>
              <a:rPr lang="en-US" sz="1150" b="1" dirty="0">
                <a:solidFill>
                  <a:srgbClr val="059669"/>
                </a:solidFill>
                <a:latin typeface="Calibri" pitchFamily="34" charset="0"/>
                <a:ea typeface="Calibri" pitchFamily="34" charset="-122"/>
                <a:cs typeface="Calibri" pitchFamily="34" charset="-120"/>
              </a:rPr>
              <a:t>Combine all three for production.</a:t>
            </a:r>
            <a:endParaRPr lang="en-US" sz="1150" dirty="0"/>
          </a:p>
        </p:txBody>
      </p:sp>
      <p:sp>
        <p:nvSpPr>
          <p:cNvPr id="26" name="Text 23"/>
          <p:cNvSpPr/>
          <p:nvPr/>
        </p:nvSpPr>
        <p:spPr>
          <a:xfrm>
            <a:off x="10728655" y="6400800"/>
            <a:ext cx="1097280" cy="274320"/>
          </a:xfrm>
          <a:prstGeom prst="rect">
            <a:avLst/>
          </a:prstGeom>
          <a:noFill/>
          <a:ln/>
        </p:spPr>
        <p:txBody>
          <a:bodyPr wrap="square" rtlCol="0" anchor="ctr"/>
          <a:lstStyle/>
          <a:p>
            <a:pPr marL="0" indent="0" algn="r">
              <a:buNone/>
            </a:pPr>
            <a:r>
              <a:rPr lang="en-US" sz="1000" dirty="0">
                <a:solidFill>
                  <a:srgbClr val="8A9099"/>
                </a:solidFill>
                <a:latin typeface="Courier New" pitchFamily="34" charset="0"/>
                <a:ea typeface="Courier New" pitchFamily="34" charset="-122"/>
                <a:cs typeface="Courier New" pitchFamily="34" charset="-120"/>
              </a:rPr>
              <a:t>11 / 16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rtlCol="0" anchor="ctr"/>
          <a:lstStyle/>
          <a:p>
            <a:pPr marL="0" indent="0" algn="l">
              <a:buNone/>
            </a:pPr>
            <a:r>
              <a:rPr lang="en-US" sz="1200" b="1" kern="0" spc="300" dirty="0">
                <a:solidFill>
                  <a:srgbClr val="047857"/>
                </a:solidFill>
                <a:latin typeface="Calibri" pitchFamily="34" charset="0"/>
                <a:ea typeface="Calibri" pitchFamily="34" charset="-122"/>
                <a:cs typeface="Calibri" pitchFamily="34" charset="-120"/>
              </a:rPr>
              <a:t>APPLY</a:t>
            </a:r>
            <a:endParaRPr lang="en-US" sz="1200" dirty="0"/>
          </a:p>
        </p:txBody>
      </p:sp>
      <p:sp>
        <p:nvSpPr>
          <p:cNvPr id="3" name="Text 1"/>
          <p:cNvSpPr/>
          <p:nvPr/>
        </p:nvSpPr>
        <p:spPr>
          <a:xfrm>
            <a:off x="640080" y="777240"/>
            <a:ext cx="10911535" cy="822960"/>
          </a:xfrm>
          <a:prstGeom prst="rect">
            <a:avLst/>
          </a:prstGeom>
          <a:noFill/>
          <a:ln/>
        </p:spPr>
        <p:txBody>
          <a:bodyPr wrap="square" rtlCol="0" anchor="ctr"/>
          <a:lstStyle/>
          <a:p>
            <a:pPr marL="0" indent="0" algn="l">
              <a:buNone/>
            </a:pPr>
            <a:r>
              <a:rPr lang="en-US" sz="3200" b="1" dirty="0">
                <a:solidFill>
                  <a:srgbClr val="1A1A1A"/>
                </a:solidFill>
                <a:latin typeface="Century Schoolbook" pitchFamily="34" charset="0"/>
                <a:ea typeface="Century Schoolbook" pitchFamily="34" charset="-122"/>
                <a:cs typeface="Century Schoolbook" pitchFamily="34" charset="-120"/>
              </a:rPr>
              <a:t>🏢 JLL / real-estate use cases</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6675120" cy="914400"/>
        </p:xfrm>
        <a:graphic>
          <a:graphicData uri="http://schemas.openxmlformats.org/drawingml/2006/table">
            <a:tbl>
              <a:tblPr/>
              <a:tblGrid>
                <a:gridCol w="4572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365760">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E30613"/>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Use case</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E30613"/>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Approach</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E30613"/>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Why</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E30613"/>
                    </a:solidFill>
                  </a:tcPr>
                </a:tc>
                <a:extLst>
                  <a:ext uri="{0D108BD9-81ED-4DB2-BD59-A6C34878D82A}">
                    <a16:rowId xmlns:a16="http://schemas.microsoft.com/office/drawing/2014/main" val="10000"/>
                  </a:ext>
                </a:extLst>
              </a:tr>
              <a:tr h="365760">
                <a:tc>
                  <a:txBody>
                    <a:bodyPr/>
                    <a:lstStyle/>
                    <a:p>
                      <a:pPr marL="0" indent="0" algn="l">
                        <a:buNone/>
                      </a:pPr>
                      <a:r>
                        <a:rPr lang="en-US" sz="1050" b="1" dirty="0">
                          <a:solidFill>
                            <a:srgbClr val="1A1A1A"/>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Tenant query chatbot</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RAG + Prompt</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Needs lease docs, building policies</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050" b="1" dirty="0">
                          <a:solidFill>
                            <a:srgbClr val="1A1A1A"/>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Lease summarization</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Prompt (CoT)</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Claude understands legal text already</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extLst>
                  <a:ext uri="{0D108BD9-81ED-4DB2-BD59-A6C34878D82A}">
                    <a16:rowId xmlns:a16="http://schemas.microsoft.com/office/drawing/2014/main" val="10002"/>
                  </a:ext>
                </a:extLst>
              </a:tr>
              <a:tr h="365760">
                <a:tc>
                  <a:txBody>
                    <a:bodyPr/>
                    <a:lstStyle/>
                    <a:p>
                      <a:pPr marL="0" indent="0" algn="l">
                        <a:buNone/>
                      </a:pPr>
                      <a:r>
                        <a:rPr lang="en-US" sz="1050" b="1" dirty="0">
                          <a:solidFill>
                            <a:srgbClr val="1A1A1A"/>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Property valuation</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RAG</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Needs live market data, comparables</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050" b="1" dirty="0">
                          <a:solidFill>
                            <a:srgbClr val="1A1A1A"/>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Ticket classification</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Prompt → Fine-Tune</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Start few-shot; fine-tune at scale</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extLst>
                  <a:ext uri="{0D108BD9-81ED-4DB2-BD59-A6C34878D82A}">
                    <a16:rowId xmlns:a16="http://schemas.microsoft.com/office/drawing/2014/main" val="10004"/>
                  </a:ext>
                </a:extLst>
              </a:tr>
              <a:tr h="365760">
                <a:tc>
                  <a:txBody>
                    <a:bodyPr/>
                    <a:lstStyle/>
                    <a:p>
                      <a:pPr marL="0" indent="0" algn="l">
                        <a:buNone/>
                      </a:pPr>
                      <a:r>
                        <a:rPr lang="en-US" sz="1050" b="1" dirty="0">
                          <a:solidFill>
                            <a:srgbClr val="1A1A1A"/>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Compliance review</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RAG + Prompt</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Must cite exact regulatory text</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lgn="l">
                        <a:buNone/>
                      </a:pPr>
                      <a:r>
                        <a:rPr lang="en-US" sz="1050" b="1" dirty="0">
                          <a:solidFill>
                            <a:srgbClr val="1A1A1A"/>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Client email drafting</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Fine-Tune + Prompt</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JLL brand voice × 100+ managers</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extLst>
                  <a:ext uri="{0D108BD9-81ED-4DB2-BD59-A6C34878D82A}">
                    <a16:rowId xmlns:a16="http://schemas.microsoft.com/office/drawing/2014/main" val="10006"/>
                  </a:ext>
                </a:extLst>
              </a:tr>
              <a:tr h="365760">
                <a:tc>
                  <a:txBody>
                    <a:bodyPr/>
                    <a:lstStyle/>
                    <a:p>
                      <a:pPr marL="0" indent="0" algn="l">
                        <a:buNone/>
                      </a:pPr>
                      <a:r>
                        <a:rPr lang="en-US" sz="1050" b="1" dirty="0">
                          <a:solidFill>
                            <a:srgbClr val="1A1A1A"/>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ESG reporting</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RAG</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Needs energy data, certifications</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lgn="l">
                        <a:buNone/>
                      </a:pPr>
                      <a:r>
                        <a:rPr lang="en-US" sz="1050" b="1" dirty="0">
                          <a:solidFill>
                            <a:srgbClr val="1A1A1A"/>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Meeting notes → actions</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Prompt</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Simple extraction, prompt suffices</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extLst>
                  <a:ext uri="{0D108BD9-81ED-4DB2-BD59-A6C34878D82A}">
                    <a16:rowId xmlns:a16="http://schemas.microsoft.com/office/drawing/2014/main" val="10008"/>
                  </a:ext>
                </a:extLst>
              </a:tr>
            </a:tbl>
          </a:graphicData>
        </a:graphic>
      </p:graphicFrame>
      <p:sp>
        <p:nvSpPr>
          <p:cNvPr id="5" name="Shape 2"/>
          <p:cNvSpPr/>
          <p:nvPr/>
        </p:nvSpPr>
        <p:spPr>
          <a:xfrm>
            <a:off x="7589520" y="1691640"/>
            <a:ext cx="3931920" cy="2331720"/>
          </a:xfrm>
          <a:prstGeom prst="roundRect">
            <a:avLst>
              <a:gd name="adj" fmla="val 3529"/>
            </a:avLst>
          </a:prstGeom>
          <a:solidFill>
            <a:srgbClr val="F4F5F7"/>
          </a:solidFill>
          <a:ln w="12700">
            <a:solidFill>
              <a:srgbClr val="C7D6F2"/>
            </a:solidFill>
            <a:prstDash val="solid"/>
          </a:ln>
        </p:spPr>
        <p:txBody>
          <a:bodyPr/>
          <a:lstStyle/>
          <a:p>
            <a:endParaRPr lang="en-US"/>
          </a:p>
        </p:txBody>
      </p:sp>
      <p:sp>
        <p:nvSpPr>
          <p:cNvPr id="6" name="Text 3"/>
          <p:cNvSpPr/>
          <p:nvPr/>
        </p:nvSpPr>
        <p:spPr>
          <a:xfrm>
            <a:off x="7818120" y="1828800"/>
            <a:ext cx="3474720" cy="320040"/>
          </a:xfrm>
          <a:prstGeom prst="rect">
            <a:avLst/>
          </a:prstGeom>
          <a:noFill/>
          <a:ln/>
        </p:spPr>
        <p:txBody>
          <a:bodyPr wrap="square" rtlCol="0" anchor="ctr"/>
          <a:lstStyle/>
          <a:p>
            <a:pPr marL="0" indent="0">
              <a:buNone/>
            </a:pPr>
            <a:r>
              <a:rPr lang="en-US" sz="1250" b="1" dirty="0">
                <a:solidFill>
                  <a:srgbClr val="2563EB"/>
                </a:solidFill>
                <a:latin typeface="Calibri" pitchFamily="34" charset="0"/>
                <a:ea typeface="Calibri" pitchFamily="34" charset="-122"/>
                <a:cs typeface="Calibri" pitchFamily="34" charset="-120"/>
              </a:rPr>
              <a:t>💡 Tenant chatbot flow</a:t>
            </a:r>
            <a:endParaRPr lang="en-US" sz="1250" dirty="0"/>
          </a:p>
        </p:txBody>
      </p:sp>
      <p:sp>
        <p:nvSpPr>
          <p:cNvPr id="7" name="Shape 4"/>
          <p:cNvSpPr/>
          <p:nvPr/>
        </p:nvSpPr>
        <p:spPr>
          <a:xfrm>
            <a:off x="7818120" y="2240280"/>
            <a:ext cx="3474720" cy="411480"/>
          </a:xfrm>
          <a:prstGeom prst="roundRect">
            <a:avLst>
              <a:gd name="adj" fmla="val 13333"/>
            </a:avLst>
          </a:prstGeom>
          <a:solidFill>
            <a:srgbClr val="E30613">
              <a:alpha val="16000"/>
            </a:srgbClr>
          </a:solidFill>
          <a:ln w="12700">
            <a:solidFill>
              <a:srgbClr val="E30613"/>
            </a:solidFill>
            <a:prstDash val="solid"/>
          </a:ln>
        </p:spPr>
        <p:txBody>
          <a:bodyPr/>
          <a:lstStyle/>
          <a:p>
            <a:endParaRPr lang="en-US"/>
          </a:p>
        </p:txBody>
      </p:sp>
      <p:sp>
        <p:nvSpPr>
          <p:cNvPr id="8" name="Text 5"/>
          <p:cNvSpPr/>
          <p:nvPr/>
        </p:nvSpPr>
        <p:spPr>
          <a:xfrm>
            <a:off x="7955280" y="2240280"/>
            <a:ext cx="3200400" cy="411480"/>
          </a:xfrm>
          <a:prstGeom prst="rect">
            <a:avLst/>
          </a:prstGeom>
          <a:noFill/>
          <a:ln/>
        </p:spPr>
        <p:txBody>
          <a:bodyPr wrap="square" rtlCol="0" anchor="ctr"/>
          <a:lstStyle/>
          <a:p>
            <a:pPr marL="0" indent="0">
              <a:buNone/>
            </a:pPr>
            <a:r>
              <a:rPr lang="en-US" sz="1050" b="1" dirty="0">
                <a:solidFill>
                  <a:srgbClr val="1A1A1A"/>
                </a:solidFill>
                <a:latin typeface="Calibri" pitchFamily="34" charset="0"/>
                <a:ea typeface="Calibri" pitchFamily="34" charset="-122"/>
                <a:cs typeface="Calibri" pitchFamily="34" charset="-120"/>
              </a:rPr>
              <a:t>🏢 “What's the parking policy?”</a:t>
            </a:r>
            <a:endParaRPr lang="en-US" sz="1050" dirty="0"/>
          </a:p>
        </p:txBody>
      </p:sp>
      <p:sp>
        <p:nvSpPr>
          <p:cNvPr id="9" name="Text 6"/>
          <p:cNvSpPr/>
          <p:nvPr/>
        </p:nvSpPr>
        <p:spPr>
          <a:xfrm>
            <a:off x="9418320" y="2633472"/>
            <a:ext cx="274320" cy="201168"/>
          </a:xfrm>
          <a:prstGeom prst="rect">
            <a:avLst/>
          </a:prstGeom>
          <a:noFill/>
          <a:ln/>
        </p:spPr>
        <p:txBody>
          <a:bodyPr wrap="square" rtlCol="0" anchor="ctr"/>
          <a:lstStyle/>
          <a:p>
            <a:pPr marL="0" indent="0" algn="ctr">
              <a:buNone/>
            </a:pPr>
            <a:r>
              <a:rPr lang="en-US" sz="1200" dirty="0">
                <a:solidFill>
                  <a:srgbClr val="8A9099"/>
                </a:solidFill>
                <a:latin typeface="Calibri" pitchFamily="34" charset="0"/>
                <a:ea typeface="Calibri" pitchFamily="34" charset="-122"/>
                <a:cs typeface="Calibri" pitchFamily="34" charset="-120"/>
              </a:rPr>
              <a:t>↓</a:t>
            </a:r>
            <a:endParaRPr lang="en-US" sz="1200" dirty="0"/>
          </a:p>
        </p:txBody>
      </p:sp>
      <p:sp>
        <p:nvSpPr>
          <p:cNvPr id="10" name="Shape 7"/>
          <p:cNvSpPr/>
          <p:nvPr/>
        </p:nvSpPr>
        <p:spPr>
          <a:xfrm>
            <a:off x="7818120" y="2852928"/>
            <a:ext cx="3474720" cy="411480"/>
          </a:xfrm>
          <a:prstGeom prst="roundRect">
            <a:avLst>
              <a:gd name="adj" fmla="val 13333"/>
            </a:avLst>
          </a:prstGeom>
          <a:solidFill>
            <a:srgbClr val="1D4ED8">
              <a:alpha val="16000"/>
            </a:srgbClr>
          </a:solidFill>
          <a:ln w="12700">
            <a:solidFill>
              <a:srgbClr val="1D4ED8"/>
            </a:solidFill>
            <a:prstDash val="solid"/>
          </a:ln>
        </p:spPr>
        <p:txBody>
          <a:bodyPr/>
          <a:lstStyle/>
          <a:p>
            <a:endParaRPr lang="en-US"/>
          </a:p>
        </p:txBody>
      </p:sp>
      <p:sp>
        <p:nvSpPr>
          <p:cNvPr id="11" name="Text 8"/>
          <p:cNvSpPr/>
          <p:nvPr/>
        </p:nvSpPr>
        <p:spPr>
          <a:xfrm>
            <a:off x="7955280" y="2852928"/>
            <a:ext cx="3200400" cy="411480"/>
          </a:xfrm>
          <a:prstGeom prst="rect">
            <a:avLst/>
          </a:prstGeom>
          <a:noFill/>
          <a:ln/>
        </p:spPr>
        <p:txBody>
          <a:bodyPr wrap="square" rtlCol="0" anchor="ctr"/>
          <a:lstStyle/>
          <a:p>
            <a:pPr marL="0" indent="0">
              <a:buNone/>
            </a:pPr>
            <a:r>
              <a:rPr lang="en-US" sz="1050" b="1" dirty="0">
                <a:solidFill>
                  <a:srgbClr val="1A1A1A"/>
                </a:solidFill>
                <a:latin typeface="Calibri" pitchFamily="34" charset="0"/>
                <a:ea typeface="Calibri" pitchFamily="34" charset="-122"/>
                <a:cs typeface="Calibri" pitchFamily="34" charset="-120"/>
              </a:rPr>
              <a:t>📄 Retrieve: “2 spots / 1000 sqft…”</a:t>
            </a:r>
            <a:endParaRPr lang="en-US" sz="1050" dirty="0"/>
          </a:p>
        </p:txBody>
      </p:sp>
      <p:sp>
        <p:nvSpPr>
          <p:cNvPr id="12" name="Text 9"/>
          <p:cNvSpPr/>
          <p:nvPr/>
        </p:nvSpPr>
        <p:spPr>
          <a:xfrm>
            <a:off x="9418320" y="3246120"/>
            <a:ext cx="274320" cy="201168"/>
          </a:xfrm>
          <a:prstGeom prst="rect">
            <a:avLst/>
          </a:prstGeom>
          <a:noFill/>
          <a:ln/>
        </p:spPr>
        <p:txBody>
          <a:bodyPr wrap="square" rtlCol="0" anchor="ctr"/>
          <a:lstStyle/>
          <a:p>
            <a:pPr marL="0" indent="0" algn="ctr">
              <a:buNone/>
            </a:pPr>
            <a:r>
              <a:rPr lang="en-US" sz="1200" dirty="0">
                <a:solidFill>
                  <a:srgbClr val="8A9099"/>
                </a:solidFill>
                <a:latin typeface="Calibri" pitchFamily="34" charset="0"/>
                <a:ea typeface="Calibri" pitchFamily="34" charset="-122"/>
                <a:cs typeface="Calibri" pitchFamily="34" charset="-120"/>
              </a:rPr>
              <a:t>↓</a:t>
            </a:r>
            <a:endParaRPr lang="en-US" sz="1200" dirty="0"/>
          </a:p>
        </p:txBody>
      </p:sp>
      <p:sp>
        <p:nvSpPr>
          <p:cNvPr id="4" name="Shape 10"/>
          <p:cNvSpPr/>
          <p:nvPr/>
        </p:nvSpPr>
        <p:spPr>
          <a:xfrm>
            <a:off x="7818120" y="3465576"/>
            <a:ext cx="3474720" cy="411480"/>
          </a:xfrm>
          <a:prstGeom prst="roundRect">
            <a:avLst>
              <a:gd name="adj" fmla="val 13333"/>
            </a:avLst>
          </a:prstGeom>
          <a:solidFill>
            <a:srgbClr val="047857">
              <a:alpha val="16000"/>
            </a:srgbClr>
          </a:solidFill>
          <a:ln w="12700">
            <a:solidFill>
              <a:srgbClr val="047857"/>
            </a:solidFill>
            <a:prstDash val="solid"/>
          </a:ln>
        </p:spPr>
        <p:txBody>
          <a:bodyPr/>
          <a:lstStyle/>
          <a:p>
            <a:endParaRPr lang="en-US"/>
          </a:p>
        </p:txBody>
      </p:sp>
      <p:sp>
        <p:nvSpPr>
          <p:cNvPr id="14" name="Text 11"/>
          <p:cNvSpPr/>
          <p:nvPr/>
        </p:nvSpPr>
        <p:spPr>
          <a:xfrm>
            <a:off x="7955280" y="3465576"/>
            <a:ext cx="3200400" cy="411480"/>
          </a:xfrm>
          <a:prstGeom prst="rect">
            <a:avLst/>
          </a:prstGeom>
          <a:noFill/>
          <a:ln/>
        </p:spPr>
        <p:txBody>
          <a:bodyPr wrap="square" rtlCol="0" anchor="ctr"/>
          <a:lstStyle/>
          <a:p>
            <a:pPr marL="0" indent="0">
              <a:buNone/>
            </a:pPr>
            <a:r>
              <a:rPr lang="en-US" sz="1050" b="1" dirty="0">
                <a:solidFill>
                  <a:srgbClr val="1A1A1A"/>
                </a:solidFill>
                <a:latin typeface="Calibri" pitchFamily="34" charset="0"/>
                <a:ea typeface="Calibri" pitchFamily="34" charset="-122"/>
                <a:cs typeface="Calibri" pitchFamily="34" charset="-120"/>
              </a:rPr>
              <a:t>✅ “Per Policy 4.2, you get 6 spots”</a:t>
            </a:r>
            <a:endParaRPr lang="en-US" sz="1050" dirty="0"/>
          </a:p>
        </p:txBody>
      </p:sp>
      <p:sp>
        <p:nvSpPr>
          <p:cNvPr id="15" name="Shape 12"/>
          <p:cNvSpPr/>
          <p:nvPr/>
        </p:nvSpPr>
        <p:spPr>
          <a:xfrm>
            <a:off x="7589520" y="4206240"/>
            <a:ext cx="3931920" cy="2103120"/>
          </a:xfrm>
          <a:prstGeom prst="roundRect">
            <a:avLst>
              <a:gd name="adj" fmla="val 3913"/>
            </a:avLst>
          </a:prstGeom>
          <a:solidFill>
            <a:srgbClr val="F4F5F7"/>
          </a:solidFill>
          <a:ln w="12700">
            <a:solidFill>
              <a:srgbClr val="EAD9B0"/>
            </a:solidFill>
            <a:prstDash val="solid"/>
          </a:ln>
        </p:spPr>
        <p:txBody>
          <a:bodyPr/>
          <a:lstStyle/>
          <a:p>
            <a:endParaRPr lang="en-US"/>
          </a:p>
        </p:txBody>
      </p:sp>
      <p:sp>
        <p:nvSpPr>
          <p:cNvPr id="16" name="Text 13"/>
          <p:cNvSpPr/>
          <p:nvPr/>
        </p:nvSpPr>
        <p:spPr>
          <a:xfrm>
            <a:off x="7818120" y="4343400"/>
            <a:ext cx="3474720" cy="320040"/>
          </a:xfrm>
          <a:prstGeom prst="rect">
            <a:avLst/>
          </a:prstGeom>
          <a:noFill/>
          <a:ln/>
        </p:spPr>
        <p:txBody>
          <a:bodyPr wrap="square" rtlCol="0" anchor="ctr"/>
          <a:lstStyle/>
          <a:p>
            <a:pPr marL="0" indent="0">
              <a:buNone/>
            </a:pPr>
            <a:r>
              <a:rPr lang="en-US" sz="1250" b="1" dirty="0">
                <a:solidFill>
                  <a:srgbClr val="B45309"/>
                </a:solidFill>
                <a:latin typeface="Calibri" pitchFamily="34" charset="0"/>
                <a:ea typeface="Calibri" pitchFamily="34" charset="-122"/>
                <a:cs typeface="Calibri" pitchFamily="34" charset="-120"/>
              </a:rPr>
              <a:t>💡 Ticket classification escalation</a:t>
            </a:r>
            <a:endParaRPr lang="en-US" sz="1250" dirty="0"/>
          </a:p>
        </p:txBody>
      </p:sp>
      <p:sp>
        <p:nvSpPr>
          <p:cNvPr id="17" name="Text 14"/>
          <p:cNvSpPr/>
          <p:nvPr/>
        </p:nvSpPr>
        <p:spPr>
          <a:xfrm>
            <a:off x="7818120" y="4709160"/>
            <a:ext cx="3474720" cy="1554480"/>
          </a:xfrm>
          <a:prstGeom prst="rect">
            <a:avLst/>
          </a:prstGeom>
          <a:noFill/>
          <a:ln/>
        </p:spPr>
        <p:txBody>
          <a:bodyPr wrap="square" rtlCol="0" anchor="t"/>
          <a:lstStyle/>
          <a:p>
            <a:pPr marL="342900" indent="-342900" algn="l">
              <a:spcAft>
                <a:spcPts val="500"/>
              </a:spcAft>
              <a:buSzPct val="100000"/>
              <a:buChar char="•"/>
            </a:pPr>
            <a:r>
              <a:rPr lang="en-US" sz="1050" b="1" dirty="0">
                <a:solidFill>
                  <a:srgbClr val="1A1A1A"/>
                </a:solidFill>
                <a:latin typeface="Calibri" pitchFamily="34" charset="0"/>
                <a:ea typeface="Calibri" pitchFamily="34" charset="-122"/>
                <a:cs typeface="Calibri" pitchFamily="34" charset="-120"/>
              </a:rPr>
              <a:t>Phase 1 — few-shot handles ~80% of cases.</a:t>
            </a:r>
            <a:endParaRPr lang="en-US" sz="1050" dirty="0"/>
          </a:p>
          <a:p>
            <a:pPr marL="342900" indent="-342900" algn="l">
              <a:spcAft>
                <a:spcPts val="500"/>
              </a:spcAft>
              <a:buSzPct val="100000"/>
              <a:buChar char="•"/>
            </a:pPr>
            <a:r>
              <a:rPr lang="en-US" sz="1050" dirty="0">
                <a:solidFill>
                  <a:srgbClr val="5A5F66"/>
                </a:solidFill>
                <a:latin typeface="Calibri" pitchFamily="34" charset="0"/>
                <a:ea typeface="Calibri" pitchFamily="34" charset="-122"/>
                <a:cs typeface="Calibri" pitchFamily="34" charset="-120"/>
              </a:rPr>
              <a:t>500+ tickets/day  →  fine-tune</a:t>
            </a:r>
            <a:endParaRPr lang="en-US" sz="1050" dirty="0"/>
          </a:p>
          <a:p>
            <a:pPr marL="342900" indent="-342900" algn="l">
              <a:spcAft>
                <a:spcPts val="500"/>
              </a:spcAft>
              <a:buSzPct val="100000"/>
              <a:buChar char="•"/>
            </a:pPr>
            <a:r>
              <a:rPr lang="en-US" sz="1050" dirty="0">
                <a:solidFill>
                  <a:srgbClr val="5A5F66"/>
                </a:solidFill>
                <a:latin typeface="Calibri" pitchFamily="34" charset="0"/>
                <a:ea typeface="Calibri" pitchFamily="34" charset="-122"/>
                <a:cs typeface="Calibri" pitchFamily="34" charset="-120"/>
              </a:rPr>
              <a:t>Need sub-100 ms  →  fine-tune Haiku</a:t>
            </a:r>
            <a:endParaRPr lang="en-US" sz="1050" dirty="0"/>
          </a:p>
          <a:p>
            <a:pPr marL="342900" indent="-342900" algn="l">
              <a:spcAft>
                <a:spcPts val="500"/>
              </a:spcAft>
              <a:buSzPct val="100000"/>
              <a:buChar char="•"/>
            </a:pPr>
            <a:r>
              <a:rPr lang="en-US" sz="1050" dirty="0">
                <a:solidFill>
                  <a:srgbClr val="5A5F66"/>
                </a:solidFill>
                <a:latin typeface="Calibri" pitchFamily="34" charset="0"/>
                <a:ea typeface="Calibri" pitchFamily="34" charset="-122"/>
                <a:cs typeface="Calibri" pitchFamily="34" charset="-120"/>
              </a:rPr>
              <a:t>Accuracy below 90%  →  fine-tune</a:t>
            </a:r>
            <a:endParaRPr lang="en-US" sz="1050" dirty="0"/>
          </a:p>
          <a:p>
            <a:pPr marL="342900" indent="-342900" algn="l">
              <a:spcAft>
                <a:spcPts val="500"/>
              </a:spcAft>
              <a:buSzPct val="100000"/>
              <a:buChar char="•"/>
            </a:pPr>
            <a:r>
              <a:rPr lang="en-US" sz="1050" dirty="0">
                <a:solidFill>
                  <a:srgbClr val="5A5F66"/>
                </a:solidFill>
                <a:latin typeface="Calibri" pitchFamily="34" charset="0"/>
                <a:ea typeface="Calibri" pitchFamily="34" charset="-122"/>
                <a:cs typeface="Calibri" pitchFamily="34" charset="-120"/>
              </a:rPr>
              <a:t>Custom JLL categories  →  fine-tune</a:t>
            </a:r>
            <a:endParaRPr lang="en-US" sz="1050" dirty="0"/>
          </a:p>
        </p:txBody>
      </p:sp>
      <p:sp>
        <p:nvSpPr>
          <p:cNvPr id="18" name="Text 15"/>
          <p:cNvSpPr/>
          <p:nvPr/>
        </p:nvSpPr>
        <p:spPr>
          <a:xfrm>
            <a:off x="640080" y="6355080"/>
            <a:ext cx="6675120" cy="320040"/>
          </a:xfrm>
          <a:prstGeom prst="rect">
            <a:avLst/>
          </a:prstGeom>
          <a:noFill/>
          <a:ln/>
        </p:spPr>
        <p:txBody>
          <a:bodyPr wrap="square" rtlCol="0" anchor="ctr"/>
          <a:lstStyle/>
          <a:p>
            <a:pPr marL="0" indent="0">
              <a:buNone/>
            </a:pPr>
            <a:r>
              <a:rPr lang="en-US" sz="1150" i="1" dirty="0">
                <a:solidFill>
                  <a:srgbClr val="8A9099"/>
                </a:solidFill>
                <a:latin typeface="Calibri" pitchFamily="34" charset="0"/>
                <a:ea typeface="Calibri" pitchFamily="34" charset="-122"/>
                <a:cs typeface="Calibri" pitchFamily="34" charset="-120"/>
              </a:rPr>
              <a:t>Most JLL use cases are solved by Prompting + RAG. Only 2 of 8 need fine-tuning.</a:t>
            </a:r>
            <a:endParaRPr lang="en-US" sz="1150" dirty="0"/>
          </a:p>
        </p:txBody>
      </p:sp>
      <p:sp>
        <p:nvSpPr>
          <p:cNvPr id="19" name="Text 16"/>
          <p:cNvSpPr/>
          <p:nvPr/>
        </p:nvSpPr>
        <p:spPr>
          <a:xfrm>
            <a:off x="10728655" y="6400800"/>
            <a:ext cx="1097280" cy="274320"/>
          </a:xfrm>
          <a:prstGeom prst="rect">
            <a:avLst/>
          </a:prstGeom>
          <a:noFill/>
          <a:ln/>
        </p:spPr>
        <p:txBody>
          <a:bodyPr wrap="square" rtlCol="0" anchor="ctr"/>
          <a:lstStyle/>
          <a:p>
            <a:pPr marL="0" indent="0" algn="r">
              <a:buNone/>
            </a:pPr>
            <a:r>
              <a:rPr lang="en-US" sz="1000" dirty="0">
                <a:solidFill>
                  <a:srgbClr val="8A9099"/>
                </a:solidFill>
                <a:latin typeface="Courier New" pitchFamily="34" charset="0"/>
                <a:ea typeface="Courier New" pitchFamily="34" charset="-122"/>
                <a:cs typeface="Courier New" pitchFamily="34" charset="-120"/>
              </a:rPr>
              <a:t>12 / 16</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rtlCol="0" anchor="ctr"/>
          <a:lstStyle/>
          <a:p>
            <a:pPr marL="0" indent="0" algn="l">
              <a:buNone/>
            </a:pPr>
            <a:r>
              <a:rPr lang="en-US" sz="1200" b="1" kern="0" spc="300" dirty="0">
                <a:solidFill>
                  <a:srgbClr val="B45309"/>
                </a:solidFill>
                <a:latin typeface="Calibri" pitchFamily="34" charset="0"/>
                <a:ea typeface="Calibri" pitchFamily="34" charset="-122"/>
                <a:cs typeface="Calibri" pitchFamily="34" charset="-120"/>
              </a:rPr>
              <a:t>PITFALLS</a:t>
            </a:r>
            <a:endParaRPr lang="en-US" sz="1200" dirty="0"/>
          </a:p>
        </p:txBody>
      </p:sp>
      <p:sp>
        <p:nvSpPr>
          <p:cNvPr id="3" name="Text 1"/>
          <p:cNvSpPr/>
          <p:nvPr/>
        </p:nvSpPr>
        <p:spPr>
          <a:xfrm>
            <a:off x="640080" y="777240"/>
            <a:ext cx="10911535" cy="822960"/>
          </a:xfrm>
          <a:prstGeom prst="rect">
            <a:avLst/>
          </a:prstGeom>
          <a:noFill/>
          <a:ln/>
        </p:spPr>
        <p:txBody>
          <a:bodyPr wrap="square" rtlCol="0" anchor="ctr"/>
          <a:lstStyle/>
          <a:p>
            <a:pPr marL="0" indent="0" algn="l">
              <a:buNone/>
            </a:pPr>
            <a:r>
              <a:rPr lang="en-US" sz="3200" b="1" dirty="0">
                <a:solidFill>
                  <a:srgbClr val="1A1A1A"/>
                </a:solidFill>
                <a:latin typeface="Century Schoolbook" pitchFamily="34" charset="0"/>
                <a:ea typeface="Century Schoolbook" pitchFamily="34" charset="-122"/>
                <a:cs typeface="Century Schoolbook" pitchFamily="34" charset="-120"/>
              </a:rPr>
              <a:t>⚠️ Common mistakes &amp; anti-patterns</a:t>
            </a:r>
            <a:endParaRPr lang="en-US" sz="3200" dirty="0"/>
          </a:p>
        </p:txBody>
      </p:sp>
      <p:sp>
        <p:nvSpPr>
          <p:cNvPr id="4" name="Text 2"/>
          <p:cNvSpPr/>
          <p:nvPr/>
        </p:nvSpPr>
        <p:spPr>
          <a:xfrm>
            <a:off x="685800" y="1783080"/>
            <a:ext cx="3611880" cy="365760"/>
          </a:xfrm>
          <a:prstGeom prst="rect">
            <a:avLst/>
          </a:prstGeom>
          <a:noFill/>
          <a:ln/>
        </p:spPr>
        <p:txBody>
          <a:bodyPr wrap="square" rtlCol="0" anchor="ctr"/>
          <a:lstStyle/>
          <a:p>
            <a:pPr marL="0" indent="0">
              <a:buNone/>
            </a:pPr>
            <a:r>
              <a:rPr lang="en-US" sz="1500" b="1" dirty="0">
                <a:solidFill>
                  <a:srgbClr val="6D28D9"/>
                </a:solidFill>
                <a:latin typeface="Calibri" pitchFamily="34" charset="0"/>
                <a:ea typeface="Calibri" pitchFamily="34" charset="-122"/>
                <a:cs typeface="Calibri" pitchFamily="34" charset="-120"/>
              </a:rPr>
              <a:t>🎯 Prompting</a:t>
            </a:r>
            <a:endParaRPr lang="en-US" sz="1500" dirty="0"/>
          </a:p>
        </p:txBody>
      </p:sp>
      <p:sp>
        <p:nvSpPr>
          <p:cNvPr id="5" name="Shape 3"/>
          <p:cNvSpPr/>
          <p:nvPr/>
        </p:nvSpPr>
        <p:spPr>
          <a:xfrm>
            <a:off x="640080" y="2240280"/>
            <a:ext cx="3611880" cy="841248"/>
          </a:xfrm>
          <a:prstGeom prst="roundRect">
            <a:avLst>
              <a:gd name="adj" fmla="val 9783"/>
            </a:avLst>
          </a:prstGeom>
          <a:solidFill>
            <a:srgbClr val="F4F5F7"/>
          </a:solidFill>
          <a:ln w="12700">
            <a:solidFill>
              <a:srgbClr val="DADDE2"/>
            </a:solidFill>
            <a:prstDash val="solid"/>
          </a:ln>
        </p:spPr>
        <p:txBody>
          <a:bodyPr/>
          <a:lstStyle/>
          <a:p>
            <a:endParaRPr lang="en-US"/>
          </a:p>
        </p:txBody>
      </p:sp>
      <p:sp>
        <p:nvSpPr>
          <p:cNvPr id="6" name="Text 4"/>
          <p:cNvSpPr/>
          <p:nvPr/>
        </p:nvSpPr>
        <p:spPr>
          <a:xfrm>
            <a:off x="822960" y="2331720"/>
            <a:ext cx="3246120" cy="274320"/>
          </a:xfrm>
          <a:prstGeom prst="rect">
            <a:avLst/>
          </a:prstGeom>
          <a:noFill/>
          <a:ln/>
        </p:spPr>
        <p:txBody>
          <a:bodyPr wrap="square" rtlCol="0" anchor="ctr"/>
          <a:lstStyle/>
          <a:p>
            <a:pPr marL="0" indent="0">
              <a:buNone/>
            </a:pPr>
            <a:r>
              <a:rPr lang="en-US" sz="1150" b="1" dirty="0">
                <a:solidFill>
                  <a:srgbClr val="1A1A1A"/>
                </a:solidFill>
                <a:latin typeface="Calibri" pitchFamily="34" charset="0"/>
                <a:ea typeface="Calibri" pitchFamily="34" charset="-122"/>
                <a:cs typeface="Calibri" pitchFamily="34" charset="-120"/>
              </a:rPr>
              <a:t>❌ Vague instructions</a:t>
            </a:r>
            <a:endParaRPr lang="en-US" sz="1150" dirty="0"/>
          </a:p>
        </p:txBody>
      </p:sp>
      <p:sp>
        <p:nvSpPr>
          <p:cNvPr id="7" name="Text 5"/>
          <p:cNvSpPr/>
          <p:nvPr/>
        </p:nvSpPr>
        <p:spPr>
          <a:xfrm>
            <a:off x="822960" y="2624328"/>
            <a:ext cx="3246120" cy="411480"/>
          </a:xfrm>
          <a:prstGeom prst="rect">
            <a:avLst/>
          </a:prstGeom>
          <a:noFill/>
          <a:ln/>
        </p:spPr>
        <p:txBody>
          <a:bodyPr wrap="square" rtlCol="0" anchor="ctr"/>
          <a:lstStyle/>
          <a:p>
            <a:pPr marL="0" indent="0">
              <a:buNone/>
            </a:pPr>
            <a:r>
              <a:rPr lang="en-US" sz="1000" dirty="0">
                <a:solidFill>
                  <a:srgbClr val="5A5F66"/>
                </a:solidFill>
                <a:latin typeface="Calibri" pitchFamily="34" charset="0"/>
                <a:ea typeface="Calibri" pitchFamily="34" charset="-122"/>
                <a:cs typeface="Calibri" pitchFamily="34" charset="-120"/>
              </a:rPr>
              <a:t>“Summarize this” → “3 bullets, max 20 words, financial focus”</a:t>
            </a:r>
            <a:endParaRPr lang="en-US" sz="1000" dirty="0"/>
          </a:p>
        </p:txBody>
      </p:sp>
      <p:sp>
        <p:nvSpPr>
          <p:cNvPr id="8" name="Shape 6"/>
          <p:cNvSpPr/>
          <p:nvPr/>
        </p:nvSpPr>
        <p:spPr>
          <a:xfrm>
            <a:off x="640080" y="3209544"/>
            <a:ext cx="3611880" cy="841248"/>
          </a:xfrm>
          <a:prstGeom prst="roundRect">
            <a:avLst>
              <a:gd name="adj" fmla="val 9783"/>
            </a:avLst>
          </a:prstGeom>
          <a:solidFill>
            <a:srgbClr val="F4F5F7"/>
          </a:solidFill>
          <a:ln w="12700">
            <a:solidFill>
              <a:srgbClr val="DADDE2"/>
            </a:solidFill>
            <a:prstDash val="solid"/>
          </a:ln>
        </p:spPr>
        <p:txBody>
          <a:bodyPr/>
          <a:lstStyle/>
          <a:p>
            <a:endParaRPr lang="en-US"/>
          </a:p>
        </p:txBody>
      </p:sp>
      <p:sp>
        <p:nvSpPr>
          <p:cNvPr id="9" name="Text 7"/>
          <p:cNvSpPr/>
          <p:nvPr/>
        </p:nvSpPr>
        <p:spPr>
          <a:xfrm>
            <a:off x="822960" y="3300984"/>
            <a:ext cx="3246120" cy="274320"/>
          </a:xfrm>
          <a:prstGeom prst="rect">
            <a:avLst/>
          </a:prstGeom>
          <a:noFill/>
          <a:ln/>
        </p:spPr>
        <p:txBody>
          <a:bodyPr wrap="square" rtlCol="0" anchor="ctr"/>
          <a:lstStyle/>
          <a:p>
            <a:pPr marL="0" indent="0">
              <a:buNone/>
            </a:pPr>
            <a:r>
              <a:rPr lang="en-US" sz="1150" b="1" dirty="0">
                <a:solidFill>
                  <a:srgbClr val="1A1A1A"/>
                </a:solidFill>
                <a:latin typeface="Calibri" pitchFamily="34" charset="0"/>
                <a:ea typeface="Calibri" pitchFamily="34" charset="-122"/>
                <a:cs typeface="Calibri" pitchFamily="34" charset="-120"/>
              </a:rPr>
              <a:t>❌ No output format</a:t>
            </a:r>
            <a:endParaRPr lang="en-US" sz="1150" dirty="0"/>
          </a:p>
        </p:txBody>
      </p:sp>
      <p:sp>
        <p:nvSpPr>
          <p:cNvPr id="10" name="Text 8"/>
          <p:cNvSpPr/>
          <p:nvPr/>
        </p:nvSpPr>
        <p:spPr>
          <a:xfrm>
            <a:off x="822960" y="3593592"/>
            <a:ext cx="3246120" cy="411480"/>
          </a:xfrm>
          <a:prstGeom prst="rect">
            <a:avLst/>
          </a:prstGeom>
          <a:noFill/>
          <a:ln/>
        </p:spPr>
        <p:txBody>
          <a:bodyPr wrap="square" rtlCol="0" anchor="ctr"/>
          <a:lstStyle/>
          <a:p>
            <a:pPr marL="0" indent="0">
              <a:buNone/>
            </a:pPr>
            <a:r>
              <a:rPr lang="en-US" sz="1000" dirty="0">
                <a:solidFill>
                  <a:srgbClr val="5A5F66"/>
                </a:solidFill>
                <a:latin typeface="Calibri" pitchFamily="34" charset="0"/>
                <a:ea typeface="Calibri" pitchFamily="34" charset="-122"/>
                <a:cs typeface="Calibri" pitchFamily="34" charset="-120"/>
              </a:rPr>
              <a:t>Hoping the model guesses → specify a JSON schema</a:t>
            </a:r>
            <a:endParaRPr lang="en-US" sz="1000" dirty="0"/>
          </a:p>
        </p:txBody>
      </p:sp>
      <p:sp>
        <p:nvSpPr>
          <p:cNvPr id="11" name="Shape 9"/>
          <p:cNvSpPr/>
          <p:nvPr/>
        </p:nvSpPr>
        <p:spPr>
          <a:xfrm>
            <a:off x="640080" y="4178808"/>
            <a:ext cx="3611880" cy="841248"/>
          </a:xfrm>
          <a:prstGeom prst="roundRect">
            <a:avLst>
              <a:gd name="adj" fmla="val 9783"/>
            </a:avLst>
          </a:prstGeom>
          <a:solidFill>
            <a:srgbClr val="F4F5F7"/>
          </a:solidFill>
          <a:ln w="12700">
            <a:solidFill>
              <a:srgbClr val="DADDE2"/>
            </a:solidFill>
            <a:prstDash val="solid"/>
          </a:ln>
        </p:spPr>
        <p:txBody>
          <a:bodyPr/>
          <a:lstStyle/>
          <a:p>
            <a:endParaRPr lang="en-US"/>
          </a:p>
        </p:txBody>
      </p:sp>
      <p:sp>
        <p:nvSpPr>
          <p:cNvPr id="12" name="Text 10"/>
          <p:cNvSpPr/>
          <p:nvPr/>
        </p:nvSpPr>
        <p:spPr>
          <a:xfrm>
            <a:off x="822960" y="4270248"/>
            <a:ext cx="3246120" cy="274320"/>
          </a:xfrm>
          <a:prstGeom prst="rect">
            <a:avLst/>
          </a:prstGeom>
          <a:noFill/>
          <a:ln/>
        </p:spPr>
        <p:txBody>
          <a:bodyPr wrap="square" rtlCol="0" anchor="ctr"/>
          <a:lstStyle/>
          <a:p>
            <a:pPr marL="0" indent="0">
              <a:buNone/>
            </a:pPr>
            <a:r>
              <a:rPr lang="en-US" sz="1150" b="1" dirty="0">
                <a:solidFill>
                  <a:srgbClr val="1A1A1A"/>
                </a:solidFill>
                <a:latin typeface="Calibri" pitchFamily="34" charset="0"/>
                <a:ea typeface="Calibri" pitchFamily="34" charset="-122"/>
                <a:cs typeface="Calibri" pitchFamily="34" charset="-120"/>
              </a:rPr>
              <a:t>❌ No negative constraints</a:t>
            </a:r>
            <a:endParaRPr lang="en-US" sz="1150" dirty="0"/>
          </a:p>
        </p:txBody>
      </p:sp>
      <p:sp>
        <p:nvSpPr>
          <p:cNvPr id="13" name="Text 11"/>
          <p:cNvSpPr/>
          <p:nvPr/>
        </p:nvSpPr>
        <p:spPr>
          <a:xfrm>
            <a:off x="822960" y="4562856"/>
            <a:ext cx="3246120" cy="411480"/>
          </a:xfrm>
          <a:prstGeom prst="rect">
            <a:avLst/>
          </a:prstGeom>
          <a:noFill/>
          <a:ln/>
        </p:spPr>
        <p:txBody>
          <a:bodyPr wrap="square" rtlCol="0" anchor="ctr"/>
          <a:lstStyle/>
          <a:p>
            <a:pPr marL="0" indent="0">
              <a:buNone/>
            </a:pPr>
            <a:r>
              <a:rPr lang="en-US" sz="1000" dirty="0">
                <a:solidFill>
                  <a:srgbClr val="5A5F66"/>
                </a:solidFill>
                <a:latin typeface="Calibri" pitchFamily="34" charset="0"/>
                <a:ea typeface="Calibri" pitchFamily="34" charset="-122"/>
                <a:cs typeface="Calibri" pitchFamily="34" charset="-120"/>
              </a:rPr>
              <a:t>Add: “Do NOT invent info. Say 'I don't know'”</a:t>
            </a:r>
            <a:endParaRPr lang="en-US" sz="1000" dirty="0"/>
          </a:p>
        </p:txBody>
      </p:sp>
      <p:sp>
        <p:nvSpPr>
          <p:cNvPr id="14" name="Text 12"/>
          <p:cNvSpPr/>
          <p:nvPr/>
        </p:nvSpPr>
        <p:spPr>
          <a:xfrm>
            <a:off x="4553712" y="1783080"/>
            <a:ext cx="3611880" cy="365760"/>
          </a:xfrm>
          <a:prstGeom prst="rect">
            <a:avLst/>
          </a:prstGeom>
          <a:noFill/>
          <a:ln/>
        </p:spPr>
        <p:txBody>
          <a:bodyPr wrap="square" rtlCol="0" anchor="ctr"/>
          <a:lstStyle/>
          <a:p>
            <a:pPr marL="0" indent="0">
              <a:buNone/>
            </a:pPr>
            <a:r>
              <a:rPr lang="en-US" sz="1500" b="1" dirty="0">
                <a:solidFill>
                  <a:srgbClr val="2563EB"/>
                </a:solidFill>
                <a:latin typeface="Calibri" pitchFamily="34" charset="0"/>
                <a:ea typeface="Calibri" pitchFamily="34" charset="-122"/>
                <a:cs typeface="Calibri" pitchFamily="34" charset="-120"/>
              </a:rPr>
              <a:t>📚 RAG</a:t>
            </a:r>
            <a:endParaRPr lang="en-US" sz="1500" dirty="0"/>
          </a:p>
        </p:txBody>
      </p:sp>
      <p:sp>
        <p:nvSpPr>
          <p:cNvPr id="15" name="Shape 13"/>
          <p:cNvSpPr/>
          <p:nvPr/>
        </p:nvSpPr>
        <p:spPr>
          <a:xfrm>
            <a:off x="4507992" y="2240280"/>
            <a:ext cx="3611880" cy="841248"/>
          </a:xfrm>
          <a:prstGeom prst="roundRect">
            <a:avLst>
              <a:gd name="adj" fmla="val 9783"/>
            </a:avLst>
          </a:prstGeom>
          <a:solidFill>
            <a:srgbClr val="F4F5F7"/>
          </a:solidFill>
          <a:ln w="12700">
            <a:solidFill>
              <a:srgbClr val="DADDE2"/>
            </a:solidFill>
            <a:prstDash val="solid"/>
          </a:ln>
        </p:spPr>
        <p:txBody>
          <a:bodyPr/>
          <a:lstStyle/>
          <a:p>
            <a:endParaRPr lang="en-US"/>
          </a:p>
        </p:txBody>
      </p:sp>
      <p:sp>
        <p:nvSpPr>
          <p:cNvPr id="16" name="Text 14"/>
          <p:cNvSpPr/>
          <p:nvPr/>
        </p:nvSpPr>
        <p:spPr>
          <a:xfrm>
            <a:off x="4690872" y="2331720"/>
            <a:ext cx="3246120" cy="274320"/>
          </a:xfrm>
          <a:prstGeom prst="rect">
            <a:avLst/>
          </a:prstGeom>
          <a:noFill/>
          <a:ln/>
        </p:spPr>
        <p:txBody>
          <a:bodyPr wrap="square" rtlCol="0" anchor="ctr"/>
          <a:lstStyle/>
          <a:p>
            <a:pPr marL="0" indent="0">
              <a:buNone/>
            </a:pPr>
            <a:r>
              <a:rPr lang="en-US" sz="1150" b="1" dirty="0">
                <a:solidFill>
                  <a:srgbClr val="1A1A1A"/>
                </a:solidFill>
                <a:latin typeface="Calibri" pitchFamily="34" charset="0"/>
                <a:ea typeface="Calibri" pitchFamily="34" charset="-122"/>
                <a:cs typeface="Calibri" pitchFamily="34" charset="-120"/>
              </a:rPr>
              <a:t>❌ Fixed-size chunking</a:t>
            </a:r>
            <a:endParaRPr lang="en-US" sz="1150" dirty="0"/>
          </a:p>
        </p:txBody>
      </p:sp>
      <p:sp>
        <p:nvSpPr>
          <p:cNvPr id="17" name="Text 15"/>
          <p:cNvSpPr/>
          <p:nvPr/>
        </p:nvSpPr>
        <p:spPr>
          <a:xfrm>
            <a:off x="4690872" y="2624328"/>
            <a:ext cx="3246120" cy="411480"/>
          </a:xfrm>
          <a:prstGeom prst="rect">
            <a:avLst/>
          </a:prstGeom>
          <a:noFill/>
          <a:ln/>
        </p:spPr>
        <p:txBody>
          <a:bodyPr wrap="square" rtlCol="0" anchor="ctr"/>
          <a:lstStyle/>
          <a:p>
            <a:pPr marL="0" indent="0">
              <a:buNone/>
            </a:pPr>
            <a:r>
              <a:rPr lang="en-US" sz="1000" dirty="0">
                <a:solidFill>
                  <a:srgbClr val="5A5F66"/>
                </a:solidFill>
                <a:latin typeface="Calibri" pitchFamily="34" charset="0"/>
                <a:ea typeface="Calibri" pitchFamily="34" charset="-122"/>
                <a:cs typeface="Calibri" pitchFamily="34" charset="-120"/>
              </a:rPr>
              <a:t>512 tokens blindly → semantic chunking</a:t>
            </a:r>
            <a:endParaRPr lang="en-US" sz="1000" dirty="0"/>
          </a:p>
        </p:txBody>
      </p:sp>
      <p:sp>
        <p:nvSpPr>
          <p:cNvPr id="18" name="Shape 16"/>
          <p:cNvSpPr/>
          <p:nvPr/>
        </p:nvSpPr>
        <p:spPr>
          <a:xfrm>
            <a:off x="4507992" y="3209544"/>
            <a:ext cx="3611880" cy="841248"/>
          </a:xfrm>
          <a:prstGeom prst="roundRect">
            <a:avLst>
              <a:gd name="adj" fmla="val 9783"/>
            </a:avLst>
          </a:prstGeom>
          <a:solidFill>
            <a:srgbClr val="F4F5F7"/>
          </a:solidFill>
          <a:ln w="12700">
            <a:solidFill>
              <a:srgbClr val="DADDE2"/>
            </a:solidFill>
            <a:prstDash val="solid"/>
          </a:ln>
        </p:spPr>
        <p:txBody>
          <a:bodyPr/>
          <a:lstStyle/>
          <a:p>
            <a:endParaRPr lang="en-US"/>
          </a:p>
        </p:txBody>
      </p:sp>
      <p:sp>
        <p:nvSpPr>
          <p:cNvPr id="19" name="Text 17"/>
          <p:cNvSpPr/>
          <p:nvPr/>
        </p:nvSpPr>
        <p:spPr>
          <a:xfrm>
            <a:off x="4690872" y="3300984"/>
            <a:ext cx="3246120" cy="274320"/>
          </a:xfrm>
          <a:prstGeom prst="rect">
            <a:avLst/>
          </a:prstGeom>
          <a:noFill/>
          <a:ln/>
        </p:spPr>
        <p:txBody>
          <a:bodyPr wrap="square" rtlCol="0" anchor="ctr"/>
          <a:lstStyle/>
          <a:p>
            <a:pPr marL="0" indent="0">
              <a:buNone/>
            </a:pPr>
            <a:r>
              <a:rPr lang="en-US" sz="1150" b="1" dirty="0">
                <a:solidFill>
                  <a:srgbClr val="1A1A1A"/>
                </a:solidFill>
                <a:latin typeface="Calibri" pitchFamily="34" charset="0"/>
                <a:ea typeface="Calibri" pitchFamily="34" charset="-122"/>
                <a:cs typeface="Calibri" pitchFamily="34" charset="-120"/>
              </a:rPr>
              <a:t>❌ Vector-only search</a:t>
            </a:r>
            <a:endParaRPr lang="en-US" sz="1150" dirty="0"/>
          </a:p>
        </p:txBody>
      </p:sp>
      <p:sp>
        <p:nvSpPr>
          <p:cNvPr id="20" name="Text 18"/>
          <p:cNvSpPr/>
          <p:nvPr/>
        </p:nvSpPr>
        <p:spPr>
          <a:xfrm>
            <a:off x="4690872" y="3593592"/>
            <a:ext cx="3246120" cy="411480"/>
          </a:xfrm>
          <a:prstGeom prst="rect">
            <a:avLst/>
          </a:prstGeom>
          <a:noFill/>
          <a:ln/>
        </p:spPr>
        <p:txBody>
          <a:bodyPr wrap="square" rtlCol="0" anchor="ctr"/>
          <a:lstStyle/>
          <a:p>
            <a:pPr marL="0" indent="0">
              <a:buNone/>
            </a:pPr>
            <a:r>
              <a:rPr lang="en-US" sz="1000" dirty="0">
                <a:solidFill>
                  <a:srgbClr val="5A5F66"/>
                </a:solidFill>
                <a:latin typeface="Calibri" pitchFamily="34" charset="0"/>
                <a:ea typeface="Calibri" pitchFamily="34" charset="-122"/>
                <a:cs typeface="Calibri" pitchFamily="34" charset="-120"/>
              </a:rPr>
              <a:t>Misses exact IDs → hybrid (vector + BM25)</a:t>
            </a:r>
            <a:endParaRPr lang="en-US" sz="1000" dirty="0"/>
          </a:p>
        </p:txBody>
      </p:sp>
      <p:sp>
        <p:nvSpPr>
          <p:cNvPr id="21" name="Shape 19"/>
          <p:cNvSpPr/>
          <p:nvPr/>
        </p:nvSpPr>
        <p:spPr>
          <a:xfrm>
            <a:off x="4507992" y="4178808"/>
            <a:ext cx="3611880" cy="841248"/>
          </a:xfrm>
          <a:prstGeom prst="roundRect">
            <a:avLst>
              <a:gd name="adj" fmla="val 9783"/>
            </a:avLst>
          </a:prstGeom>
          <a:solidFill>
            <a:srgbClr val="F4F5F7"/>
          </a:solidFill>
          <a:ln w="12700">
            <a:solidFill>
              <a:srgbClr val="DADDE2"/>
            </a:solidFill>
            <a:prstDash val="solid"/>
          </a:ln>
        </p:spPr>
        <p:txBody>
          <a:bodyPr/>
          <a:lstStyle/>
          <a:p>
            <a:endParaRPr lang="en-US"/>
          </a:p>
        </p:txBody>
      </p:sp>
      <p:sp>
        <p:nvSpPr>
          <p:cNvPr id="22" name="Text 20"/>
          <p:cNvSpPr/>
          <p:nvPr/>
        </p:nvSpPr>
        <p:spPr>
          <a:xfrm>
            <a:off x="4690872" y="4270248"/>
            <a:ext cx="3246120" cy="274320"/>
          </a:xfrm>
          <a:prstGeom prst="rect">
            <a:avLst/>
          </a:prstGeom>
          <a:noFill/>
          <a:ln/>
        </p:spPr>
        <p:txBody>
          <a:bodyPr wrap="square" rtlCol="0" anchor="ctr"/>
          <a:lstStyle/>
          <a:p>
            <a:pPr marL="0" indent="0">
              <a:buNone/>
            </a:pPr>
            <a:r>
              <a:rPr lang="en-US" sz="1150" b="1" dirty="0">
                <a:solidFill>
                  <a:srgbClr val="1A1A1A"/>
                </a:solidFill>
                <a:latin typeface="Calibri" pitchFamily="34" charset="0"/>
                <a:ea typeface="Calibri" pitchFamily="34" charset="-122"/>
                <a:cs typeface="Calibri" pitchFamily="34" charset="-120"/>
              </a:rPr>
              <a:t>❌ Context stuffing (20+)</a:t>
            </a:r>
            <a:endParaRPr lang="en-US" sz="1150" dirty="0"/>
          </a:p>
        </p:txBody>
      </p:sp>
      <p:sp>
        <p:nvSpPr>
          <p:cNvPr id="23" name="Text 21"/>
          <p:cNvSpPr/>
          <p:nvPr/>
        </p:nvSpPr>
        <p:spPr>
          <a:xfrm>
            <a:off x="4690872" y="4562856"/>
            <a:ext cx="3246120" cy="411480"/>
          </a:xfrm>
          <a:prstGeom prst="rect">
            <a:avLst/>
          </a:prstGeom>
          <a:noFill/>
          <a:ln/>
        </p:spPr>
        <p:txBody>
          <a:bodyPr wrap="square" rtlCol="0" anchor="ctr"/>
          <a:lstStyle/>
          <a:p>
            <a:pPr marL="0" indent="0">
              <a:buNone/>
            </a:pPr>
            <a:r>
              <a:rPr lang="en-US" sz="1000" dirty="0">
                <a:solidFill>
                  <a:srgbClr val="5A5F66"/>
                </a:solidFill>
                <a:latin typeface="Calibri" pitchFamily="34" charset="0"/>
                <a:ea typeface="Calibri" pitchFamily="34" charset="-122"/>
                <a:cs typeface="Calibri" pitchFamily="34" charset="-120"/>
              </a:rPr>
              <a:t>“Lost in middle” → top 3-5 with reranker</a:t>
            </a:r>
            <a:endParaRPr lang="en-US" sz="1000" dirty="0"/>
          </a:p>
        </p:txBody>
      </p:sp>
      <p:sp>
        <p:nvSpPr>
          <p:cNvPr id="24" name="Text 22"/>
          <p:cNvSpPr/>
          <p:nvPr/>
        </p:nvSpPr>
        <p:spPr>
          <a:xfrm>
            <a:off x="8421624" y="1783080"/>
            <a:ext cx="3611880" cy="365760"/>
          </a:xfrm>
          <a:prstGeom prst="rect">
            <a:avLst/>
          </a:prstGeom>
          <a:noFill/>
          <a:ln/>
        </p:spPr>
        <p:txBody>
          <a:bodyPr wrap="square" rtlCol="0" anchor="ctr"/>
          <a:lstStyle/>
          <a:p>
            <a:pPr marL="0" indent="0">
              <a:buNone/>
            </a:pPr>
            <a:r>
              <a:rPr lang="en-US" sz="1500" b="1" dirty="0">
                <a:solidFill>
                  <a:srgbClr val="E30613"/>
                </a:solidFill>
                <a:latin typeface="Calibri" pitchFamily="34" charset="0"/>
                <a:ea typeface="Calibri" pitchFamily="34" charset="-122"/>
                <a:cs typeface="Calibri" pitchFamily="34" charset="-120"/>
              </a:rPr>
              <a:t>🔧 Fine-Tuning</a:t>
            </a:r>
            <a:endParaRPr lang="en-US" sz="1500" dirty="0"/>
          </a:p>
        </p:txBody>
      </p:sp>
      <p:sp>
        <p:nvSpPr>
          <p:cNvPr id="25" name="Shape 23"/>
          <p:cNvSpPr/>
          <p:nvPr/>
        </p:nvSpPr>
        <p:spPr>
          <a:xfrm>
            <a:off x="8375904" y="2240280"/>
            <a:ext cx="3611880" cy="841248"/>
          </a:xfrm>
          <a:prstGeom prst="roundRect">
            <a:avLst>
              <a:gd name="adj" fmla="val 9783"/>
            </a:avLst>
          </a:prstGeom>
          <a:solidFill>
            <a:srgbClr val="FCEAEC"/>
          </a:solidFill>
          <a:ln w="12700">
            <a:solidFill>
              <a:srgbClr val="F3C4C8"/>
            </a:solidFill>
            <a:prstDash val="solid"/>
          </a:ln>
        </p:spPr>
        <p:txBody>
          <a:bodyPr/>
          <a:lstStyle/>
          <a:p>
            <a:endParaRPr lang="en-US"/>
          </a:p>
        </p:txBody>
      </p:sp>
      <p:sp>
        <p:nvSpPr>
          <p:cNvPr id="26" name="Text 24"/>
          <p:cNvSpPr/>
          <p:nvPr/>
        </p:nvSpPr>
        <p:spPr>
          <a:xfrm>
            <a:off x="8558784" y="2331720"/>
            <a:ext cx="3246120" cy="274320"/>
          </a:xfrm>
          <a:prstGeom prst="rect">
            <a:avLst/>
          </a:prstGeom>
          <a:noFill/>
          <a:ln/>
        </p:spPr>
        <p:txBody>
          <a:bodyPr wrap="square" rtlCol="0" anchor="ctr"/>
          <a:lstStyle/>
          <a:p>
            <a:pPr marL="0" indent="0">
              <a:buNone/>
            </a:pPr>
            <a:r>
              <a:rPr lang="en-US" sz="1150" b="1" dirty="0">
                <a:solidFill>
                  <a:srgbClr val="E30613"/>
                </a:solidFill>
                <a:latin typeface="Calibri" pitchFamily="34" charset="0"/>
                <a:ea typeface="Calibri" pitchFamily="34" charset="-122"/>
                <a:cs typeface="Calibri" pitchFamily="34" charset="-120"/>
              </a:rPr>
              <a:t>🚨 #1 Fine-tuning for FACTS</a:t>
            </a:r>
            <a:endParaRPr lang="en-US" sz="1150" dirty="0"/>
          </a:p>
        </p:txBody>
      </p:sp>
      <p:sp>
        <p:nvSpPr>
          <p:cNvPr id="27" name="Text 25"/>
          <p:cNvSpPr/>
          <p:nvPr/>
        </p:nvSpPr>
        <p:spPr>
          <a:xfrm>
            <a:off x="8558784" y="2624328"/>
            <a:ext cx="3246120" cy="411480"/>
          </a:xfrm>
          <a:prstGeom prst="rect">
            <a:avLst/>
          </a:prstGeom>
          <a:noFill/>
          <a:ln/>
        </p:spPr>
        <p:txBody>
          <a:bodyPr wrap="square" rtlCol="0" anchor="ctr"/>
          <a:lstStyle/>
          <a:p>
            <a:pPr marL="0" indent="0">
              <a:buNone/>
            </a:pPr>
            <a:r>
              <a:rPr lang="en-US" sz="1000" dirty="0">
                <a:solidFill>
                  <a:srgbClr val="5A5F66"/>
                </a:solidFill>
                <a:latin typeface="Calibri" pitchFamily="34" charset="0"/>
                <a:ea typeface="Calibri" pitchFamily="34" charset="-122"/>
                <a:cs typeface="Calibri" pitchFamily="34" charset="-120"/>
              </a:rPr>
              <a:t>“Teach it our data” → use RAG. FT is behavior only!</a:t>
            </a:r>
            <a:endParaRPr lang="en-US" sz="1000" dirty="0"/>
          </a:p>
        </p:txBody>
      </p:sp>
      <p:sp>
        <p:nvSpPr>
          <p:cNvPr id="28" name="Shape 26"/>
          <p:cNvSpPr/>
          <p:nvPr/>
        </p:nvSpPr>
        <p:spPr>
          <a:xfrm>
            <a:off x="8375904" y="3209544"/>
            <a:ext cx="3611880" cy="841248"/>
          </a:xfrm>
          <a:prstGeom prst="roundRect">
            <a:avLst>
              <a:gd name="adj" fmla="val 9783"/>
            </a:avLst>
          </a:prstGeom>
          <a:solidFill>
            <a:srgbClr val="F4F5F7"/>
          </a:solidFill>
          <a:ln w="12700">
            <a:solidFill>
              <a:srgbClr val="DADDE2"/>
            </a:solidFill>
            <a:prstDash val="solid"/>
          </a:ln>
        </p:spPr>
        <p:txBody>
          <a:bodyPr/>
          <a:lstStyle/>
          <a:p>
            <a:endParaRPr lang="en-US"/>
          </a:p>
        </p:txBody>
      </p:sp>
      <p:sp>
        <p:nvSpPr>
          <p:cNvPr id="29" name="Text 27"/>
          <p:cNvSpPr/>
          <p:nvPr/>
        </p:nvSpPr>
        <p:spPr>
          <a:xfrm>
            <a:off x="8558784" y="3300984"/>
            <a:ext cx="3246120" cy="274320"/>
          </a:xfrm>
          <a:prstGeom prst="rect">
            <a:avLst/>
          </a:prstGeom>
          <a:noFill/>
          <a:ln/>
        </p:spPr>
        <p:txBody>
          <a:bodyPr wrap="square" rtlCol="0" anchor="ctr"/>
          <a:lstStyle/>
          <a:p>
            <a:pPr marL="0" indent="0">
              <a:buNone/>
            </a:pPr>
            <a:r>
              <a:rPr lang="en-US" sz="1150" b="1" dirty="0">
                <a:solidFill>
                  <a:srgbClr val="1A1A1A"/>
                </a:solidFill>
                <a:latin typeface="Calibri" pitchFamily="34" charset="0"/>
                <a:ea typeface="Calibri" pitchFamily="34" charset="-122"/>
                <a:cs typeface="Calibri" pitchFamily="34" charset="-120"/>
              </a:rPr>
              <a:t>❌ Too little data (&lt;20)</a:t>
            </a:r>
            <a:endParaRPr lang="en-US" sz="1150" dirty="0"/>
          </a:p>
        </p:txBody>
      </p:sp>
      <p:sp>
        <p:nvSpPr>
          <p:cNvPr id="30" name="Text 28"/>
          <p:cNvSpPr/>
          <p:nvPr/>
        </p:nvSpPr>
        <p:spPr>
          <a:xfrm>
            <a:off x="8558784" y="3593592"/>
            <a:ext cx="3246120" cy="411480"/>
          </a:xfrm>
          <a:prstGeom prst="rect">
            <a:avLst/>
          </a:prstGeom>
          <a:noFill/>
          <a:ln/>
        </p:spPr>
        <p:txBody>
          <a:bodyPr wrap="square" rtlCol="0" anchor="ctr"/>
          <a:lstStyle/>
          <a:p>
            <a:pPr marL="0" indent="0">
              <a:buNone/>
            </a:pPr>
            <a:r>
              <a:rPr lang="en-US" sz="1000" dirty="0">
                <a:solidFill>
                  <a:srgbClr val="5A5F66"/>
                </a:solidFill>
                <a:latin typeface="Calibri" pitchFamily="34" charset="0"/>
                <a:ea typeface="Calibri" pitchFamily="34" charset="-122"/>
                <a:cs typeface="Calibri" pitchFamily="34" charset="-120"/>
              </a:rPr>
              <a:t>Need 50–500+ quality examples</a:t>
            </a:r>
            <a:endParaRPr lang="en-US" sz="1000" dirty="0"/>
          </a:p>
        </p:txBody>
      </p:sp>
      <p:sp>
        <p:nvSpPr>
          <p:cNvPr id="31" name="Shape 29"/>
          <p:cNvSpPr/>
          <p:nvPr/>
        </p:nvSpPr>
        <p:spPr>
          <a:xfrm>
            <a:off x="8375904" y="4178808"/>
            <a:ext cx="3611880" cy="841248"/>
          </a:xfrm>
          <a:prstGeom prst="roundRect">
            <a:avLst>
              <a:gd name="adj" fmla="val 9783"/>
            </a:avLst>
          </a:prstGeom>
          <a:solidFill>
            <a:srgbClr val="F4F5F7"/>
          </a:solidFill>
          <a:ln w="12700">
            <a:solidFill>
              <a:srgbClr val="DADDE2"/>
            </a:solidFill>
            <a:prstDash val="solid"/>
          </a:ln>
        </p:spPr>
        <p:txBody>
          <a:bodyPr/>
          <a:lstStyle/>
          <a:p>
            <a:endParaRPr lang="en-US"/>
          </a:p>
        </p:txBody>
      </p:sp>
      <p:sp>
        <p:nvSpPr>
          <p:cNvPr id="32" name="Text 30"/>
          <p:cNvSpPr/>
          <p:nvPr/>
        </p:nvSpPr>
        <p:spPr>
          <a:xfrm>
            <a:off x="8558784" y="4270248"/>
            <a:ext cx="3246120" cy="274320"/>
          </a:xfrm>
          <a:prstGeom prst="rect">
            <a:avLst/>
          </a:prstGeom>
          <a:noFill/>
          <a:ln/>
        </p:spPr>
        <p:txBody>
          <a:bodyPr wrap="square" rtlCol="0" anchor="ctr"/>
          <a:lstStyle/>
          <a:p>
            <a:pPr marL="0" indent="0">
              <a:buNone/>
            </a:pPr>
            <a:r>
              <a:rPr lang="en-US" sz="1150" b="1" dirty="0">
                <a:solidFill>
                  <a:srgbClr val="1A1A1A"/>
                </a:solidFill>
                <a:latin typeface="Calibri" pitchFamily="34" charset="0"/>
                <a:ea typeface="Calibri" pitchFamily="34" charset="-122"/>
                <a:cs typeface="Calibri" pitchFamily="34" charset="-120"/>
              </a:rPr>
              <a:t>❌ Skipping prompting first</a:t>
            </a:r>
            <a:endParaRPr lang="en-US" sz="1150" dirty="0"/>
          </a:p>
        </p:txBody>
      </p:sp>
      <p:sp>
        <p:nvSpPr>
          <p:cNvPr id="33" name="Text 31"/>
          <p:cNvSpPr/>
          <p:nvPr/>
        </p:nvSpPr>
        <p:spPr>
          <a:xfrm>
            <a:off x="8558784" y="4562856"/>
            <a:ext cx="3246120" cy="411480"/>
          </a:xfrm>
          <a:prstGeom prst="rect">
            <a:avLst/>
          </a:prstGeom>
          <a:noFill/>
          <a:ln/>
        </p:spPr>
        <p:txBody>
          <a:bodyPr wrap="square" rtlCol="0" anchor="ctr"/>
          <a:lstStyle/>
          <a:p>
            <a:pPr marL="0" indent="0">
              <a:buNone/>
            </a:pPr>
            <a:r>
              <a:rPr lang="en-US" sz="1000" dirty="0">
                <a:solidFill>
                  <a:srgbClr val="5A5F66"/>
                </a:solidFill>
                <a:latin typeface="Calibri" pitchFamily="34" charset="0"/>
                <a:ea typeface="Calibri" pitchFamily="34" charset="-122"/>
                <a:cs typeface="Calibri" pitchFamily="34" charset="-120"/>
              </a:rPr>
              <a:t>Always try prompt + RAG before fine-tuning</a:t>
            </a:r>
            <a:endParaRPr lang="en-US" sz="1000" dirty="0"/>
          </a:p>
        </p:txBody>
      </p:sp>
      <p:sp>
        <p:nvSpPr>
          <p:cNvPr id="34" name="Shape 32"/>
          <p:cNvSpPr/>
          <p:nvPr/>
        </p:nvSpPr>
        <p:spPr>
          <a:xfrm>
            <a:off x="640080" y="5257800"/>
            <a:ext cx="10881360" cy="1188720"/>
          </a:xfrm>
          <a:prstGeom prst="roundRect">
            <a:avLst>
              <a:gd name="adj" fmla="val 6923"/>
            </a:avLst>
          </a:prstGeom>
          <a:solidFill>
            <a:srgbClr val="FCEAEC"/>
          </a:solidFill>
          <a:ln w="12700">
            <a:solidFill>
              <a:srgbClr val="F3C4C8"/>
            </a:solidFill>
            <a:prstDash val="solid"/>
          </a:ln>
        </p:spPr>
        <p:txBody>
          <a:bodyPr/>
          <a:lstStyle/>
          <a:p>
            <a:endParaRPr lang="en-US"/>
          </a:p>
        </p:txBody>
      </p:sp>
      <p:sp>
        <p:nvSpPr>
          <p:cNvPr id="35" name="Text 33"/>
          <p:cNvSpPr/>
          <p:nvPr/>
        </p:nvSpPr>
        <p:spPr>
          <a:xfrm>
            <a:off x="868680" y="5394960"/>
            <a:ext cx="5029200" cy="320040"/>
          </a:xfrm>
          <a:prstGeom prst="rect">
            <a:avLst/>
          </a:prstGeom>
          <a:noFill/>
          <a:ln/>
        </p:spPr>
        <p:txBody>
          <a:bodyPr wrap="square" rtlCol="0" anchor="ctr"/>
          <a:lstStyle/>
          <a:p>
            <a:pPr marL="0" indent="0">
              <a:buNone/>
            </a:pPr>
            <a:r>
              <a:rPr lang="en-US" sz="1300" b="1" dirty="0">
                <a:solidFill>
                  <a:srgbClr val="E30613"/>
                </a:solidFill>
                <a:latin typeface="Calibri" pitchFamily="34" charset="0"/>
                <a:ea typeface="Calibri" pitchFamily="34" charset="-122"/>
                <a:cs typeface="Calibri" pitchFamily="34" charset="-120"/>
              </a:rPr>
              <a:t>❌ The #1 mistake</a:t>
            </a:r>
            <a:endParaRPr lang="en-US" sz="1300" dirty="0"/>
          </a:p>
        </p:txBody>
      </p:sp>
      <p:sp>
        <p:nvSpPr>
          <p:cNvPr id="36" name="Text 34"/>
          <p:cNvSpPr/>
          <p:nvPr/>
        </p:nvSpPr>
        <p:spPr>
          <a:xfrm>
            <a:off x="868680" y="5715000"/>
            <a:ext cx="5943600" cy="640080"/>
          </a:xfrm>
          <a:prstGeom prst="rect">
            <a:avLst/>
          </a:prstGeom>
          <a:noFill/>
          <a:ln/>
        </p:spPr>
        <p:txBody>
          <a:bodyPr wrap="square" rtlCol="0" anchor="ctr"/>
          <a:lstStyle/>
          <a:p>
            <a:pPr marL="0" indent="0">
              <a:buNone/>
            </a:pPr>
            <a:r>
              <a:rPr lang="en-US" sz="1100" dirty="0">
                <a:solidFill>
                  <a:srgbClr val="5A5F66"/>
                </a:solidFill>
                <a:latin typeface="Courier New" pitchFamily="34" charset="0"/>
                <a:ea typeface="Courier New" pitchFamily="34" charset="-122"/>
                <a:cs typeface="Courier New" pitchFamily="34" charset="-120"/>
              </a:rPr>
              <a:t>Manager: “The model doesn't know our lease terms.”   Dev: “Let's fine-tune it on our documents!”</a:t>
            </a:r>
            <a:endParaRPr lang="en-US" sz="1100" dirty="0"/>
          </a:p>
        </p:txBody>
      </p:sp>
      <p:sp>
        <p:nvSpPr>
          <p:cNvPr id="37" name="Text 35"/>
          <p:cNvSpPr/>
          <p:nvPr/>
        </p:nvSpPr>
        <p:spPr>
          <a:xfrm>
            <a:off x="6949440" y="5394960"/>
            <a:ext cx="4572000" cy="320040"/>
          </a:xfrm>
          <a:prstGeom prst="rect">
            <a:avLst/>
          </a:prstGeom>
          <a:noFill/>
          <a:ln/>
        </p:spPr>
        <p:txBody>
          <a:bodyPr wrap="square" rtlCol="0" anchor="ctr"/>
          <a:lstStyle/>
          <a:p>
            <a:pPr marL="0" indent="0">
              <a:buNone/>
            </a:pPr>
            <a:r>
              <a:rPr lang="en-US" sz="1300" b="1" dirty="0">
                <a:solidFill>
                  <a:srgbClr val="059669"/>
                </a:solidFill>
                <a:latin typeface="Calibri" pitchFamily="34" charset="0"/>
                <a:ea typeface="Calibri" pitchFamily="34" charset="-122"/>
                <a:cs typeface="Calibri" pitchFamily="34" charset="-120"/>
              </a:rPr>
              <a:t>✅ The right answer</a:t>
            </a:r>
            <a:endParaRPr lang="en-US" sz="1300" dirty="0"/>
          </a:p>
        </p:txBody>
      </p:sp>
      <p:sp>
        <p:nvSpPr>
          <p:cNvPr id="38" name="Text 36"/>
          <p:cNvSpPr/>
          <p:nvPr/>
        </p:nvSpPr>
        <p:spPr>
          <a:xfrm>
            <a:off x="6949440" y="5715000"/>
            <a:ext cx="4480560" cy="640080"/>
          </a:xfrm>
          <a:prstGeom prst="rect">
            <a:avLst/>
          </a:prstGeom>
          <a:noFill/>
          <a:ln/>
        </p:spPr>
        <p:txBody>
          <a:bodyPr wrap="square" rtlCol="0" anchor="ctr"/>
          <a:lstStyle/>
          <a:p>
            <a:pPr marL="0" indent="0">
              <a:buNone/>
            </a:pPr>
            <a:r>
              <a:rPr lang="en-US" sz="1100" dirty="0">
                <a:solidFill>
                  <a:srgbClr val="5A5F66"/>
                </a:solidFill>
                <a:latin typeface="Calibri" pitchFamily="34" charset="0"/>
                <a:ea typeface="Calibri" pitchFamily="34" charset="-122"/>
                <a:cs typeface="Calibri" pitchFamily="34" charset="-120"/>
              </a:rPr>
              <a:t>This is a KNOWLEDGE problem → use RAG. Fine-tuning teaches STYLE, not CONTENT — HOW to respond, not WHAT to say.</a:t>
            </a:r>
            <a:endParaRPr lang="en-US" sz="1100" dirty="0"/>
          </a:p>
        </p:txBody>
      </p:sp>
      <p:sp>
        <p:nvSpPr>
          <p:cNvPr id="39" name="Text 37"/>
          <p:cNvSpPr/>
          <p:nvPr/>
        </p:nvSpPr>
        <p:spPr>
          <a:xfrm>
            <a:off x="10728655" y="6400800"/>
            <a:ext cx="1097280" cy="274320"/>
          </a:xfrm>
          <a:prstGeom prst="rect">
            <a:avLst/>
          </a:prstGeom>
          <a:noFill/>
          <a:ln/>
        </p:spPr>
        <p:txBody>
          <a:bodyPr wrap="square" rtlCol="0" anchor="ctr"/>
          <a:lstStyle/>
          <a:p>
            <a:pPr marL="0" indent="0" algn="r">
              <a:buNone/>
            </a:pPr>
            <a:r>
              <a:rPr lang="en-US" sz="1000" dirty="0">
                <a:solidFill>
                  <a:srgbClr val="8A9099"/>
                </a:solidFill>
                <a:latin typeface="Courier New" pitchFamily="34" charset="0"/>
                <a:ea typeface="Courier New" pitchFamily="34" charset="-122"/>
                <a:cs typeface="Courier New" pitchFamily="34" charset="-120"/>
              </a:rPr>
              <a:t>13 / 16</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rtlCol="0" anchor="ctr"/>
          <a:lstStyle/>
          <a:p>
            <a:pPr marL="0" indent="0" algn="l">
              <a:buNone/>
            </a:pPr>
            <a:r>
              <a:rPr lang="en-US" sz="1200" b="1" kern="0" spc="300" dirty="0">
                <a:solidFill>
                  <a:srgbClr val="059669"/>
                </a:solidFill>
                <a:latin typeface="Calibri" pitchFamily="34" charset="0"/>
                <a:ea typeface="Calibri" pitchFamily="34" charset="-122"/>
                <a:cs typeface="Calibri" pitchFamily="34" charset="-120"/>
              </a:rPr>
              <a:t>COMBINE</a:t>
            </a:r>
            <a:endParaRPr lang="en-US" sz="1200" dirty="0"/>
          </a:p>
        </p:txBody>
      </p:sp>
      <p:sp>
        <p:nvSpPr>
          <p:cNvPr id="3" name="Text 1"/>
          <p:cNvSpPr/>
          <p:nvPr/>
        </p:nvSpPr>
        <p:spPr>
          <a:xfrm>
            <a:off x="640080" y="777240"/>
            <a:ext cx="10911535" cy="822960"/>
          </a:xfrm>
          <a:prstGeom prst="rect">
            <a:avLst/>
          </a:prstGeom>
          <a:noFill/>
          <a:ln/>
        </p:spPr>
        <p:txBody>
          <a:bodyPr wrap="square" rtlCol="0" anchor="ctr"/>
          <a:lstStyle/>
          <a:p>
            <a:pPr marL="0" indent="0" algn="l">
              <a:buNone/>
            </a:pPr>
            <a:r>
              <a:rPr lang="en-US" sz="3200" b="1" dirty="0">
                <a:solidFill>
                  <a:srgbClr val="1A1A1A"/>
                </a:solidFill>
                <a:latin typeface="Century Schoolbook" pitchFamily="34" charset="0"/>
                <a:ea typeface="Century Schoolbook" pitchFamily="34" charset="-122"/>
                <a:cs typeface="Century Schoolbook" pitchFamily="34" charset="-120"/>
              </a:rPr>
              <a:t>🏗️ Hybrid architecture — all three together</a:t>
            </a:r>
            <a:endParaRPr lang="en-US" sz="3200" dirty="0"/>
          </a:p>
        </p:txBody>
      </p:sp>
      <p:sp>
        <p:nvSpPr>
          <p:cNvPr id="4" name="Text 2"/>
          <p:cNvSpPr/>
          <p:nvPr/>
        </p:nvSpPr>
        <p:spPr>
          <a:xfrm>
            <a:off x="640080" y="1554480"/>
            <a:ext cx="10515600" cy="320040"/>
          </a:xfrm>
          <a:prstGeom prst="rect">
            <a:avLst/>
          </a:prstGeom>
          <a:noFill/>
          <a:ln/>
        </p:spPr>
        <p:txBody>
          <a:bodyPr wrap="square" rtlCol="0" anchor="ctr"/>
          <a:lstStyle/>
          <a:p>
            <a:pPr marL="0" indent="0">
              <a:buNone/>
            </a:pPr>
            <a:r>
              <a:rPr lang="en-US" sz="1200" i="1" dirty="0">
                <a:solidFill>
                  <a:srgbClr val="8A9099"/>
                </a:solidFill>
                <a:latin typeface="Calibri" pitchFamily="34" charset="0"/>
                <a:ea typeface="Calibri" pitchFamily="34" charset="-122"/>
                <a:cs typeface="Calibri" pitchFamily="34" charset="-120"/>
              </a:rPr>
              <a:t>“Most production AI systems combine prompting, RAG, and fine-tuning as complementary layers.”  — Google Whitepaper</a:t>
            </a:r>
            <a:endParaRPr lang="en-US" sz="1200" dirty="0"/>
          </a:p>
        </p:txBody>
      </p:sp>
      <p:sp>
        <p:nvSpPr>
          <p:cNvPr id="5" name="Text 3"/>
          <p:cNvSpPr/>
          <p:nvPr/>
        </p:nvSpPr>
        <p:spPr>
          <a:xfrm>
            <a:off x="640080" y="1965960"/>
            <a:ext cx="5486400" cy="320040"/>
          </a:xfrm>
          <a:prstGeom prst="rect">
            <a:avLst/>
          </a:prstGeom>
          <a:noFill/>
          <a:ln/>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Production flow: JLL Property Assistant</a:t>
            </a:r>
            <a:endParaRPr lang="en-US" sz="1400" dirty="0"/>
          </a:p>
        </p:txBody>
      </p:sp>
      <p:sp>
        <p:nvSpPr>
          <p:cNvPr id="6" name="Shape 4"/>
          <p:cNvSpPr/>
          <p:nvPr/>
        </p:nvSpPr>
        <p:spPr>
          <a:xfrm>
            <a:off x="640080" y="2377440"/>
            <a:ext cx="5486400" cy="713232"/>
          </a:xfrm>
          <a:prstGeom prst="roundRect">
            <a:avLst>
              <a:gd name="adj" fmla="val 11538"/>
            </a:avLst>
          </a:prstGeom>
          <a:solidFill>
            <a:srgbClr val="F4F5F7"/>
          </a:solidFill>
          <a:ln w="12700">
            <a:solidFill>
              <a:srgbClr val="DADDE2"/>
            </a:solidFill>
            <a:prstDash val="solid"/>
          </a:ln>
        </p:spPr>
        <p:txBody>
          <a:bodyPr/>
          <a:lstStyle/>
          <a:p>
            <a:endParaRPr lang="en-US"/>
          </a:p>
        </p:txBody>
      </p:sp>
      <p:sp>
        <p:nvSpPr>
          <p:cNvPr id="7" name="Shape 5"/>
          <p:cNvSpPr/>
          <p:nvPr/>
        </p:nvSpPr>
        <p:spPr>
          <a:xfrm>
            <a:off x="822960" y="2551176"/>
            <a:ext cx="365760" cy="365760"/>
          </a:xfrm>
          <a:prstGeom prst="ellipse">
            <a:avLst/>
          </a:prstGeom>
          <a:solidFill>
            <a:srgbClr val="E30613">
              <a:alpha val="25000"/>
            </a:srgbClr>
          </a:solidFill>
          <a:ln w="12700">
            <a:solidFill>
              <a:srgbClr val="E30613"/>
            </a:solidFill>
            <a:prstDash val="solid"/>
          </a:ln>
        </p:spPr>
        <p:txBody>
          <a:bodyPr/>
          <a:lstStyle/>
          <a:p>
            <a:endParaRPr lang="en-US"/>
          </a:p>
        </p:txBody>
      </p:sp>
      <p:sp>
        <p:nvSpPr>
          <p:cNvPr id="8" name="Text 6"/>
          <p:cNvSpPr/>
          <p:nvPr/>
        </p:nvSpPr>
        <p:spPr>
          <a:xfrm>
            <a:off x="822960" y="2551176"/>
            <a:ext cx="365760" cy="365760"/>
          </a:xfrm>
          <a:prstGeom prst="rect">
            <a:avLst/>
          </a:prstGeom>
          <a:noFill/>
          <a:ln/>
        </p:spPr>
        <p:txBody>
          <a:bodyPr wrap="square" rtlCol="0" anchor="ctr"/>
          <a:lstStyle/>
          <a:p>
            <a:pPr marL="0" indent="0" algn="ctr">
              <a:buNone/>
            </a:pPr>
            <a:r>
              <a:rPr lang="en-US" sz="1300" b="1" dirty="0">
                <a:solidFill>
                  <a:srgbClr val="E30613"/>
                </a:solidFill>
                <a:latin typeface="Courier New" pitchFamily="34" charset="0"/>
                <a:ea typeface="Courier New" pitchFamily="34" charset="-122"/>
                <a:cs typeface="Courier New" pitchFamily="34" charset="-120"/>
              </a:rPr>
              <a:t>Q</a:t>
            </a:r>
            <a:endParaRPr lang="en-US" sz="1300" dirty="0"/>
          </a:p>
        </p:txBody>
      </p:sp>
      <p:sp>
        <p:nvSpPr>
          <p:cNvPr id="9" name="Text 7"/>
          <p:cNvSpPr/>
          <p:nvPr/>
        </p:nvSpPr>
        <p:spPr>
          <a:xfrm>
            <a:off x="1325880" y="2468880"/>
            <a:ext cx="4572000" cy="292608"/>
          </a:xfrm>
          <a:prstGeom prst="rect">
            <a:avLst/>
          </a:prstGeom>
          <a:noFill/>
          <a:ln/>
        </p:spPr>
        <p:txBody>
          <a:bodyPr wrap="square" rtlCol="0" anchor="ctr"/>
          <a:lstStyle/>
          <a:p>
            <a:pPr marL="0" indent="0">
              <a:buNone/>
            </a:pPr>
            <a:r>
              <a:rPr lang="en-US" sz="1250" b="1" dirty="0">
                <a:solidFill>
                  <a:srgbClr val="1A1A1A"/>
                </a:solidFill>
                <a:latin typeface="Calibri" pitchFamily="34" charset="0"/>
                <a:ea typeface="Calibri" pitchFamily="34" charset="-122"/>
                <a:cs typeface="Calibri" pitchFamily="34" charset="-120"/>
              </a:rPr>
              <a:t>User query</a:t>
            </a:r>
            <a:endParaRPr lang="en-US" sz="1250" dirty="0"/>
          </a:p>
        </p:txBody>
      </p:sp>
      <p:sp>
        <p:nvSpPr>
          <p:cNvPr id="10" name="Text 8"/>
          <p:cNvSpPr/>
          <p:nvPr/>
        </p:nvSpPr>
        <p:spPr>
          <a:xfrm>
            <a:off x="1325880" y="2761488"/>
            <a:ext cx="4663440" cy="292608"/>
          </a:xfrm>
          <a:prstGeom prst="rect">
            <a:avLst/>
          </a:prstGeom>
          <a:noFill/>
          <a:ln/>
        </p:spPr>
        <p:txBody>
          <a:bodyPr wrap="square" rtlCol="0" anchor="ctr"/>
          <a:lstStyle/>
          <a:p>
            <a:pPr marL="0" indent="0">
              <a:buNone/>
            </a:pPr>
            <a:r>
              <a:rPr lang="en-US" sz="1000" dirty="0">
                <a:solidFill>
                  <a:srgbClr val="8A9099"/>
                </a:solidFill>
                <a:latin typeface="Calibri" pitchFamily="34" charset="0"/>
                <a:ea typeface="Calibri" pitchFamily="34" charset="-122"/>
                <a:cs typeface="Calibri" pitchFamily="34" charset="-120"/>
              </a:rPr>
              <a:t>“What's the occupancy trend for Tower B?”</a:t>
            </a:r>
            <a:endParaRPr lang="en-US" sz="1000" dirty="0"/>
          </a:p>
        </p:txBody>
      </p:sp>
      <p:sp>
        <p:nvSpPr>
          <p:cNvPr id="11" name="Shape 9"/>
          <p:cNvSpPr/>
          <p:nvPr/>
        </p:nvSpPr>
        <p:spPr>
          <a:xfrm>
            <a:off x="640080" y="3200400"/>
            <a:ext cx="5486400" cy="713232"/>
          </a:xfrm>
          <a:prstGeom prst="roundRect">
            <a:avLst>
              <a:gd name="adj" fmla="val 11538"/>
            </a:avLst>
          </a:prstGeom>
          <a:solidFill>
            <a:srgbClr val="F4F5F7"/>
          </a:solidFill>
          <a:ln w="12700">
            <a:solidFill>
              <a:srgbClr val="DADDE2"/>
            </a:solidFill>
            <a:prstDash val="solid"/>
          </a:ln>
        </p:spPr>
        <p:txBody>
          <a:bodyPr/>
          <a:lstStyle/>
          <a:p>
            <a:endParaRPr lang="en-US"/>
          </a:p>
        </p:txBody>
      </p:sp>
      <p:sp>
        <p:nvSpPr>
          <p:cNvPr id="12" name="Shape 10"/>
          <p:cNvSpPr/>
          <p:nvPr/>
        </p:nvSpPr>
        <p:spPr>
          <a:xfrm>
            <a:off x="822960" y="3374136"/>
            <a:ext cx="365760" cy="365760"/>
          </a:xfrm>
          <a:prstGeom prst="ellipse">
            <a:avLst/>
          </a:prstGeom>
          <a:solidFill>
            <a:srgbClr val="5B21B6">
              <a:alpha val="25000"/>
            </a:srgbClr>
          </a:solidFill>
          <a:ln w="12700">
            <a:solidFill>
              <a:srgbClr val="5B21B6"/>
            </a:solidFill>
            <a:prstDash val="solid"/>
          </a:ln>
        </p:spPr>
        <p:txBody>
          <a:bodyPr/>
          <a:lstStyle/>
          <a:p>
            <a:endParaRPr lang="en-US"/>
          </a:p>
        </p:txBody>
      </p:sp>
      <p:sp>
        <p:nvSpPr>
          <p:cNvPr id="13" name="Text 11"/>
          <p:cNvSpPr/>
          <p:nvPr/>
        </p:nvSpPr>
        <p:spPr>
          <a:xfrm>
            <a:off x="822960" y="3374136"/>
            <a:ext cx="365760" cy="365760"/>
          </a:xfrm>
          <a:prstGeom prst="rect">
            <a:avLst/>
          </a:prstGeom>
          <a:noFill/>
          <a:ln/>
        </p:spPr>
        <p:txBody>
          <a:bodyPr wrap="square" rtlCol="0" anchor="ctr"/>
          <a:lstStyle/>
          <a:p>
            <a:pPr marL="0" indent="0" algn="ctr">
              <a:buNone/>
            </a:pPr>
            <a:r>
              <a:rPr lang="en-US" sz="1300" b="1" dirty="0">
                <a:solidFill>
                  <a:srgbClr val="5B21B6"/>
                </a:solidFill>
                <a:latin typeface="Courier New" pitchFamily="34" charset="0"/>
                <a:ea typeface="Courier New" pitchFamily="34" charset="-122"/>
                <a:cs typeface="Courier New" pitchFamily="34" charset="-120"/>
              </a:rPr>
              <a:t>1</a:t>
            </a:r>
            <a:endParaRPr lang="en-US" sz="1300" dirty="0"/>
          </a:p>
        </p:txBody>
      </p:sp>
      <p:sp>
        <p:nvSpPr>
          <p:cNvPr id="14" name="Text 12"/>
          <p:cNvSpPr/>
          <p:nvPr/>
        </p:nvSpPr>
        <p:spPr>
          <a:xfrm>
            <a:off x="1325880" y="3291840"/>
            <a:ext cx="4572000" cy="292608"/>
          </a:xfrm>
          <a:prstGeom prst="rect">
            <a:avLst/>
          </a:prstGeom>
          <a:noFill/>
          <a:ln/>
        </p:spPr>
        <p:txBody>
          <a:bodyPr wrap="square" rtlCol="0" anchor="ctr"/>
          <a:lstStyle/>
          <a:p>
            <a:pPr marL="0" indent="0">
              <a:buNone/>
            </a:pPr>
            <a:r>
              <a:rPr lang="en-US" sz="1250" b="1" dirty="0">
                <a:solidFill>
                  <a:srgbClr val="1A1A1A"/>
                </a:solidFill>
                <a:latin typeface="Calibri" pitchFamily="34" charset="0"/>
                <a:ea typeface="Calibri" pitchFamily="34" charset="-122"/>
                <a:cs typeface="Calibri" pitchFamily="34" charset="-120"/>
              </a:rPr>
              <a:t>Layer 1 · Prompt</a:t>
            </a:r>
            <a:endParaRPr lang="en-US" sz="1250" dirty="0"/>
          </a:p>
        </p:txBody>
      </p:sp>
      <p:sp>
        <p:nvSpPr>
          <p:cNvPr id="15" name="Text 13"/>
          <p:cNvSpPr/>
          <p:nvPr/>
        </p:nvSpPr>
        <p:spPr>
          <a:xfrm>
            <a:off x="1325880" y="3584448"/>
            <a:ext cx="4663440" cy="292608"/>
          </a:xfrm>
          <a:prstGeom prst="rect">
            <a:avLst/>
          </a:prstGeom>
          <a:noFill/>
          <a:ln/>
        </p:spPr>
        <p:txBody>
          <a:bodyPr wrap="square" rtlCol="0" anchor="ctr"/>
          <a:lstStyle/>
          <a:p>
            <a:pPr marL="0" indent="0">
              <a:buNone/>
            </a:pPr>
            <a:r>
              <a:rPr lang="en-US" sz="1000" dirty="0">
                <a:solidFill>
                  <a:srgbClr val="8A9099"/>
                </a:solidFill>
                <a:latin typeface="Calibri" pitchFamily="34" charset="0"/>
                <a:ea typeface="Calibri" pitchFamily="34" charset="-122"/>
                <a:cs typeface="Calibri" pitchFamily="34" charset="-120"/>
              </a:rPr>
              <a:t>JLL analyst role, JSON schema, no-speculation, CoT</a:t>
            </a:r>
            <a:endParaRPr lang="en-US" sz="1000" dirty="0"/>
          </a:p>
        </p:txBody>
      </p:sp>
      <p:sp>
        <p:nvSpPr>
          <p:cNvPr id="16" name="Shape 14"/>
          <p:cNvSpPr/>
          <p:nvPr/>
        </p:nvSpPr>
        <p:spPr>
          <a:xfrm>
            <a:off x="640080" y="4023360"/>
            <a:ext cx="5486400" cy="713232"/>
          </a:xfrm>
          <a:prstGeom prst="roundRect">
            <a:avLst>
              <a:gd name="adj" fmla="val 11538"/>
            </a:avLst>
          </a:prstGeom>
          <a:solidFill>
            <a:srgbClr val="F4F5F7"/>
          </a:solidFill>
          <a:ln w="12700">
            <a:solidFill>
              <a:srgbClr val="DADDE2"/>
            </a:solidFill>
            <a:prstDash val="solid"/>
          </a:ln>
        </p:spPr>
        <p:txBody>
          <a:bodyPr/>
          <a:lstStyle/>
          <a:p>
            <a:endParaRPr lang="en-US"/>
          </a:p>
        </p:txBody>
      </p:sp>
      <p:sp>
        <p:nvSpPr>
          <p:cNvPr id="17" name="Shape 15"/>
          <p:cNvSpPr/>
          <p:nvPr/>
        </p:nvSpPr>
        <p:spPr>
          <a:xfrm>
            <a:off x="822960" y="4197096"/>
            <a:ext cx="365760" cy="365760"/>
          </a:xfrm>
          <a:prstGeom prst="ellipse">
            <a:avLst/>
          </a:prstGeom>
          <a:solidFill>
            <a:srgbClr val="1D4ED8">
              <a:alpha val="25000"/>
            </a:srgbClr>
          </a:solidFill>
          <a:ln w="12700">
            <a:solidFill>
              <a:srgbClr val="1D4ED8"/>
            </a:solidFill>
            <a:prstDash val="solid"/>
          </a:ln>
        </p:spPr>
        <p:txBody>
          <a:bodyPr/>
          <a:lstStyle/>
          <a:p>
            <a:endParaRPr lang="en-US"/>
          </a:p>
        </p:txBody>
      </p:sp>
      <p:sp>
        <p:nvSpPr>
          <p:cNvPr id="18" name="Text 16"/>
          <p:cNvSpPr/>
          <p:nvPr/>
        </p:nvSpPr>
        <p:spPr>
          <a:xfrm>
            <a:off x="822960" y="4197096"/>
            <a:ext cx="365760" cy="365760"/>
          </a:xfrm>
          <a:prstGeom prst="rect">
            <a:avLst/>
          </a:prstGeom>
          <a:noFill/>
          <a:ln/>
        </p:spPr>
        <p:txBody>
          <a:bodyPr wrap="square" rtlCol="0" anchor="ctr"/>
          <a:lstStyle/>
          <a:p>
            <a:pPr marL="0" indent="0" algn="ctr">
              <a:buNone/>
            </a:pPr>
            <a:r>
              <a:rPr lang="en-US" sz="1300" b="1" dirty="0">
                <a:solidFill>
                  <a:srgbClr val="1D4ED8"/>
                </a:solidFill>
                <a:latin typeface="Courier New" pitchFamily="34" charset="0"/>
                <a:ea typeface="Courier New" pitchFamily="34" charset="-122"/>
                <a:cs typeface="Courier New" pitchFamily="34" charset="-120"/>
              </a:rPr>
              <a:t>2</a:t>
            </a:r>
            <a:endParaRPr lang="en-US" sz="1300" dirty="0"/>
          </a:p>
        </p:txBody>
      </p:sp>
      <p:sp>
        <p:nvSpPr>
          <p:cNvPr id="19" name="Text 17"/>
          <p:cNvSpPr/>
          <p:nvPr/>
        </p:nvSpPr>
        <p:spPr>
          <a:xfrm>
            <a:off x="1325880" y="4114800"/>
            <a:ext cx="4572000" cy="292608"/>
          </a:xfrm>
          <a:prstGeom prst="rect">
            <a:avLst/>
          </a:prstGeom>
          <a:noFill/>
          <a:ln/>
        </p:spPr>
        <p:txBody>
          <a:bodyPr wrap="square" rtlCol="0" anchor="ctr"/>
          <a:lstStyle/>
          <a:p>
            <a:pPr marL="0" indent="0">
              <a:buNone/>
            </a:pPr>
            <a:r>
              <a:rPr lang="en-US" sz="1250" b="1" dirty="0">
                <a:solidFill>
                  <a:srgbClr val="1A1A1A"/>
                </a:solidFill>
                <a:latin typeface="Calibri" pitchFamily="34" charset="0"/>
                <a:ea typeface="Calibri" pitchFamily="34" charset="-122"/>
                <a:cs typeface="Calibri" pitchFamily="34" charset="-120"/>
              </a:rPr>
              <a:t>Layer 2 · RAG</a:t>
            </a:r>
            <a:endParaRPr lang="en-US" sz="1250" dirty="0"/>
          </a:p>
        </p:txBody>
      </p:sp>
      <p:sp>
        <p:nvSpPr>
          <p:cNvPr id="20" name="Text 18"/>
          <p:cNvSpPr/>
          <p:nvPr/>
        </p:nvSpPr>
        <p:spPr>
          <a:xfrm>
            <a:off x="1325880" y="4407408"/>
            <a:ext cx="4663440" cy="292608"/>
          </a:xfrm>
          <a:prstGeom prst="rect">
            <a:avLst/>
          </a:prstGeom>
          <a:noFill/>
          <a:ln/>
        </p:spPr>
        <p:txBody>
          <a:bodyPr wrap="square" rtlCol="0" anchor="ctr"/>
          <a:lstStyle/>
          <a:p>
            <a:pPr marL="0" indent="0">
              <a:buNone/>
            </a:pPr>
            <a:r>
              <a:rPr lang="en-US" sz="1000" dirty="0">
                <a:solidFill>
                  <a:srgbClr val="8A9099"/>
                </a:solidFill>
                <a:latin typeface="Calibri" pitchFamily="34" charset="0"/>
                <a:ea typeface="Calibri" pitchFamily="34" charset="-122"/>
                <a:cs typeface="Calibri" pitchFamily="34" charset="-120"/>
              </a:rPr>
              <a:t>Retrieve lease docs, occupancy, rates → rerank → top 5</a:t>
            </a:r>
            <a:endParaRPr lang="en-US" sz="1000" dirty="0"/>
          </a:p>
        </p:txBody>
      </p:sp>
      <p:sp>
        <p:nvSpPr>
          <p:cNvPr id="21" name="Shape 19"/>
          <p:cNvSpPr/>
          <p:nvPr/>
        </p:nvSpPr>
        <p:spPr>
          <a:xfrm>
            <a:off x="640080" y="4846320"/>
            <a:ext cx="5486400" cy="713232"/>
          </a:xfrm>
          <a:prstGeom prst="roundRect">
            <a:avLst>
              <a:gd name="adj" fmla="val 11538"/>
            </a:avLst>
          </a:prstGeom>
          <a:solidFill>
            <a:srgbClr val="F4F5F7"/>
          </a:solidFill>
          <a:ln w="12700">
            <a:solidFill>
              <a:srgbClr val="DADDE2"/>
            </a:solidFill>
            <a:prstDash val="solid"/>
          </a:ln>
        </p:spPr>
        <p:txBody>
          <a:bodyPr/>
          <a:lstStyle/>
          <a:p>
            <a:endParaRPr lang="en-US"/>
          </a:p>
        </p:txBody>
      </p:sp>
      <p:sp>
        <p:nvSpPr>
          <p:cNvPr id="22" name="Shape 20"/>
          <p:cNvSpPr/>
          <p:nvPr/>
        </p:nvSpPr>
        <p:spPr>
          <a:xfrm>
            <a:off x="822960" y="5020056"/>
            <a:ext cx="365760" cy="365760"/>
          </a:xfrm>
          <a:prstGeom prst="ellipse">
            <a:avLst/>
          </a:prstGeom>
          <a:solidFill>
            <a:srgbClr val="E30613">
              <a:alpha val="25000"/>
            </a:srgbClr>
          </a:solidFill>
          <a:ln w="12700">
            <a:solidFill>
              <a:srgbClr val="E30613"/>
            </a:solidFill>
            <a:prstDash val="solid"/>
          </a:ln>
        </p:spPr>
        <p:txBody>
          <a:bodyPr/>
          <a:lstStyle/>
          <a:p>
            <a:endParaRPr lang="en-US"/>
          </a:p>
        </p:txBody>
      </p:sp>
      <p:sp>
        <p:nvSpPr>
          <p:cNvPr id="23" name="Text 21"/>
          <p:cNvSpPr/>
          <p:nvPr/>
        </p:nvSpPr>
        <p:spPr>
          <a:xfrm>
            <a:off x="822960" y="5020056"/>
            <a:ext cx="365760" cy="365760"/>
          </a:xfrm>
          <a:prstGeom prst="rect">
            <a:avLst/>
          </a:prstGeom>
          <a:noFill/>
          <a:ln/>
        </p:spPr>
        <p:txBody>
          <a:bodyPr wrap="square" rtlCol="0" anchor="ctr"/>
          <a:lstStyle/>
          <a:p>
            <a:pPr marL="0" indent="0" algn="ctr">
              <a:buNone/>
            </a:pPr>
            <a:r>
              <a:rPr lang="en-US" sz="1300" b="1" dirty="0">
                <a:solidFill>
                  <a:srgbClr val="E30613"/>
                </a:solidFill>
                <a:latin typeface="Courier New" pitchFamily="34" charset="0"/>
                <a:ea typeface="Courier New" pitchFamily="34" charset="-122"/>
                <a:cs typeface="Courier New" pitchFamily="34" charset="-120"/>
              </a:rPr>
              <a:t>3</a:t>
            </a:r>
            <a:endParaRPr lang="en-US" sz="1300" dirty="0"/>
          </a:p>
        </p:txBody>
      </p:sp>
      <p:sp>
        <p:nvSpPr>
          <p:cNvPr id="24" name="Text 22"/>
          <p:cNvSpPr/>
          <p:nvPr/>
        </p:nvSpPr>
        <p:spPr>
          <a:xfrm>
            <a:off x="1325880" y="4937760"/>
            <a:ext cx="4572000" cy="292608"/>
          </a:xfrm>
          <a:prstGeom prst="rect">
            <a:avLst/>
          </a:prstGeom>
          <a:noFill/>
          <a:ln/>
        </p:spPr>
        <p:txBody>
          <a:bodyPr wrap="square" rtlCol="0" anchor="ctr"/>
          <a:lstStyle/>
          <a:p>
            <a:pPr marL="0" indent="0">
              <a:buNone/>
            </a:pPr>
            <a:r>
              <a:rPr lang="en-US" sz="1250" b="1" dirty="0">
                <a:solidFill>
                  <a:srgbClr val="1A1A1A"/>
                </a:solidFill>
                <a:latin typeface="Calibri" pitchFamily="34" charset="0"/>
                <a:ea typeface="Calibri" pitchFamily="34" charset="-122"/>
                <a:cs typeface="Calibri" pitchFamily="34" charset="-120"/>
              </a:rPr>
              <a:t>Layer 3 · Fine-Tuned</a:t>
            </a:r>
            <a:endParaRPr lang="en-US" sz="1250" dirty="0"/>
          </a:p>
        </p:txBody>
      </p:sp>
      <p:sp>
        <p:nvSpPr>
          <p:cNvPr id="25" name="Text 23"/>
          <p:cNvSpPr/>
          <p:nvPr/>
        </p:nvSpPr>
        <p:spPr>
          <a:xfrm>
            <a:off x="1325880" y="5230368"/>
            <a:ext cx="4663440" cy="292608"/>
          </a:xfrm>
          <a:prstGeom prst="rect">
            <a:avLst/>
          </a:prstGeom>
          <a:noFill/>
          <a:ln/>
        </p:spPr>
        <p:txBody>
          <a:bodyPr wrap="square" rtlCol="0" anchor="ctr"/>
          <a:lstStyle/>
          <a:p>
            <a:pPr marL="0" indent="0">
              <a:buNone/>
            </a:pPr>
            <a:r>
              <a:rPr lang="en-US" sz="1000" dirty="0">
                <a:solidFill>
                  <a:srgbClr val="8A9099"/>
                </a:solidFill>
                <a:latin typeface="Calibri" pitchFamily="34" charset="0"/>
                <a:ea typeface="Calibri" pitchFamily="34" charset="-122"/>
                <a:cs typeface="Calibri" pitchFamily="34" charset="-120"/>
              </a:rPr>
              <a:t>Claude Haiku → JLL report format, risk scoring, tone</a:t>
            </a:r>
            <a:endParaRPr lang="en-US" sz="1000" dirty="0"/>
          </a:p>
        </p:txBody>
      </p:sp>
      <p:sp>
        <p:nvSpPr>
          <p:cNvPr id="26" name="Shape 24"/>
          <p:cNvSpPr/>
          <p:nvPr/>
        </p:nvSpPr>
        <p:spPr>
          <a:xfrm>
            <a:off x="640080" y="5669280"/>
            <a:ext cx="5486400" cy="713232"/>
          </a:xfrm>
          <a:prstGeom prst="roundRect">
            <a:avLst>
              <a:gd name="adj" fmla="val 11538"/>
            </a:avLst>
          </a:prstGeom>
          <a:solidFill>
            <a:srgbClr val="F4F5F7"/>
          </a:solidFill>
          <a:ln w="12700">
            <a:solidFill>
              <a:srgbClr val="DADDE2"/>
            </a:solidFill>
            <a:prstDash val="solid"/>
          </a:ln>
        </p:spPr>
        <p:txBody>
          <a:bodyPr/>
          <a:lstStyle/>
          <a:p>
            <a:endParaRPr lang="en-US"/>
          </a:p>
        </p:txBody>
      </p:sp>
      <p:sp>
        <p:nvSpPr>
          <p:cNvPr id="27" name="Shape 25"/>
          <p:cNvSpPr/>
          <p:nvPr/>
        </p:nvSpPr>
        <p:spPr>
          <a:xfrm>
            <a:off x="822960" y="5843016"/>
            <a:ext cx="365760" cy="365760"/>
          </a:xfrm>
          <a:prstGeom prst="ellipse">
            <a:avLst/>
          </a:prstGeom>
          <a:solidFill>
            <a:srgbClr val="047857">
              <a:alpha val="25000"/>
            </a:srgbClr>
          </a:solidFill>
          <a:ln w="12700">
            <a:solidFill>
              <a:srgbClr val="047857"/>
            </a:solidFill>
            <a:prstDash val="solid"/>
          </a:ln>
        </p:spPr>
        <p:txBody>
          <a:bodyPr/>
          <a:lstStyle/>
          <a:p>
            <a:endParaRPr lang="en-US"/>
          </a:p>
        </p:txBody>
      </p:sp>
      <p:sp>
        <p:nvSpPr>
          <p:cNvPr id="28" name="Text 26"/>
          <p:cNvSpPr/>
          <p:nvPr/>
        </p:nvSpPr>
        <p:spPr>
          <a:xfrm>
            <a:off x="822960" y="5843016"/>
            <a:ext cx="365760" cy="365760"/>
          </a:xfrm>
          <a:prstGeom prst="rect">
            <a:avLst/>
          </a:prstGeom>
          <a:noFill/>
          <a:ln/>
        </p:spPr>
        <p:txBody>
          <a:bodyPr wrap="square" rtlCol="0" anchor="ctr"/>
          <a:lstStyle/>
          <a:p>
            <a:pPr marL="0" indent="0" algn="ctr">
              <a:buNone/>
            </a:pPr>
            <a:r>
              <a:rPr lang="en-US" sz="1300" b="1" dirty="0">
                <a:solidFill>
                  <a:srgbClr val="047857"/>
                </a:solidFill>
                <a:latin typeface="Courier New" pitchFamily="34" charset="0"/>
                <a:ea typeface="Courier New" pitchFamily="34" charset="-122"/>
                <a:cs typeface="Courier New" pitchFamily="34" charset="-120"/>
              </a:rPr>
              <a:t>✓</a:t>
            </a:r>
            <a:endParaRPr lang="en-US" sz="1300" dirty="0"/>
          </a:p>
        </p:txBody>
      </p:sp>
      <p:sp>
        <p:nvSpPr>
          <p:cNvPr id="29" name="Text 27"/>
          <p:cNvSpPr/>
          <p:nvPr/>
        </p:nvSpPr>
        <p:spPr>
          <a:xfrm>
            <a:off x="1325880" y="5760720"/>
            <a:ext cx="4572000" cy="292608"/>
          </a:xfrm>
          <a:prstGeom prst="rect">
            <a:avLst/>
          </a:prstGeom>
          <a:noFill/>
          <a:ln/>
        </p:spPr>
        <p:txBody>
          <a:bodyPr wrap="square" rtlCol="0" anchor="ctr"/>
          <a:lstStyle/>
          <a:p>
            <a:pPr marL="0" indent="0">
              <a:buNone/>
            </a:pPr>
            <a:r>
              <a:rPr lang="en-US" sz="1250" b="1" dirty="0">
                <a:solidFill>
                  <a:srgbClr val="1A1A1A"/>
                </a:solidFill>
                <a:latin typeface="Calibri" pitchFamily="34" charset="0"/>
                <a:ea typeface="Calibri" pitchFamily="34" charset="-122"/>
                <a:cs typeface="Calibri" pitchFamily="34" charset="-120"/>
              </a:rPr>
              <a:t>Grounded output</a:t>
            </a:r>
            <a:endParaRPr lang="en-US" sz="1250" dirty="0"/>
          </a:p>
        </p:txBody>
      </p:sp>
      <p:sp>
        <p:nvSpPr>
          <p:cNvPr id="30" name="Text 28"/>
          <p:cNvSpPr/>
          <p:nvPr/>
        </p:nvSpPr>
        <p:spPr>
          <a:xfrm>
            <a:off x="1325880" y="6053328"/>
            <a:ext cx="4663440" cy="292608"/>
          </a:xfrm>
          <a:prstGeom prst="rect">
            <a:avLst/>
          </a:prstGeom>
          <a:noFill/>
          <a:ln/>
        </p:spPr>
        <p:txBody>
          <a:bodyPr wrap="square" rtlCol="0" anchor="ctr"/>
          <a:lstStyle/>
          <a:p>
            <a:pPr marL="0" indent="0">
              <a:buNone/>
            </a:pPr>
            <a:r>
              <a:rPr lang="en-US" sz="1000" dirty="0">
                <a:solidFill>
                  <a:srgbClr val="8A9099"/>
                </a:solidFill>
                <a:latin typeface="Calibri" pitchFamily="34" charset="0"/>
                <a:ea typeface="Calibri" pitchFamily="34" charset="-122"/>
                <a:cs typeface="Calibri" pitchFamily="34" charset="-120"/>
              </a:rPr>
              <a:t>{ recommendation: RENEGOTIATE, risk_score: 7.2 }</a:t>
            </a:r>
            <a:endParaRPr lang="en-US" sz="1000" dirty="0"/>
          </a:p>
        </p:txBody>
      </p:sp>
      <p:sp>
        <p:nvSpPr>
          <p:cNvPr id="31" name="Text 29"/>
          <p:cNvSpPr/>
          <p:nvPr/>
        </p:nvSpPr>
        <p:spPr>
          <a:xfrm>
            <a:off x="6400800" y="1965960"/>
            <a:ext cx="5120640" cy="320040"/>
          </a:xfrm>
          <a:prstGeom prst="rect">
            <a:avLst/>
          </a:prstGeom>
          <a:noFill/>
          <a:ln/>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What each layer adds</a:t>
            </a:r>
            <a:endParaRPr lang="en-US" sz="14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400800" y="2377440"/>
          <a:ext cx="5120640" cy="1828800"/>
        </p:xfrm>
        <a:graphic>
          <a:graphicData uri="http://schemas.openxmlformats.org/drawingml/2006/table">
            <a:tbl>
              <a:tblPr/>
              <a:tblGrid>
                <a:gridCol w="13716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457200">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Layer</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E30613"/>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Role</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E30613"/>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Without it</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E30613"/>
                    </a:solidFill>
                  </a:tcPr>
                </a:tc>
                <a:extLst>
                  <a:ext uri="{0D108BD9-81ED-4DB2-BD59-A6C34878D82A}">
                    <a16:rowId xmlns:a16="http://schemas.microsoft.com/office/drawing/2014/main" val="10000"/>
                  </a:ext>
                </a:extLst>
              </a:tr>
              <a:tr h="457200">
                <a:tc>
                  <a:txBody>
                    <a:bodyPr/>
                    <a:lstStyle/>
                    <a:p>
                      <a:pPr marL="0" indent="0" algn="l">
                        <a:buNone/>
                      </a:pPr>
                      <a:r>
                        <a:rPr lang="en-US" sz="1050" b="1" dirty="0">
                          <a:solidFill>
                            <a:srgbClr val="1A1A1A"/>
                          </a:solidFill>
                          <a:latin typeface="Calibri" pitchFamily="34" charset="0"/>
                          <a:ea typeface="Calibri" pitchFamily="34" charset="-122"/>
                          <a:cs typeface="Calibri" pitchFamily="34" charset="-120"/>
                        </a:rPr>
                        <a:t>🎯 Prompt</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Reasoning flow, constraints</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Inconsistent responses</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050" b="1" dirty="0">
                          <a:solidFill>
                            <a:srgbClr val="1A1A1A"/>
                          </a:solidFill>
                          <a:latin typeface="Calibri" pitchFamily="34" charset="0"/>
                          <a:ea typeface="Calibri" pitchFamily="34" charset="-122"/>
                          <a:cs typeface="Calibri" pitchFamily="34" charset="-120"/>
                        </a:rPr>
                        <a:t>📚 RAG</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Real-time data injection</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Hallucinated facts</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extLst>
                  <a:ext uri="{0D108BD9-81ED-4DB2-BD59-A6C34878D82A}">
                    <a16:rowId xmlns:a16="http://schemas.microsoft.com/office/drawing/2014/main" val="10002"/>
                  </a:ext>
                </a:extLst>
              </a:tr>
              <a:tr h="457200">
                <a:tc>
                  <a:txBody>
                    <a:bodyPr/>
                    <a:lstStyle/>
                    <a:p>
                      <a:pPr marL="0" indent="0" algn="l">
                        <a:buNone/>
                      </a:pPr>
                      <a:r>
                        <a:rPr lang="en-US" sz="1050" b="1" dirty="0">
                          <a:solidFill>
                            <a:srgbClr val="1A1A1A"/>
                          </a:solidFill>
                          <a:latin typeface="Calibri" pitchFamily="34" charset="0"/>
                          <a:ea typeface="Calibri" pitchFamily="34" charset="-122"/>
                          <a:cs typeface="Calibri" pitchFamily="34" charset="-120"/>
                        </a:rPr>
                        <a:t>🔧 Fine-Tune</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Brand voice, strict schema</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5A5F66"/>
                          </a:solidFill>
                          <a:latin typeface="Calibri" pitchFamily="34" charset="0"/>
                          <a:ea typeface="Calibri" pitchFamily="34" charset="-122"/>
                          <a:cs typeface="Calibri" pitchFamily="34" charset="-120"/>
                        </a:rPr>
                        <a:t>Complex prompts needed</a:t>
                      </a:r>
                      <a:endParaRPr lang="en-US" sz="10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33" name="Text 30"/>
          <p:cNvSpPr/>
          <p:nvPr/>
        </p:nvSpPr>
        <p:spPr>
          <a:xfrm>
            <a:off x="6400800" y="4343400"/>
            <a:ext cx="4572000" cy="320040"/>
          </a:xfrm>
          <a:prstGeom prst="rect">
            <a:avLst/>
          </a:prstGeom>
          <a:noFill/>
          <a:ln/>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Hybrid pipeline</a:t>
            </a:r>
            <a:endParaRPr lang="en-US" sz="1400" dirty="0"/>
          </a:p>
        </p:txBody>
      </p:sp>
      <p:sp>
        <p:nvSpPr>
          <p:cNvPr id="34" name="Shape 31"/>
          <p:cNvSpPr/>
          <p:nvPr/>
        </p:nvSpPr>
        <p:spPr>
          <a:xfrm>
            <a:off x="6400800" y="4709160"/>
            <a:ext cx="5120640" cy="1691640"/>
          </a:xfrm>
          <a:prstGeom prst="roundRect">
            <a:avLst>
              <a:gd name="adj" fmla="val 3243"/>
            </a:avLst>
          </a:prstGeom>
          <a:solidFill>
            <a:srgbClr val="1E2230"/>
          </a:solidFill>
          <a:ln w="12700">
            <a:solidFill>
              <a:srgbClr val="2E3446"/>
            </a:solidFill>
            <a:prstDash val="solid"/>
          </a:ln>
        </p:spPr>
        <p:txBody>
          <a:bodyPr/>
          <a:lstStyle/>
          <a:p>
            <a:endParaRPr lang="en-US"/>
          </a:p>
        </p:txBody>
      </p:sp>
      <p:sp>
        <p:nvSpPr>
          <p:cNvPr id="35" name="Text 32"/>
          <p:cNvSpPr/>
          <p:nvPr/>
        </p:nvSpPr>
        <p:spPr>
          <a:xfrm>
            <a:off x="10241280" y="4764024"/>
            <a:ext cx="1188720" cy="219456"/>
          </a:xfrm>
          <a:prstGeom prst="rect">
            <a:avLst/>
          </a:prstGeom>
          <a:noFill/>
          <a:ln/>
        </p:spPr>
        <p:txBody>
          <a:bodyPr wrap="square" rtlCol="0" anchor="ctr"/>
          <a:lstStyle/>
          <a:p>
            <a:pPr marL="0" indent="0" algn="r">
              <a:buNone/>
            </a:pPr>
            <a:r>
              <a:rPr lang="en-US" sz="800" b="1" kern="0" spc="100" dirty="0">
                <a:solidFill>
                  <a:srgbClr val="9AA2B5"/>
                </a:solidFill>
                <a:latin typeface="Courier New" pitchFamily="34" charset="0"/>
                <a:ea typeface="Courier New" pitchFamily="34" charset="-122"/>
                <a:cs typeface="Courier New" pitchFamily="34" charset="-120"/>
              </a:rPr>
              <a:t>PYTHON</a:t>
            </a:r>
            <a:endParaRPr lang="en-US" sz="800" dirty="0"/>
          </a:p>
        </p:txBody>
      </p:sp>
      <p:sp>
        <p:nvSpPr>
          <p:cNvPr id="36" name="Text 33"/>
          <p:cNvSpPr/>
          <p:nvPr/>
        </p:nvSpPr>
        <p:spPr>
          <a:xfrm>
            <a:off x="6565392" y="4837176"/>
            <a:ext cx="4791456" cy="1435608"/>
          </a:xfrm>
          <a:prstGeom prst="rect">
            <a:avLst/>
          </a:prstGeom>
          <a:noFill/>
          <a:ln/>
        </p:spPr>
        <p:txBody>
          <a:bodyPr wrap="square" rtlCol="0" anchor="t"/>
          <a:lstStyle/>
          <a:p>
            <a:pPr marL="0" indent="0" algn="l">
              <a:lnSpc>
                <a:spcPct val="115000"/>
              </a:lnSpc>
              <a:buNone/>
            </a:pPr>
            <a:r>
              <a:rPr lang="en-US" sz="950" dirty="0">
                <a:solidFill>
                  <a:srgbClr val="D2A8FF"/>
                </a:solidFill>
                <a:latin typeface="Courier New" pitchFamily="34" charset="0"/>
                <a:ea typeface="Courier New" pitchFamily="34" charset="-122"/>
                <a:cs typeface="Courier New" pitchFamily="34" charset="-120"/>
              </a:rPr>
              <a:t>def hybrid_pipeline(query):
</a:t>
            </a:r>
            <a:r>
              <a:rPr lang="en-US" sz="950" dirty="0">
                <a:solidFill>
                  <a:srgbClr val="C9D1D9"/>
                </a:solidFill>
                <a:latin typeface="Courier New" pitchFamily="34" charset="0"/>
                <a:ea typeface="Courier New" pitchFamily="34" charset="-122"/>
                <a:cs typeface="Courier New" pitchFamily="34" charset="-120"/>
              </a:rPr>
              <a:t>  ctx = retrieve_context(query, n=5)   </a:t>
            </a:r>
            <a:r>
              <a:rPr lang="en-US" sz="950" dirty="0">
                <a:solidFill>
                  <a:srgbClr val="8B949E"/>
                </a:solidFill>
                <a:latin typeface="Courier New" pitchFamily="34" charset="0"/>
                <a:ea typeface="Courier New" pitchFamily="34" charset="-122"/>
                <a:cs typeface="Courier New" pitchFamily="34" charset="-120"/>
              </a:rPr>
              <a:t># RAG
</a:t>
            </a:r>
            <a:r>
              <a:rPr lang="en-US" sz="950" dirty="0">
                <a:solidFill>
                  <a:srgbClr val="A5D6FF"/>
                </a:solidFill>
                <a:latin typeface="Courier New" pitchFamily="34" charset="0"/>
                <a:ea typeface="Courier New" pitchFamily="34" charset="-122"/>
                <a:cs typeface="Courier New" pitchFamily="34" charset="-120"/>
              </a:rPr>
              <a:t>  system = "JLL analyst. JSON: rec,
    risk_score(1-10). Do NOT speculate."  </a:t>
            </a:r>
            <a:r>
              <a:rPr lang="en-US" sz="950" dirty="0">
                <a:solidFill>
                  <a:srgbClr val="8B949E"/>
                </a:solidFill>
                <a:latin typeface="Courier New" pitchFamily="34" charset="0"/>
                <a:ea typeface="Courier New" pitchFamily="34" charset="-122"/>
                <a:cs typeface="Courier New" pitchFamily="34" charset="-120"/>
              </a:rPr>
              <a:t># prompt
</a:t>
            </a:r>
            <a:r>
              <a:rPr lang="en-US" sz="950" dirty="0">
                <a:solidFill>
                  <a:srgbClr val="C9D1D9"/>
                </a:solidFill>
                <a:latin typeface="Courier New" pitchFamily="34" charset="0"/>
                <a:ea typeface="Courier New" pitchFamily="34" charset="-122"/>
                <a:cs typeface="Courier New" pitchFamily="34" charset="-120"/>
              </a:rPr>
              <a:t>  return ft_model.create(system, ctx,
     query)                          </a:t>
            </a:r>
            <a:r>
              <a:rPr lang="en-US" sz="950" dirty="0">
                <a:solidFill>
                  <a:srgbClr val="8B949E"/>
                </a:solidFill>
                <a:latin typeface="Courier New" pitchFamily="34" charset="0"/>
                <a:ea typeface="Courier New" pitchFamily="34" charset="-122"/>
                <a:cs typeface="Courier New" pitchFamily="34" charset="-120"/>
              </a:rPr>
              <a:t># fine-tuned</a:t>
            </a:r>
            <a:endParaRPr lang="en-US" sz="950" dirty="0"/>
          </a:p>
        </p:txBody>
      </p:sp>
      <p:sp>
        <p:nvSpPr>
          <p:cNvPr id="37" name="Text 34"/>
          <p:cNvSpPr/>
          <p:nvPr/>
        </p:nvSpPr>
        <p:spPr>
          <a:xfrm>
            <a:off x="10728655" y="6400800"/>
            <a:ext cx="1097280" cy="274320"/>
          </a:xfrm>
          <a:prstGeom prst="rect">
            <a:avLst/>
          </a:prstGeom>
          <a:noFill/>
          <a:ln/>
        </p:spPr>
        <p:txBody>
          <a:bodyPr wrap="square" rtlCol="0" anchor="ctr"/>
          <a:lstStyle/>
          <a:p>
            <a:pPr marL="0" indent="0" algn="r">
              <a:buNone/>
            </a:pPr>
            <a:r>
              <a:rPr lang="en-US" sz="1000" dirty="0">
                <a:solidFill>
                  <a:srgbClr val="8A9099"/>
                </a:solidFill>
                <a:latin typeface="Courier New" pitchFamily="34" charset="0"/>
                <a:ea typeface="Courier New" pitchFamily="34" charset="-122"/>
                <a:cs typeface="Courier New" pitchFamily="34" charset="-120"/>
              </a:rPr>
              <a:t>14 / 16</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rtlCol="0" anchor="ctr"/>
          <a:lstStyle/>
          <a:p>
            <a:pPr marL="0" indent="0" algn="l">
              <a:buNone/>
            </a:pPr>
            <a:r>
              <a:rPr lang="en-US" sz="1200" b="1" kern="0" spc="300" dirty="0">
                <a:solidFill>
                  <a:srgbClr val="059669"/>
                </a:solidFill>
                <a:latin typeface="Calibri" pitchFamily="34" charset="0"/>
                <a:ea typeface="Calibri" pitchFamily="34" charset="-122"/>
                <a:cs typeface="Calibri" pitchFamily="34" charset="-120"/>
              </a:rPr>
              <a:t>TAKE-AWAY</a:t>
            </a:r>
            <a:endParaRPr lang="en-US" sz="1200" dirty="0"/>
          </a:p>
        </p:txBody>
      </p:sp>
      <p:sp>
        <p:nvSpPr>
          <p:cNvPr id="3" name="Text 1"/>
          <p:cNvSpPr/>
          <p:nvPr/>
        </p:nvSpPr>
        <p:spPr>
          <a:xfrm>
            <a:off x="640080" y="777240"/>
            <a:ext cx="10911535" cy="822960"/>
          </a:xfrm>
          <a:prstGeom prst="rect">
            <a:avLst/>
          </a:prstGeom>
          <a:noFill/>
          <a:ln/>
        </p:spPr>
        <p:txBody>
          <a:bodyPr wrap="square" rtlCol="0" anchor="ctr"/>
          <a:lstStyle/>
          <a:p>
            <a:pPr marL="0" indent="0" algn="l">
              <a:buNone/>
            </a:pPr>
            <a:r>
              <a:rPr lang="en-US" sz="3200" b="1" dirty="0">
                <a:solidFill>
                  <a:srgbClr val="1A1A1A"/>
                </a:solidFill>
                <a:latin typeface="Century Schoolbook" pitchFamily="34" charset="0"/>
                <a:ea typeface="Century Schoolbook" pitchFamily="34" charset="-122"/>
                <a:cs typeface="Century Schoolbook" pitchFamily="34" charset="-120"/>
              </a:rPr>
              <a:t>📋 Cheat sheet &amp; quick reference</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7498080" cy="2962656"/>
        </p:xfrm>
        <a:graphic>
          <a:graphicData uri="http://schemas.openxmlformats.org/drawingml/2006/table">
            <a:tbl>
              <a:tblPr/>
              <a:tblGrid>
                <a:gridCol w="20116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329184">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When you need…</a:t>
                      </a:r>
                      <a:endParaRPr lang="en-US" sz="9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E30613"/>
                    </a:solidFill>
                  </a:tcPr>
                </a:tc>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 Use this</a:t>
                      </a:r>
                      <a:endParaRPr lang="en-US" sz="9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E30613"/>
                    </a:solidFill>
                  </a:tcPr>
                </a:tc>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 Not this</a:t>
                      </a:r>
                      <a:endParaRPr lang="en-US" sz="9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E30613"/>
                    </a:solidFill>
                  </a:tcPr>
                </a:tc>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First step</a:t>
                      </a:r>
                      <a:endParaRPr lang="en-US" sz="95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E30613"/>
                    </a:solidFill>
                  </a:tcPr>
                </a:tc>
                <a:extLst>
                  <a:ext uri="{0D108BD9-81ED-4DB2-BD59-A6C34878D82A}">
                    <a16:rowId xmlns:a16="http://schemas.microsoft.com/office/drawing/2014/main" val="10000"/>
                  </a:ext>
                </a:extLst>
              </a:tr>
              <a:tr h="329184">
                <a:tc>
                  <a:txBody>
                    <a:bodyPr/>
                    <a:lstStyle/>
                    <a:p>
                      <a:pPr marL="0" indent="0" algn="l">
                        <a:buNone/>
                      </a:pPr>
                      <a:r>
                        <a:rPr lang="en-US" sz="1000" b="1" dirty="0">
                          <a:solidFill>
                            <a:srgbClr val="1A1A1A"/>
                          </a:solidFill>
                          <a:latin typeface="Calibri" pitchFamily="34" charset="0"/>
                          <a:ea typeface="Calibri" pitchFamily="34" charset="-122"/>
                          <a:cs typeface="Calibri" pitchFamily="34" charset="-120"/>
                        </a:rPr>
                        <a:t>Know company data</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A5F66"/>
                          </a:solidFill>
                          <a:latin typeface="Calibri" pitchFamily="34" charset="0"/>
                          <a:ea typeface="Calibri" pitchFamily="34" charset="-122"/>
                          <a:cs typeface="Calibri" pitchFamily="34" charset="-120"/>
                        </a:rPr>
                        <a:t>📚 RAG</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A5F66"/>
                          </a:solidFill>
                          <a:latin typeface="Calibri" pitchFamily="34" charset="0"/>
                          <a:ea typeface="Calibri" pitchFamily="34" charset="-122"/>
                          <a:cs typeface="Calibri" pitchFamily="34" charset="-120"/>
                        </a:rPr>
                        <a:t>Fine-tuning</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A5F66"/>
                          </a:solidFill>
                          <a:latin typeface="Calibri" pitchFamily="34" charset="0"/>
                          <a:ea typeface="Calibri" pitchFamily="34" charset="-122"/>
                          <a:cs typeface="Calibri" pitchFamily="34" charset="-120"/>
                        </a:rPr>
                        <a:t>Set up ChromaDB + embeddings</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1000" b="1" dirty="0">
                          <a:solidFill>
                            <a:srgbClr val="1A1A1A"/>
                          </a:solidFill>
                          <a:latin typeface="Calibri" pitchFamily="34" charset="0"/>
                          <a:ea typeface="Calibri" pitchFamily="34" charset="-122"/>
                          <a:cs typeface="Calibri" pitchFamily="34" charset="-120"/>
                        </a:rPr>
                        <a:t>Follow a format</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00" dirty="0">
                          <a:solidFill>
                            <a:srgbClr val="5A5F66"/>
                          </a:solidFill>
                          <a:latin typeface="Calibri" pitchFamily="34" charset="0"/>
                          <a:ea typeface="Calibri" pitchFamily="34" charset="-122"/>
                          <a:cs typeface="Calibri" pitchFamily="34" charset="-120"/>
                        </a:rPr>
                        <a:t>🎯 Prompting</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00" dirty="0">
                          <a:solidFill>
                            <a:srgbClr val="5A5F66"/>
                          </a:solidFill>
                          <a:latin typeface="Calibri" pitchFamily="34" charset="0"/>
                          <a:ea typeface="Calibri" pitchFamily="34" charset="-122"/>
                          <a:cs typeface="Calibri" pitchFamily="34" charset="-120"/>
                        </a:rPr>
                        <a:t>Fine-tuning</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00" dirty="0">
                          <a:solidFill>
                            <a:srgbClr val="5A5F66"/>
                          </a:solidFill>
                          <a:latin typeface="Calibri" pitchFamily="34" charset="0"/>
                          <a:ea typeface="Calibri" pitchFamily="34" charset="-122"/>
                          <a:cs typeface="Calibri" pitchFamily="34" charset="-120"/>
                        </a:rPr>
                        <a:t>Few-shot examples in prompt</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extLst>
                  <a:ext uri="{0D108BD9-81ED-4DB2-BD59-A6C34878D82A}">
                    <a16:rowId xmlns:a16="http://schemas.microsoft.com/office/drawing/2014/main" val="10002"/>
                  </a:ext>
                </a:extLst>
              </a:tr>
              <a:tr h="329184">
                <a:tc>
                  <a:txBody>
                    <a:bodyPr/>
                    <a:lstStyle/>
                    <a:p>
                      <a:pPr marL="0" indent="0" algn="l">
                        <a:buNone/>
                      </a:pPr>
                      <a:r>
                        <a:rPr lang="en-US" sz="1000" b="1" dirty="0">
                          <a:solidFill>
                            <a:srgbClr val="1A1A1A"/>
                          </a:solidFill>
                          <a:latin typeface="Calibri" pitchFamily="34" charset="0"/>
                          <a:ea typeface="Calibri" pitchFamily="34" charset="-122"/>
                          <a:cs typeface="Calibri" pitchFamily="34" charset="-120"/>
                        </a:rPr>
                        <a:t>Reason step by step</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A5F66"/>
                          </a:solidFill>
                          <a:latin typeface="Calibri" pitchFamily="34" charset="0"/>
                          <a:ea typeface="Calibri" pitchFamily="34" charset="-122"/>
                          <a:cs typeface="Calibri" pitchFamily="34" charset="-120"/>
                        </a:rPr>
                        <a:t>🎯 CoT prompting</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A5F66"/>
                          </a:solidFill>
                          <a:latin typeface="Calibri" pitchFamily="34" charset="0"/>
                          <a:ea typeface="Calibri" pitchFamily="34" charset="-122"/>
                          <a:cs typeface="Calibri" pitchFamily="34" charset="-120"/>
                        </a:rPr>
                        <a:t>RAG</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A5F66"/>
                          </a:solidFill>
                          <a:latin typeface="Calibri" pitchFamily="34" charset="0"/>
                          <a:ea typeface="Calibri" pitchFamily="34" charset="-122"/>
                          <a:cs typeface="Calibri" pitchFamily="34" charset="-120"/>
                        </a:rPr>
                        <a:t>Add “Think step by step”</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lang="en-US" sz="1000" b="1" dirty="0">
                          <a:solidFill>
                            <a:srgbClr val="1A1A1A"/>
                          </a:solidFill>
                          <a:latin typeface="Calibri" pitchFamily="34" charset="0"/>
                          <a:ea typeface="Calibri" pitchFamily="34" charset="-122"/>
                          <a:cs typeface="Calibri" pitchFamily="34" charset="-120"/>
                        </a:rPr>
                        <a:t>Sound like your brand</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00" dirty="0">
                          <a:solidFill>
                            <a:srgbClr val="5A5F66"/>
                          </a:solidFill>
                          <a:latin typeface="Calibri" pitchFamily="34" charset="0"/>
                          <a:ea typeface="Calibri" pitchFamily="34" charset="-122"/>
                          <a:cs typeface="Calibri" pitchFamily="34" charset="-120"/>
                        </a:rPr>
                        <a:t>🔧 Fine-tune</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00" dirty="0">
                          <a:solidFill>
                            <a:srgbClr val="5A5F66"/>
                          </a:solidFill>
                          <a:latin typeface="Calibri" pitchFamily="34" charset="0"/>
                          <a:ea typeface="Calibri" pitchFamily="34" charset="-122"/>
                          <a:cs typeface="Calibri" pitchFamily="34" charset="-120"/>
                        </a:rPr>
                        <a:t>Prompting alone</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00" dirty="0">
                          <a:solidFill>
                            <a:srgbClr val="5A5F66"/>
                          </a:solidFill>
                          <a:latin typeface="Calibri" pitchFamily="34" charset="0"/>
                          <a:ea typeface="Calibri" pitchFamily="34" charset="-122"/>
                          <a:cs typeface="Calibri" pitchFamily="34" charset="-120"/>
                        </a:rPr>
                        <a:t>Curate 100+ examples</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extLst>
                  <a:ext uri="{0D108BD9-81ED-4DB2-BD59-A6C34878D82A}">
                    <a16:rowId xmlns:a16="http://schemas.microsoft.com/office/drawing/2014/main" val="10004"/>
                  </a:ext>
                </a:extLst>
              </a:tr>
              <a:tr h="329184">
                <a:tc>
                  <a:txBody>
                    <a:bodyPr/>
                    <a:lstStyle/>
                    <a:p>
                      <a:pPr marL="0" indent="0" algn="l">
                        <a:buNone/>
                      </a:pPr>
                      <a:r>
                        <a:rPr lang="en-US" sz="1000" b="1" dirty="0">
                          <a:solidFill>
                            <a:srgbClr val="1A1A1A"/>
                          </a:solidFill>
                          <a:latin typeface="Calibri" pitchFamily="34" charset="0"/>
                          <a:ea typeface="Calibri" pitchFamily="34" charset="-122"/>
                          <a:cs typeface="Calibri" pitchFamily="34" charset="-120"/>
                        </a:rPr>
                        <a:t>Use live data</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A5F66"/>
                          </a:solidFill>
                          <a:latin typeface="Calibri" pitchFamily="34" charset="0"/>
                          <a:ea typeface="Calibri" pitchFamily="34" charset="-122"/>
                          <a:cs typeface="Calibri" pitchFamily="34" charset="-120"/>
                        </a:rPr>
                        <a:t>📚 RAG</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A5F66"/>
                          </a:solidFill>
                          <a:latin typeface="Calibri" pitchFamily="34" charset="0"/>
                          <a:ea typeface="Calibri" pitchFamily="34" charset="-122"/>
                          <a:cs typeface="Calibri" pitchFamily="34" charset="-120"/>
                        </a:rPr>
                        <a:t>Fine-tuning</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A5F66"/>
                          </a:solidFill>
                          <a:latin typeface="Calibri" pitchFamily="34" charset="0"/>
                          <a:ea typeface="Calibri" pitchFamily="34" charset="-122"/>
                          <a:cs typeface="Calibri" pitchFamily="34" charset="-120"/>
                        </a:rPr>
                        <a:t>Build retrieval pipeline</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lgn="l">
                        <a:buNone/>
                      </a:pPr>
                      <a:r>
                        <a:rPr lang="en-US" sz="1000" b="1" dirty="0">
                          <a:solidFill>
                            <a:srgbClr val="1A1A1A"/>
                          </a:solidFill>
                          <a:latin typeface="Calibri" pitchFamily="34" charset="0"/>
                          <a:ea typeface="Calibri" pitchFamily="34" charset="-122"/>
                          <a:cs typeface="Calibri" pitchFamily="34" charset="-120"/>
                        </a:rPr>
                        <a:t>Classify at scale</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00" dirty="0">
                          <a:solidFill>
                            <a:srgbClr val="5A5F66"/>
                          </a:solidFill>
                          <a:latin typeface="Calibri" pitchFamily="34" charset="0"/>
                          <a:ea typeface="Calibri" pitchFamily="34" charset="-122"/>
                          <a:cs typeface="Calibri" pitchFamily="34" charset="-120"/>
                        </a:rPr>
                        <a:t>🔧 Fine-tune (Haiku)</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00" dirty="0">
                          <a:solidFill>
                            <a:srgbClr val="5A5F66"/>
                          </a:solidFill>
                          <a:latin typeface="Calibri" pitchFamily="34" charset="0"/>
                          <a:ea typeface="Calibri" pitchFamily="34" charset="-122"/>
                          <a:cs typeface="Calibri" pitchFamily="34" charset="-120"/>
                        </a:rPr>
                        <a:t>Sonnet + prompt</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00" dirty="0">
                          <a:solidFill>
                            <a:srgbClr val="5A5F66"/>
                          </a:solidFill>
                          <a:latin typeface="Calibri" pitchFamily="34" charset="0"/>
                          <a:ea typeface="Calibri" pitchFamily="34" charset="-122"/>
                          <a:cs typeface="Calibri" pitchFamily="34" charset="-120"/>
                        </a:rPr>
                        <a:t>Collect labeled data</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extLst>
                  <a:ext uri="{0D108BD9-81ED-4DB2-BD59-A6C34878D82A}">
                    <a16:rowId xmlns:a16="http://schemas.microsoft.com/office/drawing/2014/main" val="10006"/>
                  </a:ext>
                </a:extLst>
              </a:tr>
              <a:tr h="329184">
                <a:tc>
                  <a:txBody>
                    <a:bodyPr/>
                    <a:lstStyle/>
                    <a:p>
                      <a:pPr marL="0" indent="0" algn="l">
                        <a:buNone/>
                      </a:pPr>
                      <a:r>
                        <a:rPr lang="en-US" sz="1000" b="1" dirty="0">
                          <a:solidFill>
                            <a:srgbClr val="1A1A1A"/>
                          </a:solidFill>
                          <a:latin typeface="Calibri" pitchFamily="34" charset="0"/>
                          <a:ea typeface="Calibri" pitchFamily="34" charset="-122"/>
                          <a:cs typeface="Calibri" pitchFamily="34" charset="-120"/>
                        </a:rPr>
                        <a:t>Stop hallucinating</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A5F66"/>
                          </a:solidFill>
                          <a:latin typeface="Calibri" pitchFamily="34" charset="0"/>
                          <a:ea typeface="Calibri" pitchFamily="34" charset="-122"/>
                          <a:cs typeface="Calibri" pitchFamily="34" charset="-120"/>
                        </a:rPr>
                        <a:t>📚 RAG + Prompt</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A5F66"/>
                          </a:solidFill>
                          <a:latin typeface="Calibri" pitchFamily="34" charset="0"/>
                          <a:ea typeface="Calibri" pitchFamily="34" charset="-122"/>
                          <a:cs typeface="Calibri" pitchFamily="34" charset="-120"/>
                        </a:rPr>
                        <a:t>Fine-tuning</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A5F66"/>
                          </a:solidFill>
                          <a:latin typeface="Calibri" pitchFamily="34" charset="0"/>
                          <a:ea typeface="Calibri" pitchFamily="34" charset="-122"/>
                          <a:cs typeface="Calibri" pitchFamily="34" charset="-120"/>
                        </a:rPr>
                        <a:t>“Only use provided context”</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9184">
                <a:tc>
                  <a:txBody>
                    <a:bodyPr/>
                    <a:lstStyle/>
                    <a:p>
                      <a:pPr marL="0" indent="0" algn="l">
                        <a:buNone/>
                      </a:pPr>
                      <a:r>
                        <a:rPr lang="en-US" sz="1000" b="1" dirty="0">
                          <a:solidFill>
                            <a:srgbClr val="1A1A1A"/>
                          </a:solidFill>
                          <a:latin typeface="Calibri" pitchFamily="34" charset="0"/>
                          <a:ea typeface="Calibri" pitchFamily="34" charset="-122"/>
                          <a:cs typeface="Calibri" pitchFamily="34" charset="-120"/>
                        </a:rPr>
                        <a:t>Quick prototype</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00" dirty="0">
                          <a:solidFill>
                            <a:srgbClr val="5A5F66"/>
                          </a:solidFill>
                          <a:latin typeface="Calibri" pitchFamily="34" charset="0"/>
                          <a:ea typeface="Calibri" pitchFamily="34" charset="-122"/>
                          <a:cs typeface="Calibri" pitchFamily="34" charset="-120"/>
                        </a:rPr>
                        <a:t>🎯 Prompting</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00" dirty="0">
                          <a:solidFill>
                            <a:srgbClr val="5A5F66"/>
                          </a:solidFill>
                          <a:latin typeface="Calibri" pitchFamily="34" charset="0"/>
                          <a:ea typeface="Calibri" pitchFamily="34" charset="-122"/>
                          <a:cs typeface="Calibri" pitchFamily="34" charset="-120"/>
                        </a:rPr>
                        <a:t>Everything else</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tc>
                  <a:txBody>
                    <a:bodyPr/>
                    <a:lstStyle/>
                    <a:p>
                      <a:pPr marL="0" indent="0" algn="l">
                        <a:buNone/>
                      </a:pPr>
                      <a:r>
                        <a:rPr lang="en-US" sz="1000" dirty="0">
                          <a:solidFill>
                            <a:srgbClr val="5A5F66"/>
                          </a:solidFill>
                          <a:latin typeface="Calibri" pitchFamily="34" charset="0"/>
                          <a:ea typeface="Calibri" pitchFamily="34" charset="-122"/>
                          <a:cs typeface="Calibri" pitchFamily="34" charset="-120"/>
                        </a:rPr>
                        <a:t>Open Claude and iterate</a:t>
                      </a:r>
                      <a:endParaRPr lang="en-US" sz="1000" dirty="0">
                        <a:latin typeface="Calibri" charset="0"/>
                        <a:ea typeface="Calibri" charset="0"/>
                        <a:cs typeface="Calibri" charset="0"/>
                      </a:endParaRPr>
                    </a:p>
                  </a:txBody>
                  <a:tcPr marL="63500" marR="63500" marT="25400" marB="25400"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4F5F7"/>
                    </a:solidFill>
                  </a:tcPr>
                </a:tc>
                <a:extLst>
                  <a:ext uri="{0D108BD9-81ED-4DB2-BD59-A6C34878D82A}">
                    <a16:rowId xmlns:a16="http://schemas.microsoft.com/office/drawing/2014/main" val="10008"/>
                  </a:ext>
                </a:extLst>
              </a:tr>
            </a:tbl>
          </a:graphicData>
        </a:graphic>
      </p:graphicFrame>
      <p:sp>
        <p:nvSpPr>
          <p:cNvPr id="5" name="Shape 2"/>
          <p:cNvSpPr/>
          <p:nvPr/>
        </p:nvSpPr>
        <p:spPr>
          <a:xfrm>
            <a:off x="7680960" y="1691640"/>
            <a:ext cx="3840480" cy="2286000"/>
          </a:xfrm>
          <a:prstGeom prst="roundRect">
            <a:avLst>
              <a:gd name="adj" fmla="val 3600"/>
            </a:avLst>
          </a:prstGeom>
          <a:solidFill>
            <a:srgbClr val="F4F5F7"/>
          </a:solidFill>
          <a:ln w="12700">
            <a:solidFill>
              <a:srgbClr val="DADDE2"/>
            </a:solidFill>
            <a:prstDash val="solid"/>
          </a:ln>
        </p:spPr>
        <p:txBody>
          <a:bodyPr/>
          <a:lstStyle/>
          <a:p>
            <a:endParaRPr lang="en-US"/>
          </a:p>
        </p:txBody>
      </p:sp>
      <p:sp>
        <p:nvSpPr>
          <p:cNvPr id="6" name="Text 3"/>
          <p:cNvSpPr/>
          <p:nvPr/>
        </p:nvSpPr>
        <p:spPr>
          <a:xfrm>
            <a:off x="7909560" y="1828800"/>
            <a:ext cx="3383280" cy="320040"/>
          </a:xfrm>
          <a:prstGeom prst="rect">
            <a:avLst/>
          </a:prstGeom>
          <a:noFill/>
          <a:ln/>
        </p:spPr>
        <p:txBody>
          <a:bodyPr wrap="square" rtlCol="0" anchor="ctr"/>
          <a:lstStyle/>
          <a:p>
            <a:pPr marL="0" indent="0">
              <a:buNone/>
            </a:pPr>
            <a:r>
              <a:rPr lang="en-US" sz="1250" b="1" dirty="0">
                <a:solidFill>
                  <a:srgbClr val="1A1A1A"/>
                </a:solidFill>
                <a:latin typeface="Calibri" pitchFamily="34" charset="0"/>
                <a:ea typeface="Calibri" pitchFamily="34" charset="-122"/>
                <a:cs typeface="Calibri" pitchFamily="34" charset="-120"/>
              </a:rPr>
              <a:t>🧮 3-question decision calculator</a:t>
            </a:r>
            <a:endParaRPr lang="en-US" sz="1250" dirty="0"/>
          </a:p>
        </p:txBody>
      </p:sp>
      <p:sp>
        <p:nvSpPr>
          <p:cNvPr id="7" name="Text 4"/>
          <p:cNvSpPr/>
          <p:nvPr/>
        </p:nvSpPr>
        <p:spPr>
          <a:xfrm>
            <a:off x="7909560" y="2240280"/>
            <a:ext cx="3383280" cy="1645920"/>
          </a:xfrm>
          <a:prstGeom prst="rect">
            <a:avLst/>
          </a:prstGeom>
          <a:noFill/>
          <a:ln/>
        </p:spPr>
        <p:txBody>
          <a:bodyPr wrap="square" rtlCol="0" anchor="t"/>
          <a:lstStyle/>
          <a:p>
            <a:pPr marL="0" indent="0" algn="l">
              <a:spcAft>
                <a:spcPts val="1000"/>
              </a:spcAft>
              <a:buNone/>
            </a:pPr>
            <a:r>
              <a:rPr lang="en-US" sz="1150" dirty="0">
                <a:solidFill>
                  <a:srgbClr val="2563EB"/>
                </a:solidFill>
                <a:latin typeface="Calibri" pitchFamily="34" charset="0"/>
                <a:ea typeface="Calibri" pitchFamily="34" charset="-122"/>
                <a:cs typeface="Calibri" pitchFamily="34" charset="-120"/>
              </a:rPr>
              <a:t>Q1: Needs data it doesn't have? → RAG</a:t>
            </a:r>
            <a:endParaRPr lang="en-US" sz="1150" dirty="0"/>
          </a:p>
          <a:p>
            <a:pPr marL="0" indent="0" algn="l">
              <a:spcAft>
                <a:spcPts val="1000"/>
              </a:spcAft>
              <a:buNone/>
            </a:pPr>
            <a:r>
              <a:rPr lang="en-US" sz="1150" dirty="0">
                <a:solidFill>
                  <a:srgbClr val="6D28D9"/>
                </a:solidFill>
                <a:latin typeface="Calibri" pitchFamily="34" charset="0"/>
                <a:ea typeface="Calibri" pitchFamily="34" charset="-122"/>
                <a:cs typeface="Calibri" pitchFamily="34" charset="-120"/>
              </a:rPr>
              <a:t>Q2: Reasoning / formatting poorly? → Better prompting</a:t>
            </a:r>
            <a:endParaRPr lang="en-US" sz="1150" dirty="0"/>
          </a:p>
          <a:p>
            <a:pPr marL="0" indent="0" algn="l">
              <a:spcAft>
                <a:spcPts val="1000"/>
              </a:spcAft>
              <a:buNone/>
            </a:pPr>
            <a:r>
              <a:rPr lang="en-US" sz="1150" dirty="0">
                <a:solidFill>
                  <a:srgbClr val="E30613"/>
                </a:solidFill>
                <a:latin typeface="Calibri" pitchFamily="34" charset="0"/>
                <a:ea typeface="Calibri" pitchFamily="34" charset="-122"/>
                <a:cs typeface="Calibri" pitchFamily="34" charset="-120"/>
              </a:rPr>
              <a:t>Q3: Still inconsistent after good prompts? → Fine-tuning</a:t>
            </a:r>
            <a:endParaRPr lang="en-US" sz="1150" dirty="0"/>
          </a:p>
          <a:p>
            <a:pPr marL="0" indent="0" algn="l">
              <a:spcAft>
                <a:spcPts val="1000"/>
              </a:spcAft>
              <a:buNone/>
            </a:pPr>
            <a:r>
              <a:rPr lang="en-US" sz="1150" b="1" dirty="0">
                <a:solidFill>
                  <a:srgbClr val="059669"/>
                </a:solidFill>
                <a:latin typeface="Calibri" pitchFamily="34" charset="0"/>
                <a:ea typeface="Calibri" pitchFamily="34" charset="-122"/>
                <a:cs typeface="Calibri" pitchFamily="34" charset="-120"/>
              </a:rPr>
              <a:t>None? → Ship it! 🚀</a:t>
            </a:r>
            <a:endParaRPr lang="en-US" sz="1150" dirty="0"/>
          </a:p>
        </p:txBody>
      </p:sp>
      <p:sp>
        <p:nvSpPr>
          <p:cNvPr id="8" name="Shape 5"/>
          <p:cNvSpPr/>
          <p:nvPr/>
        </p:nvSpPr>
        <p:spPr>
          <a:xfrm>
            <a:off x="7680960" y="4160520"/>
            <a:ext cx="1170432" cy="1051560"/>
          </a:xfrm>
          <a:prstGeom prst="roundRect">
            <a:avLst>
              <a:gd name="adj" fmla="val 7826"/>
            </a:avLst>
          </a:prstGeom>
          <a:solidFill>
            <a:srgbClr val="FFFFFF"/>
          </a:solidFill>
          <a:ln w="12700">
            <a:solidFill>
              <a:srgbClr val="DADDE2"/>
            </a:solidFill>
            <a:prstDash val="solid"/>
          </a:ln>
        </p:spPr>
        <p:txBody>
          <a:bodyPr/>
          <a:lstStyle/>
          <a:p>
            <a:endParaRPr lang="en-US"/>
          </a:p>
        </p:txBody>
      </p:sp>
      <p:sp>
        <p:nvSpPr>
          <p:cNvPr id="9" name="Text 6"/>
          <p:cNvSpPr/>
          <p:nvPr/>
        </p:nvSpPr>
        <p:spPr>
          <a:xfrm>
            <a:off x="7680960" y="4325112"/>
            <a:ext cx="1170432" cy="457200"/>
          </a:xfrm>
          <a:prstGeom prst="rect">
            <a:avLst/>
          </a:prstGeom>
          <a:noFill/>
          <a:ln/>
        </p:spPr>
        <p:txBody>
          <a:bodyPr wrap="square" rtlCol="0" anchor="ctr"/>
          <a:lstStyle/>
          <a:p>
            <a:pPr marL="0" indent="0" algn="ctr">
              <a:buNone/>
            </a:pPr>
            <a:r>
              <a:rPr lang="en-US" sz="1800" b="1" dirty="0">
                <a:solidFill>
                  <a:srgbClr val="6D28D9"/>
                </a:solidFill>
                <a:latin typeface="Century Schoolbook" pitchFamily="34" charset="0"/>
                <a:ea typeface="Century Schoolbook" pitchFamily="34" charset="-122"/>
                <a:cs typeface="Century Schoolbook" pitchFamily="34" charset="-120"/>
              </a:rPr>
              <a:t>30 sec</a:t>
            </a:r>
            <a:endParaRPr lang="en-US" sz="1800" dirty="0"/>
          </a:p>
        </p:txBody>
      </p:sp>
      <p:sp>
        <p:nvSpPr>
          <p:cNvPr id="10" name="Text 7"/>
          <p:cNvSpPr/>
          <p:nvPr/>
        </p:nvSpPr>
        <p:spPr>
          <a:xfrm>
            <a:off x="7680960" y="4818888"/>
            <a:ext cx="1170432" cy="274320"/>
          </a:xfrm>
          <a:prstGeom prst="rect">
            <a:avLst/>
          </a:prstGeom>
          <a:noFill/>
          <a:ln/>
        </p:spPr>
        <p:txBody>
          <a:bodyPr wrap="square" rtlCol="0" anchor="ctr"/>
          <a:lstStyle/>
          <a:p>
            <a:pPr marL="0" indent="0" algn="ctr">
              <a:buNone/>
            </a:pPr>
            <a:r>
              <a:rPr lang="en-US" sz="950" dirty="0">
                <a:solidFill>
                  <a:srgbClr val="5A5F66"/>
                </a:solidFill>
                <a:latin typeface="Calibri" pitchFamily="34" charset="0"/>
                <a:ea typeface="Calibri" pitchFamily="34" charset="-122"/>
                <a:cs typeface="Calibri" pitchFamily="34" charset="-120"/>
              </a:rPr>
              <a:t>Prompting</a:t>
            </a:r>
            <a:endParaRPr lang="en-US" sz="950" dirty="0"/>
          </a:p>
        </p:txBody>
      </p:sp>
      <p:sp>
        <p:nvSpPr>
          <p:cNvPr id="11" name="Shape 8"/>
          <p:cNvSpPr/>
          <p:nvPr/>
        </p:nvSpPr>
        <p:spPr>
          <a:xfrm>
            <a:off x="8979408" y="4160520"/>
            <a:ext cx="1170432" cy="1051560"/>
          </a:xfrm>
          <a:prstGeom prst="roundRect">
            <a:avLst>
              <a:gd name="adj" fmla="val 7826"/>
            </a:avLst>
          </a:prstGeom>
          <a:solidFill>
            <a:srgbClr val="FFFFFF"/>
          </a:solidFill>
          <a:ln w="12700">
            <a:solidFill>
              <a:srgbClr val="DADDE2"/>
            </a:solidFill>
            <a:prstDash val="solid"/>
          </a:ln>
        </p:spPr>
        <p:txBody>
          <a:bodyPr/>
          <a:lstStyle/>
          <a:p>
            <a:endParaRPr lang="en-US"/>
          </a:p>
        </p:txBody>
      </p:sp>
      <p:sp>
        <p:nvSpPr>
          <p:cNvPr id="12" name="Text 9"/>
          <p:cNvSpPr/>
          <p:nvPr/>
        </p:nvSpPr>
        <p:spPr>
          <a:xfrm>
            <a:off x="8979408" y="4325112"/>
            <a:ext cx="1170432" cy="457200"/>
          </a:xfrm>
          <a:prstGeom prst="rect">
            <a:avLst/>
          </a:prstGeom>
          <a:noFill/>
          <a:ln/>
        </p:spPr>
        <p:txBody>
          <a:bodyPr wrap="square" rtlCol="0" anchor="ctr"/>
          <a:lstStyle/>
          <a:p>
            <a:pPr marL="0" indent="0" algn="ctr">
              <a:buNone/>
            </a:pPr>
            <a:r>
              <a:rPr lang="en-US" sz="1800" b="1" dirty="0">
                <a:solidFill>
                  <a:srgbClr val="2563EB"/>
                </a:solidFill>
                <a:latin typeface="Century Schoolbook" pitchFamily="34" charset="0"/>
                <a:ea typeface="Century Schoolbook" pitchFamily="34" charset="-122"/>
                <a:cs typeface="Century Schoolbook" pitchFamily="34" charset="-120"/>
              </a:rPr>
              <a:t>30 min</a:t>
            </a:r>
            <a:endParaRPr lang="en-US" sz="1800" dirty="0"/>
          </a:p>
        </p:txBody>
      </p:sp>
      <p:sp>
        <p:nvSpPr>
          <p:cNvPr id="13" name="Text 10"/>
          <p:cNvSpPr/>
          <p:nvPr/>
        </p:nvSpPr>
        <p:spPr>
          <a:xfrm>
            <a:off x="8979408" y="4818888"/>
            <a:ext cx="1170432" cy="274320"/>
          </a:xfrm>
          <a:prstGeom prst="rect">
            <a:avLst/>
          </a:prstGeom>
          <a:noFill/>
          <a:ln/>
        </p:spPr>
        <p:txBody>
          <a:bodyPr wrap="square" rtlCol="0" anchor="ctr"/>
          <a:lstStyle/>
          <a:p>
            <a:pPr marL="0" indent="0" algn="ctr">
              <a:buNone/>
            </a:pPr>
            <a:r>
              <a:rPr lang="en-US" sz="950" dirty="0">
                <a:solidFill>
                  <a:srgbClr val="5A5F66"/>
                </a:solidFill>
                <a:latin typeface="Calibri" pitchFamily="34" charset="0"/>
                <a:ea typeface="Calibri" pitchFamily="34" charset="-122"/>
                <a:cs typeface="Calibri" pitchFamily="34" charset="-120"/>
              </a:rPr>
              <a:t>RAG</a:t>
            </a:r>
            <a:endParaRPr lang="en-US" sz="950" dirty="0"/>
          </a:p>
        </p:txBody>
      </p:sp>
      <p:sp>
        <p:nvSpPr>
          <p:cNvPr id="14" name="Shape 11"/>
          <p:cNvSpPr/>
          <p:nvPr/>
        </p:nvSpPr>
        <p:spPr>
          <a:xfrm>
            <a:off x="10277856" y="4160520"/>
            <a:ext cx="1170432" cy="1051560"/>
          </a:xfrm>
          <a:prstGeom prst="roundRect">
            <a:avLst>
              <a:gd name="adj" fmla="val 7826"/>
            </a:avLst>
          </a:prstGeom>
          <a:solidFill>
            <a:srgbClr val="FFFFFF"/>
          </a:solidFill>
          <a:ln w="12700">
            <a:solidFill>
              <a:srgbClr val="DADDE2"/>
            </a:solidFill>
            <a:prstDash val="solid"/>
          </a:ln>
        </p:spPr>
        <p:txBody>
          <a:bodyPr/>
          <a:lstStyle/>
          <a:p>
            <a:endParaRPr lang="en-US"/>
          </a:p>
        </p:txBody>
      </p:sp>
      <p:sp>
        <p:nvSpPr>
          <p:cNvPr id="15" name="Text 12"/>
          <p:cNvSpPr/>
          <p:nvPr/>
        </p:nvSpPr>
        <p:spPr>
          <a:xfrm>
            <a:off x="10277856" y="4325112"/>
            <a:ext cx="1170432" cy="457200"/>
          </a:xfrm>
          <a:prstGeom prst="rect">
            <a:avLst/>
          </a:prstGeom>
          <a:noFill/>
          <a:ln/>
        </p:spPr>
        <p:txBody>
          <a:bodyPr wrap="square" rtlCol="0" anchor="ctr"/>
          <a:lstStyle/>
          <a:p>
            <a:pPr marL="0" indent="0" algn="ctr">
              <a:buNone/>
            </a:pPr>
            <a:r>
              <a:rPr lang="en-US" sz="1800" b="1" dirty="0">
                <a:solidFill>
                  <a:srgbClr val="E30613"/>
                </a:solidFill>
                <a:latin typeface="Century Schoolbook" pitchFamily="34" charset="0"/>
                <a:ea typeface="Century Schoolbook" pitchFamily="34" charset="-122"/>
                <a:cs typeface="Century Schoolbook" pitchFamily="34" charset="-120"/>
              </a:rPr>
              <a:t>30 days</a:t>
            </a:r>
            <a:endParaRPr lang="en-US" sz="1800" dirty="0"/>
          </a:p>
        </p:txBody>
      </p:sp>
      <p:sp>
        <p:nvSpPr>
          <p:cNvPr id="4" name="Text 13"/>
          <p:cNvSpPr/>
          <p:nvPr/>
        </p:nvSpPr>
        <p:spPr>
          <a:xfrm>
            <a:off x="10277856" y="4818888"/>
            <a:ext cx="1170432" cy="274320"/>
          </a:xfrm>
          <a:prstGeom prst="rect">
            <a:avLst/>
          </a:prstGeom>
          <a:noFill/>
          <a:ln/>
        </p:spPr>
        <p:txBody>
          <a:bodyPr wrap="square" rtlCol="0" anchor="ctr"/>
          <a:lstStyle/>
          <a:p>
            <a:pPr marL="0" indent="0" algn="ctr">
              <a:buNone/>
            </a:pPr>
            <a:r>
              <a:rPr lang="en-US" sz="950" dirty="0">
                <a:solidFill>
                  <a:srgbClr val="5A5F66"/>
                </a:solidFill>
                <a:latin typeface="Calibri" pitchFamily="34" charset="0"/>
                <a:ea typeface="Calibri" pitchFamily="34" charset="-122"/>
                <a:cs typeface="Calibri" pitchFamily="34" charset="-120"/>
              </a:rPr>
              <a:t>Fine-Tune</a:t>
            </a:r>
            <a:endParaRPr lang="en-US" sz="950" dirty="0"/>
          </a:p>
        </p:txBody>
      </p:sp>
      <p:sp>
        <p:nvSpPr>
          <p:cNvPr id="17" name="Shape 14"/>
          <p:cNvSpPr/>
          <p:nvPr/>
        </p:nvSpPr>
        <p:spPr>
          <a:xfrm>
            <a:off x="640080" y="5394960"/>
            <a:ext cx="6766560" cy="1051560"/>
          </a:xfrm>
          <a:prstGeom prst="roundRect">
            <a:avLst>
              <a:gd name="adj" fmla="val 7826"/>
            </a:avLst>
          </a:prstGeom>
          <a:solidFill>
            <a:srgbClr val="E30613"/>
          </a:solidFill>
          <a:ln w="12700">
            <a:solidFill>
              <a:srgbClr val="E30613"/>
            </a:solidFill>
            <a:prstDash val="solid"/>
          </a:ln>
        </p:spPr>
        <p:txBody>
          <a:bodyPr/>
          <a:lstStyle/>
          <a:p>
            <a:endParaRPr lang="en-US"/>
          </a:p>
        </p:txBody>
      </p:sp>
      <p:sp>
        <p:nvSpPr>
          <p:cNvPr id="18" name="Text 15"/>
          <p:cNvSpPr/>
          <p:nvPr/>
        </p:nvSpPr>
        <p:spPr>
          <a:xfrm>
            <a:off x="868680" y="5504688"/>
            <a:ext cx="2743200" cy="274320"/>
          </a:xfrm>
          <a:prstGeom prst="rect">
            <a:avLst/>
          </a:prstGeom>
          <a:noFill/>
          <a:ln/>
        </p:spPr>
        <p:txBody>
          <a:bodyPr wrap="square" rtlCol="0" anchor="ctr"/>
          <a:lstStyle/>
          <a:p>
            <a:pPr marL="0" indent="0">
              <a:buNone/>
            </a:pPr>
            <a:r>
              <a:rPr lang="en-US" sz="1100" b="1" dirty="0">
                <a:solidFill>
                  <a:srgbClr val="FDE8EA"/>
                </a:solidFill>
                <a:latin typeface="Calibri" pitchFamily="34" charset="0"/>
                <a:ea typeface="Calibri" pitchFamily="34" charset="-122"/>
                <a:cs typeface="Calibri" pitchFamily="34" charset="-120"/>
              </a:rPr>
              <a:t>Remember</a:t>
            </a:r>
            <a:endParaRPr lang="en-US" sz="1100" dirty="0"/>
          </a:p>
        </p:txBody>
      </p:sp>
      <p:sp>
        <p:nvSpPr>
          <p:cNvPr id="19" name="Text 16"/>
          <p:cNvSpPr/>
          <p:nvPr/>
        </p:nvSpPr>
        <p:spPr>
          <a:xfrm>
            <a:off x="868680" y="5806440"/>
            <a:ext cx="6309360" cy="54864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Start simple. Climb the ladder only when the current rung genuinely fails. Prompting → RAG → Fine-tuning → combine.</a:t>
            </a:r>
            <a:endParaRPr lang="en-US" sz="1250" dirty="0"/>
          </a:p>
        </p:txBody>
      </p:sp>
      <p:sp>
        <p:nvSpPr>
          <p:cNvPr id="20" name="Shape 17"/>
          <p:cNvSpPr/>
          <p:nvPr/>
        </p:nvSpPr>
        <p:spPr>
          <a:xfrm>
            <a:off x="7680960" y="5394960"/>
            <a:ext cx="3840480" cy="1051560"/>
          </a:xfrm>
          <a:prstGeom prst="roundRect">
            <a:avLst>
              <a:gd name="adj" fmla="val 7826"/>
            </a:avLst>
          </a:prstGeom>
          <a:solidFill>
            <a:srgbClr val="F4F5F7"/>
          </a:solidFill>
          <a:ln w="12700">
            <a:solidFill>
              <a:srgbClr val="DADDE2"/>
            </a:solidFill>
            <a:prstDash val="solid"/>
          </a:ln>
        </p:spPr>
        <p:txBody>
          <a:bodyPr/>
          <a:lstStyle/>
          <a:p>
            <a:endParaRPr lang="en-US"/>
          </a:p>
        </p:txBody>
      </p:sp>
      <p:sp>
        <p:nvSpPr>
          <p:cNvPr id="21" name="Text 18"/>
          <p:cNvSpPr/>
          <p:nvPr/>
        </p:nvSpPr>
        <p:spPr>
          <a:xfrm>
            <a:off x="7909560" y="5504688"/>
            <a:ext cx="3383280" cy="320040"/>
          </a:xfrm>
          <a:prstGeom prst="rect">
            <a:avLst/>
          </a:prstGeom>
          <a:noFill/>
          <a:ln/>
        </p:spPr>
        <p:txBody>
          <a:bodyPr wrap="square"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 Thank you — questions?</a:t>
            </a:r>
            <a:endParaRPr lang="en-US" sz="1300" dirty="0"/>
          </a:p>
        </p:txBody>
      </p:sp>
      <p:sp>
        <p:nvSpPr>
          <p:cNvPr id="22" name="Text 19"/>
          <p:cNvSpPr/>
          <p:nvPr/>
        </p:nvSpPr>
        <p:spPr>
          <a:xfrm>
            <a:off x="7909560" y="5870448"/>
            <a:ext cx="3383280" cy="365760"/>
          </a:xfrm>
          <a:prstGeom prst="rect">
            <a:avLst/>
          </a:prstGeom>
          <a:noFill/>
          <a:ln/>
        </p:spPr>
        <p:txBody>
          <a:bodyPr wrap="square" rtlCol="0" anchor="ctr"/>
          <a:lstStyle/>
          <a:p>
            <a:pPr marL="0" indent="0">
              <a:buNone/>
            </a:pPr>
            <a:r>
              <a:rPr lang="en-US" sz="1100" dirty="0">
                <a:solidFill>
                  <a:srgbClr val="8A9099"/>
                </a:solidFill>
                <a:latin typeface="Calibri" pitchFamily="34" charset="0"/>
                <a:ea typeface="Calibri" pitchFamily="34" charset="-122"/>
                <a:cs typeface="Calibri" pitchFamily="34" charset="-120"/>
              </a:rPr>
              <a:t>  •  AI/ML Engineer  •  JLL Bangalore</a:t>
            </a:r>
            <a:endParaRPr lang="en-US" sz="1100" dirty="0"/>
          </a:p>
        </p:txBody>
      </p:sp>
      <p:sp>
        <p:nvSpPr>
          <p:cNvPr id="23" name="Text 20"/>
          <p:cNvSpPr/>
          <p:nvPr/>
        </p:nvSpPr>
        <p:spPr>
          <a:xfrm>
            <a:off x="10728655" y="6400800"/>
            <a:ext cx="1097280" cy="274320"/>
          </a:xfrm>
          <a:prstGeom prst="rect">
            <a:avLst/>
          </a:prstGeom>
          <a:noFill/>
          <a:ln/>
        </p:spPr>
        <p:txBody>
          <a:bodyPr wrap="square" rtlCol="0" anchor="ctr"/>
          <a:lstStyle/>
          <a:p>
            <a:pPr marL="0" indent="0" algn="r">
              <a:buNone/>
            </a:pPr>
            <a:r>
              <a:rPr lang="en-US" sz="1000" dirty="0">
                <a:solidFill>
                  <a:srgbClr val="8A9099"/>
                </a:solidFill>
                <a:latin typeface="Courier New" pitchFamily="34" charset="0"/>
                <a:ea typeface="Courier New" pitchFamily="34" charset="-122"/>
                <a:cs typeface="Courier New" pitchFamily="34" charset="-120"/>
              </a:rPr>
              <a:t>15 / 16</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40080" y="457200"/>
            <a:ext cx="7315200" cy="274320"/>
          </a:xfrm>
          <a:prstGeom prst="rect">
            <a:avLst/>
          </a:prstGeom>
          <a:noFill/>
          <a:ln/>
        </p:spPr>
        <p:txBody>
          <a:bodyPr wrap="square" rtlCol="0" anchor="ctr"/>
          <a:lstStyle/>
          <a:p>
            <a:pPr marL="0" indent="0" algn="l">
              <a:buNone/>
            </a:pPr>
            <a:r>
              <a:rPr lang="en-US" sz="1200" b="1" kern="0" spc="300" dirty="0">
                <a:solidFill>
                  <a:srgbClr val="6D28D9"/>
                </a:solidFill>
                <a:latin typeface="Calibri" pitchFamily="34" charset="0"/>
                <a:ea typeface="Calibri" pitchFamily="34" charset="-122"/>
                <a:cs typeface="Calibri" pitchFamily="34" charset="-120"/>
              </a:rPr>
              <a:t>APPENDIX</a:t>
            </a:r>
            <a:endParaRPr lang="en-US" sz="1200" dirty="0"/>
          </a:p>
        </p:txBody>
      </p:sp>
      <p:sp>
        <p:nvSpPr>
          <p:cNvPr id="4" name="Text 2"/>
          <p:cNvSpPr/>
          <p:nvPr/>
        </p:nvSpPr>
        <p:spPr>
          <a:xfrm>
            <a:off x="640080" y="777240"/>
            <a:ext cx="10911535" cy="822960"/>
          </a:xfrm>
          <a:prstGeom prst="rect">
            <a:avLst/>
          </a:prstGeom>
          <a:noFill/>
          <a:ln/>
        </p:spPr>
        <p:txBody>
          <a:bodyPr wrap="square" rtlCol="0" anchor="ctr"/>
          <a:lstStyle/>
          <a:p>
            <a:pPr marL="0" indent="0" algn="l">
              <a:buNone/>
            </a:pPr>
            <a:r>
              <a:rPr lang="en-US" sz="3200" b="1" dirty="0">
                <a:solidFill>
                  <a:srgbClr val="1A1A1A"/>
                </a:solidFill>
                <a:latin typeface="Century Schoolbook" pitchFamily="34" charset="0"/>
                <a:ea typeface="Century Schoolbook" pitchFamily="34" charset="-122"/>
                <a:cs typeface="Century Schoolbook" pitchFamily="34" charset="-120"/>
              </a:rPr>
              <a:t>References &amp; where to go next</a:t>
            </a:r>
            <a:endParaRPr lang="en-US" sz="3200" dirty="0"/>
          </a:p>
        </p:txBody>
      </p:sp>
      <p:sp>
        <p:nvSpPr>
          <p:cNvPr id="5" name="Shape 3"/>
          <p:cNvSpPr/>
          <p:nvPr/>
        </p:nvSpPr>
        <p:spPr>
          <a:xfrm>
            <a:off x="640080" y="1828800"/>
            <a:ext cx="5394960" cy="4023360"/>
          </a:xfrm>
          <a:prstGeom prst="roundRect">
            <a:avLst>
              <a:gd name="adj" fmla="val 2045"/>
            </a:avLst>
          </a:prstGeom>
          <a:solidFill>
            <a:srgbClr val="F4F5F7"/>
          </a:solidFill>
          <a:ln w="12700">
            <a:solidFill>
              <a:srgbClr val="DADDE2"/>
            </a:solidFill>
            <a:prstDash val="solid"/>
          </a:ln>
        </p:spPr>
        <p:txBody>
          <a:bodyPr/>
          <a:lstStyle/>
          <a:p>
            <a:endParaRPr lang="en-US"/>
          </a:p>
        </p:txBody>
      </p:sp>
      <p:sp>
        <p:nvSpPr>
          <p:cNvPr id="6" name="Text 4"/>
          <p:cNvSpPr/>
          <p:nvPr/>
        </p:nvSpPr>
        <p:spPr>
          <a:xfrm>
            <a:off x="868680" y="2011680"/>
            <a:ext cx="4937760" cy="365760"/>
          </a:xfrm>
          <a:prstGeom prst="rect">
            <a:avLst/>
          </a:prstGeom>
          <a:noFill/>
          <a:ln/>
        </p:spPr>
        <p:txBody>
          <a:bodyPr wrap="square" rtlCol="0" anchor="ctr"/>
          <a:lstStyle/>
          <a:p>
            <a:pPr marL="0" indent="0">
              <a:buNone/>
            </a:pPr>
            <a:r>
              <a:rPr lang="en-US" sz="1500" b="1" dirty="0">
                <a:solidFill>
                  <a:srgbClr val="6D28D9"/>
                </a:solidFill>
                <a:latin typeface="Calibri" pitchFamily="34" charset="0"/>
                <a:ea typeface="Calibri" pitchFamily="34" charset="-122"/>
                <a:cs typeface="Calibri" pitchFamily="34" charset="-120"/>
              </a:rPr>
              <a:t>📚 Source whitepapers</a:t>
            </a:r>
            <a:endParaRPr lang="en-US" sz="1500" dirty="0"/>
          </a:p>
        </p:txBody>
      </p:sp>
      <p:sp>
        <p:nvSpPr>
          <p:cNvPr id="7" name="Text 5"/>
          <p:cNvSpPr/>
          <p:nvPr/>
        </p:nvSpPr>
        <p:spPr>
          <a:xfrm>
            <a:off x="868680" y="2468880"/>
            <a:ext cx="4937760" cy="3291840"/>
          </a:xfrm>
          <a:prstGeom prst="rect">
            <a:avLst/>
          </a:prstGeom>
          <a:noFill/>
          <a:ln/>
        </p:spPr>
        <p:txBody>
          <a:bodyPr wrap="square" rtlCol="0" anchor="t"/>
          <a:lstStyle/>
          <a:p>
            <a:pPr marL="342900" indent="-342900" algn="l">
              <a:spcAft>
                <a:spcPts val="700"/>
              </a:spcAft>
              <a:buSzPct val="100000"/>
              <a:buChar char="•"/>
            </a:pPr>
            <a:r>
              <a:rPr lang="en-US" sz="1200" b="1" dirty="0">
                <a:solidFill>
                  <a:srgbClr val="1A1A1A"/>
                </a:solidFill>
                <a:latin typeface="Calibri" pitchFamily="34" charset="0"/>
                <a:ea typeface="Calibri" pitchFamily="34" charset="-122"/>
                <a:cs typeface="Calibri" pitchFamily="34" charset="-120"/>
              </a:rPr>
              <a:t>Google — Prompt Engineering</a:t>
            </a:r>
            <a:endParaRPr lang="en-US" sz="1200" dirty="0"/>
          </a:p>
          <a:p>
            <a:pPr marL="342900" indent="-342900" algn="l">
              <a:spcAft>
                <a:spcPts val="700"/>
              </a:spcAft>
              <a:buSzPct val="100000"/>
              <a:buChar char="•"/>
            </a:pPr>
            <a:r>
              <a:rPr lang="en-US" sz="1200" dirty="0">
                <a:solidFill>
                  <a:srgbClr val="5A5F66"/>
                </a:solidFill>
                <a:latin typeface="Calibri" pitchFamily="34" charset="0"/>
                <a:ea typeface="Calibri" pitchFamily="34" charset="-122"/>
                <a:cs typeface="Calibri" pitchFamily="34" charset="-120"/>
              </a:rPr>
              <a:t>Techniques, patterns, and evaluation.</a:t>
            </a:r>
            <a:endParaRPr lang="en-US" sz="1200" dirty="0"/>
          </a:p>
          <a:p>
            <a:pPr marL="342900" indent="-342900" algn="l">
              <a:spcAft>
                <a:spcPts val="700"/>
              </a:spcAft>
              <a:buSzPct val="100000"/>
              <a:buChar char="•"/>
            </a:pPr>
            <a:r>
              <a:rPr lang="en-US" sz="1200" b="1" dirty="0">
                <a:solidFill>
                  <a:srgbClr val="1A1A1A"/>
                </a:solidFill>
                <a:latin typeface="Calibri" pitchFamily="34" charset="0"/>
                <a:ea typeface="Calibri" pitchFamily="34" charset="-122"/>
                <a:cs typeface="Calibri" pitchFamily="34" charset="-120"/>
              </a:rPr>
              <a:t>Google — Embeddings &amp; Vector Stores</a:t>
            </a:r>
            <a:endParaRPr lang="en-US" sz="1200" dirty="0"/>
          </a:p>
          <a:p>
            <a:pPr marL="342900" indent="-342900" algn="l">
              <a:spcAft>
                <a:spcPts val="700"/>
              </a:spcAft>
              <a:buSzPct val="100000"/>
              <a:buChar char="•"/>
            </a:pPr>
            <a:r>
              <a:rPr lang="en-US" sz="1200" dirty="0">
                <a:solidFill>
                  <a:srgbClr val="5A5F66"/>
                </a:solidFill>
                <a:latin typeface="Calibri" pitchFamily="34" charset="0"/>
                <a:ea typeface="Calibri" pitchFamily="34" charset="-122"/>
                <a:cs typeface="Calibri" pitchFamily="34" charset="-120"/>
              </a:rPr>
              <a:t>The technical backbone of RAG.</a:t>
            </a:r>
            <a:endParaRPr lang="en-US" sz="1200" dirty="0"/>
          </a:p>
          <a:p>
            <a:pPr marL="342900" indent="-342900" algn="l">
              <a:spcAft>
                <a:spcPts val="700"/>
              </a:spcAft>
              <a:buSzPct val="100000"/>
              <a:buChar char="•"/>
            </a:pPr>
            <a:r>
              <a:rPr lang="en-US" sz="1200" b="1" dirty="0">
                <a:solidFill>
                  <a:srgbClr val="1A1A1A"/>
                </a:solidFill>
                <a:latin typeface="Calibri" pitchFamily="34" charset="0"/>
                <a:ea typeface="Calibri" pitchFamily="34" charset="-122"/>
                <a:cs typeface="Calibri" pitchFamily="34" charset="-120"/>
              </a:rPr>
              <a:t>Google — Solving Domain-Specific Problems with LLMs</a:t>
            </a:r>
            <a:endParaRPr lang="en-US" sz="1200" dirty="0"/>
          </a:p>
          <a:p>
            <a:pPr marL="342900" indent="-342900" algn="l">
              <a:spcAft>
                <a:spcPts val="700"/>
              </a:spcAft>
              <a:buSzPct val="100000"/>
              <a:buChar char="•"/>
            </a:pPr>
            <a:r>
              <a:rPr lang="en-US" sz="1200" dirty="0">
                <a:solidFill>
                  <a:srgbClr val="5A5F66"/>
                </a:solidFill>
                <a:latin typeface="Calibri" pitchFamily="34" charset="0"/>
                <a:ea typeface="Calibri" pitchFamily="34" charset="-122"/>
                <a:cs typeface="Calibri" pitchFamily="34" charset="-120"/>
              </a:rPr>
              <a:t>Fine-tuning and the layer model.</a:t>
            </a:r>
            <a:endParaRPr lang="en-US" sz="1200" dirty="0"/>
          </a:p>
          <a:p>
            <a:pPr marL="342900" indent="-342900" algn="l">
              <a:spcAft>
                <a:spcPts val="700"/>
              </a:spcAft>
              <a:buSzPct val="100000"/>
              <a:buChar char="•"/>
            </a:pPr>
            <a:r>
              <a:rPr lang="en-US" sz="1200" b="1" dirty="0">
                <a:solidFill>
                  <a:srgbClr val="1A1A1A"/>
                </a:solidFill>
                <a:latin typeface="Calibri" pitchFamily="34" charset="0"/>
                <a:ea typeface="Calibri" pitchFamily="34" charset="-122"/>
                <a:cs typeface="Calibri" pitchFamily="34" charset="-120"/>
              </a:rPr>
              <a:t>Google — Operationalizing GenAI on Vertex AI</a:t>
            </a:r>
            <a:endParaRPr lang="en-US" sz="1200" dirty="0"/>
          </a:p>
          <a:p>
            <a:pPr marL="342900" indent="-342900" algn="l">
              <a:spcAft>
                <a:spcPts val="700"/>
              </a:spcAft>
              <a:buSzPct val="100000"/>
              <a:buChar char="•"/>
            </a:pPr>
            <a:r>
              <a:rPr lang="en-US" sz="1200" dirty="0">
                <a:solidFill>
                  <a:srgbClr val="5A5F66"/>
                </a:solidFill>
                <a:latin typeface="Calibri" pitchFamily="34" charset="0"/>
                <a:ea typeface="Calibri" pitchFamily="34" charset="-122"/>
                <a:cs typeface="Calibri" pitchFamily="34" charset="-120"/>
              </a:rPr>
              <a:t>Production deployment patterns.</a:t>
            </a:r>
            <a:endParaRPr lang="en-US" sz="1200" dirty="0"/>
          </a:p>
        </p:txBody>
      </p:sp>
      <p:sp>
        <p:nvSpPr>
          <p:cNvPr id="8" name="Shape 6"/>
          <p:cNvSpPr/>
          <p:nvPr/>
        </p:nvSpPr>
        <p:spPr>
          <a:xfrm>
            <a:off x="6263640" y="1828800"/>
            <a:ext cx="5257800" cy="4023360"/>
          </a:xfrm>
          <a:prstGeom prst="roundRect">
            <a:avLst>
              <a:gd name="adj" fmla="val 2045"/>
            </a:avLst>
          </a:prstGeom>
          <a:solidFill>
            <a:srgbClr val="F4F5F7"/>
          </a:solidFill>
          <a:ln w="12700">
            <a:solidFill>
              <a:srgbClr val="DADDE2"/>
            </a:solidFill>
            <a:prstDash val="solid"/>
          </a:ln>
        </p:spPr>
        <p:txBody>
          <a:bodyPr/>
          <a:lstStyle/>
          <a:p>
            <a:endParaRPr lang="en-US"/>
          </a:p>
        </p:txBody>
      </p:sp>
      <p:sp>
        <p:nvSpPr>
          <p:cNvPr id="9" name="Text 7"/>
          <p:cNvSpPr/>
          <p:nvPr/>
        </p:nvSpPr>
        <p:spPr>
          <a:xfrm>
            <a:off x="6492240" y="2011680"/>
            <a:ext cx="4846320" cy="365760"/>
          </a:xfrm>
          <a:prstGeom prst="rect">
            <a:avLst/>
          </a:prstGeom>
          <a:noFill/>
          <a:ln/>
        </p:spPr>
        <p:txBody>
          <a:bodyPr wrap="square" rtlCol="0" anchor="ctr"/>
          <a:lstStyle/>
          <a:p>
            <a:pPr marL="0" indent="0">
              <a:buNone/>
            </a:pPr>
            <a:r>
              <a:rPr lang="en-US" sz="1500" b="1" dirty="0">
                <a:solidFill>
                  <a:srgbClr val="059669"/>
                </a:solidFill>
                <a:latin typeface="Calibri" pitchFamily="34" charset="0"/>
                <a:ea typeface="Calibri" pitchFamily="34" charset="-122"/>
                <a:cs typeface="Calibri" pitchFamily="34" charset="-120"/>
              </a:rPr>
              <a:t>🚀 Try it this week</a:t>
            </a:r>
            <a:endParaRPr lang="en-US" sz="1500" dirty="0"/>
          </a:p>
        </p:txBody>
      </p:sp>
      <p:sp>
        <p:nvSpPr>
          <p:cNvPr id="10" name="Text 8"/>
          <p:cNvSpPr/>
          <p:nvPr/>
        </p:nvSpPr>
        <p:spPr>
          <a:xfrm>
            <a:off x="6492240" y="2514600"/>
            <a:ext cx="4846320" cy="3200400"/>
          </a:xfrm>
          <a:prstGeom prst="rect">
            <a:avLst/>
          </a:prstGeom>
          <a:noFill/>
          <a:ln/>
        </p:spPr>
        <p:txBody>
          <a:bodyPr wrap="square" rtlCol="0" anchor="t"/>
          <a:lstStyle/>
          <a:p>
            <a:pPr marL="342900" indent="-342900" algn="l">
              <a:spcAft>
                <a:spcPts val="1400"/>
              </a:spcAft>
              <a:buSzPct val="100000"/>
              <a:buChar char="•"/>
            </a:pPr>
            <a:r>
              <a:rPr lang="en-US" sz="1250" b="1" dirty="0">
                <a:solidFill>
                  <a:srgbClr val="1A1A1A"/>
                </a:solidFill>
                <a:latin typeface="Calibri" pitchFamily="34" charset="0"/>
                <a:ea typeface="Calibri" pitchFamily="34" charset="-122"/>
                <a:cs typeface="Calibri" pitchFamily="34" charset="-120"/>
              </a:rPr>
              <a:t>Pick one failing prompt and rewrite it with a format + negative constraint.</a:t>
            </a:r>
            <a:endParaRPr lang="en-US" sz="1250" dirty="0"/>
          </a:p>
          <a:p>
            <a:pPr marL="342900" indent="-342900" algn="l">
              <a:spcAft>
                <a:spcPts val="1400"/>
              </a:spcAft>
              <a:buSzPct val="100000"/>
              <a:buChar char="•"/>
            </a:pPr>
            <a:r>
              <a:rPr lang="en-US" sz="1250" dirty="0">
                <a:solidFill>
                  <a:srgbClr val="5A5F66"/>
                </a:solidFill>
                <a:latin typeface="Calibri" pitchFamily="34" charset="0"/>
                <a:ea typeface="Calibri" pitchFamily="34" charset="-122"/>
                <a:cs typeface="Calibri" pitchFamily="34" charset="-120"/>
              </a:rPr>
              <a:t>Stand up a 20-line ChromaDB RAG demo on a folder of lease PDFs.</a:t>
            </a:r>
            <a:endParaRPr lang="en-US" sz="1250" dirty="0"/>
          </a:p>
          <a:p>
            <a:pPr marL="342900" indent="-342900" algn="l">
              <a:spcAft>
                <a:spcPts val="1400"/>
              </a:spcAft>
              <a:buSzPct val="100000"/>
              <a:buChar char="•"/>
            </a:pPr>
            <a:r>
              <a:rPr lang="en-US" sz="1250" dirty="0">
                <a:solidFill>
                  <a:srgbClr val="5A5F66"/>
                </a:solidFill>
                <a:latin typeface="Calibri" pitchFamily="34" charset="0"/>
                <a:ea typeface="Calibri" pitchFamily="34" charset="-122"/>
                <a:cs typeface="Calibri" pitchFamily="34" charset="-120"/>
              </a:rPr>
              <a:t>Before proposing fine-tuning, run the 3-question calculator out loud.</a:t>
            </a:r>
            <a:endParaRPr lang="en-US" sz="1250" dirty="0"/>
          </a:p>
          <a:p>
            <a:pPr marL="342900" indent="-342900" algn="l">
              <a:spcAft>
                <a:spcPts val="1400"/>
              </a:spcAft>
              <a:buSzPct val="100000"/>
              <a:buChar char="•"/>
            </a:pPr>
            <a:r>
              <a:rPr lang="en-US" sz="1250" dirty="0">
                <a:solidFill>
                  <a:srgbClr val="5A5F66"/>
                </a:solidFill>
                <a:latin typeface="Calibri" pitchFamily="34" charset="0"/>
                <a:ea typeface="Calibri" pitchFamily="34" charset="-122"/>
                <a:cs typeface="Calibri" pitchFamily="34" charset="-120"/>
              </a:rPr>
              <a:t>Bookmark the cheat sheet — it answers 90% of “which one?” questions.</a:t>
            </a:r>
            <a:endParaRPr lang="en-US" sz="1250" dirty="0"/>
          </a:p>
        </p:txBody>
      </p:sp>
      <p:sp>
        <p:nvSpPr>
          <p:cNvPr id="11" name="Text 9"/>
          <p:cNvSpPr/>
          <p:nvPr/>
        </p:nvSpPr>
        <p:spPr>
          <a:xfrm>
            <a:off x="640080" y="6126480"/>
            <a:ext cx="10881360" cy="365760"/>
          </a:xfrm>
          <a:prstGeom prst="rect">
            <a:avLst/>
          </a:prstGeom>
          <a:noFill/>
          <a:ln/>
        </p:spPr>
        <p:txBody>
          <a:bodyPr wrap="square" rtlCol="0" anchor="ctr"/>
          <a:lstStyle/>
          <a:p>
            <a:pPr marL="0" indent="0" algn="ctr">
              <a:buNone/>
            </a:pPr>
            <a:r>
              <a:rPr lang="en-US" sz="1400" b="1" i="1" dirty="0">
                <a:solidFill>
                  <a:srgbClr val="5A5F66"/>
                </a:solidFill>
                <a:latin typeface="Calibri" pitchFamily="34" charset="0"/>
                <a:ea typeface="Calibri" pitchFamily="34" charset="-122"/>
                <a:cs typeface="Calibri" pitchFamily="34" charset="-120"/>
              </a:rPr>
              <a:t>Start simple. Escalate only when you must. Combine when it counts.</a:t>
            </a:r>
            <a:endParaRPr lang="en-US" sz="1400" dirty="0"/>
          </a:p>
        </p:txBody>
      </p:sp>
      <p:sp>
        <p:nvSpPr>
          <p:cNvPr id="12" name="Text 10"/>
          <p:cNvSpPr/>
          <p:nvPr/>
        </p:nvSpPr>
        <p:spPr>
          <a:xfrm>
            <a:off x="10728655" y="6400800"/>
            <a:ext cx="1097280" cy="274320"/>
          </a:xfrm>
          <a:prstGeom prst="rect">
            <a:avLst/>
          </a:prstGeom>
          <a:noFill/>
          <a:ln/>
        </p:spPr>
        <p:txBody>
          <a:bodyPr wrap="square" rtlCol="0" anchor="ctr"/>
          <a:lstStyle/>
          <a:p>
            <a:pPr marL="0" indent="0" algn="r">
              <a:buNone/>
            </a:pPr>
            <a:r>
              <a:rPr lang="en-US" sz="1000" dirty="0">
                <a:solidFill>
                  <a:srgbClr val="8A9099"/>
                </a:solidFill>
                <a:latin typeface="Courier New" pitchFamily="34" charset="0"/>
                <a:ea typeface="Courier New" pitchFamily="34" charset="-122"/>
                <a:cs typeface="Courier New" pitchFamily="34" charset="-120"/>
              </a:rPr>
              <a:t>16 / 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3715</Words>
  <Application>Microsoft Office PowerPoint</Application>
  <PresentationFormat>Widescreen</PresentationFormat>
  <Paragraphs>534</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Century Schoolbook</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Selvaraju, Prasanna</cp:lastModifiedBy>
  <cp:revision>3</cp:revision>
  <dcterms:created xsi:type="dcterms:W3CDTF">2026-07-21T10:02:33Z</dcterms:created>
  <dcterms:modified xsi:type="dcterms:W3CDTF">2026-07-21T11:20:52Z</dcterms:modified>
</cp:coreProperties>
</file>